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95cd8203-5d9c-f6ce-38a2-8310b2b89ce3}">
          <p14:sldIdLst>
            <p14:sldId id="256"/>
            <p14:sldId id="257"/>
            <p14:sldId id="258"/>
            <p14:sldId id="259"/>
            <p14:sldId id="260"/>
            <p14:sldId id="261"/>
          </p14:sldIdLst>
        </p14:section>
        <p14:section name="01 Which Copilot do I have?" id="{da3a4964-95f8-4685-8f14-0e0a1495ef37}">
          <p14:sldIdLst>
            <p14:sldId id="262"/>
            <p14:sldId id="263"/>
            <p14:sldId id="264"/>
            <p14:sldId id="265"/>
            <p14:sldId id="266"/>
          </p14:sldIdLst>
        </p14:section>
        <p14:section name="02 Find your way around" id="{f95d2bfa-ea55-7984-015f-d30c816a7df6}">
          <p14:sldIdLst>
            <p14:sldId id="267"/>
            <p14:sldId id="268"/>
            <p14:sldId id="269"/>
            <p14:sldId id="270"/>
          </p14:sldIdLst>
        </p14:section>
        <p14:section name="03 Write better prompts" id="{e4f02f8d-5fc0-d1d1-6d01-4b71b02f0954}">
          <p14:sldIdLst>
            <p14:sldId id="271"/>
            <p14:sldId id="272"/>
            <p14:sldId id="273"/>
            <p14:sldId id="274"/>
            <p14:sldId id="275"/>
          </p14:sldIdLst>
        </p14:section>
        <p14:section name="04 Compare the quotations" id="{3c29ff8d-6ea7-c730-954f-4cf441334230}">
          <p14:sldIdLst>
            <p14:sldId id="276"/>
            <p14:sldId id="277"/>
            <p14:sldId id="278"/>
            <p14:sldId id="279"/>
            <p14:sldId id="280"/>
            <p14:sldId id="281"/>
          </p14:sldIdLst>
        </p14:section>
        <p14:section name="05 Chase vendors in Outlook" id="{a3d62b11-77f7-1cdc-139d-e7f4048663d0}">
          <p14:sldIdLst>
            <p14:sldId id="282"/>
            <p14:sldId id="283"/>
            <p14:sldId id="284"/>
            <p14:sldId id="285"/>
          </p14:sldIdLst>
        </p14:section>
        <p14:section name="06 From chat to Pages" id="{c3cf6de5-aa52-d1f9-9a8e-8adae180a061}">
          <p14:sldIdLst>
            <p14:sldId id="286"/>
            <p14:sldId id="287"/>
            <p14:sldId id="288"/>
            <p14:sldId id="289"/>
          </p14:sldIdLst>
        </p14:section>
        <p14:section name="07 Keep it together in a Notebook" id="{9c0923b3-1458-29bc-f0cf-04020542aee7}">
          <p14:sldIdLst>
            <p14:sldId id="290"/>
            <p14:sldId id="291"/>
            <p14:sldId id="292"/>
          </p14:sldIdLst>
        </p14:section>
        <p14:section name="08 Build a Quotation Checker agent" id="{3141b20e-86f0-bb0d-ffea-9a2daaab9ae9}">
          <p14:sldIdLst>
            <p14:sldId id="293"/>
            <p14:sldId id="294"/>
            <p14:sldId id="295"/>
            <p14:sldId id="296"/>
            <p14:sldId id="297"/>
          </p14:sldIdLst>
        </p14:section>
        <p14:section name="09 Optional: Word and Excel" id="{25a85c62-3950-8a35-fede-46ef97ea4105}">
          <p14:sldIdLst>
            <p14:sldId id="298"/>
            <p14:sldId id="299"/>
          </p14:sldIdLst>
        </p14:section>
        <p14:section name="10 Capstone" id="{3f035972-acf5-072c-df98-65eeaf799f6a}">
          <p14:sldIdLst>
            <p14:sldId id="300"/>
            <p14:sldId id="301"/>
            <p14:sldId id="302"/>
          </p14:sldIdLst>
        </p14:section>
        <p14:section name="11 Extra practice" id="{37ec795e-4003-cc2a-0916-ecf158333e4b}">
          <p14:sldIdLst>
            <p14:sldId id="303"/>
          </p14:sldIdLst>
        </p14:section>
        <p14:section name="Close" id="{6bed577e-c16a-1ffa-4f06-a9f1b4e71f1e}">
          <p14:sldIdLst>
            <p14:sldId id="304"/>
            <p14:sldId id="30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Introduce yourself. Today is hands-on: you will spend most of the day in Copilot, not watching slides.
Ask the room: who has used Copilot at work before? Who has been told they don't have Copilot because they have no license? Today shows what you can do with what you already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scenario out. Everything today serves this one purchase, so participants always know why they are doing a step.
Teratai Holdings, the vendors and every person in the sample files are fictional. The policy threshold is RM20,000: above it you need three written quotations, a comparison and a justification memo before the HOD signs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chapter moves the purchase one stage on. Chapter 9 is optional: only people whose label is M365 Copilot (Basic) have Copilot inside Word and Excel.
Chapter 10 is the capstone: a second purchase (a training course) that they run on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are the chapter estimates from the notes. Add breaks and lunch to suit the venue. Chapter 4 is the longest and the most important: protect its hour.
Chapter 11 has four short exercises for anyone who finishes early, and for practice after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address on the whiteboard as well. No GitHub account is needed.
Stress copying prompts from the Prompts page, using the copy icon on each grey box. Copying from the PDF can add line breaks in the middle of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protect the participants and their company. Repeat rule 2 whenever someone is about to upload a file.
Training emails always start with [CCB TRAINING] in the subject and go only to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anyone touches a company document, they need to know which Copilot they are in and whether enterprise data protection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label sits under your name at the bottom left of the Copilot app.
Copilot Chat (Basic): organisations with more than 2,000 users and no paid license. Since 15 April 2026 they have no Copilot inside Word, Excel, PowerPoint or OneNote.
M365 Copilot (Basic): smaller organisations, in-app Copilot with standard access.
Microsoft Copilot at copilot.microsoft.com with a personal account is the consumer product: consumer terms, no shield. Not for company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shield live. Point at it, don't click, to show the tooltip.
Enterprise data protection means prompts and uploaded files stay inside the organisation's Microsoft 365 boundary, like email and OneDrive, and aren't used to train the AI models.
If someone has no shield, they are almost always signed in with a personal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features appear in Microsoft videos and articles. They need the paid license or a preview.
Researcher and Analyst may still be listed under Pinned in the left pane. Tell people to leave them alone: they are not part of this course.
If an admin has turned something off (file upload, images, agents), the button can be missing for one person and not the next. Tell the trainer.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 minutes. Walk the room and check each person's label. Note anyone without a shield and fix their sign-in before Chapter 2.
Ask two or three people to read out their label: in a large organisation it will be Copilot Chat (Basic), in a smaller one M365 Copilot (Basic). That tells you who can do Chapter 9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labels and shields checked. Nothing bought yet. The first job is knowing what a good laptop quotation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Copilot app in the browser is the main path today. The others are the same Copilot Chat in different places.
Edge sidebar: can read the web page you have open, useful for a supplier's website.
Teams: Copilot is in the left app rail. Basic can't search Teams messages or meetings from there.
Outlook: Chapter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controls live. Add (the plus) uploads files; the Prompt Gallery button disappears once you start typing; Auto in the top bar picks the response mode.
Chats: hover a chat in the left pane, open its menu: Rename, Move to notebook, Delete.
Share response is a Frontier feature, so on Basic, Copy is the main way to pass an answer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minutes. The first prompt is on the Prompts page for Chapter 2.
The screenshot tool is only in the Windows desktop app, not in the browser. Skip 2.7 for anyone working in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they know what a complete laptop quotation should include. Now they write the requirements they'll send to three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don't need all four every time. The more you include, the less Copilot has to guess.
With Basic, the sources are the public web, files you upload and anything you paste in. Naming the source tells Copilot which to rely on.
In 3.2 they build the prompt one part at a time and watch the answer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open in a Sources pane (References). In 3.4 they open at least one source and check that it says what Copilot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Gallery opens as Prompt Lab. Hover a prompt and choose Save prompt; it appears under Your saved prompts.
Custom instructions: Settings and more (gear, bottom left) &gt; Settings &gt; Personalization &gt; Edit instructions, then Save instructions.
Memory: Saved memories has a switch, a delete for each memory, and Delete all memories. Preferences and role only, never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The fourth prompt in 3.2 is long, and that's fine: a long, clear prompt gets a usable answer first time.
Remind people not to ask Copilot to remember anything confidential.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requirements went out to three vendors, and their quotations are back.
This is the core chapter of the day. Don't give away the problems: participants should find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files are in sample-files.zip in the Chapter 4 folder. Extract the zip first.
Copilot takes at most three files per message, and a second upload doesn't add a fourth. So: send the policy first, in its own message, then the three quotations together. Everything must be in the same chat, or Copilot can't compare them.
The policy's Sections 5 to 7 matter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section of the notes with its own prompt.
4.4: the table must show every figure exactly as printed. If Copilot quietly fixes a figure, the evidence is gone.
4.5: participants recalculate with their own calculator too.
4.6 and 4.7: check against the policy and ask whether the three are quoting for the same thing.
4.8: Copilot recommends, the participant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they start, and again at the debrief.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minutes. Name the chat Laptop purchase - comparison: Chapters 6 and 8 come back to it.
Don't reveal the problems. If someone is stuck, point them to the matching section of the notes or ask: is every total right? Is every quotation still valid today? Is each one quoting for the same thing?
Screenshots for 4.5 to 4.8 in the notes are blurred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answers from the room before you confirm anything. The answers are in the trainer answer key, which is kept out of the public repository. This deck is public, so the answers aren't on the slides.
For each vendor, ask: what is the problem, which section of the policy applies, and what must the vendor do? The point to land: it's the vendor's job to fix its quotation, not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the comparison found a problem in each quotation. Before the HOD sees a memo, each vendor has to fix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this email sits above the open message and opens the Copilot pane.
Questions in the pane are answered from the open email only. In testing, an inbox-wide question about all three vendors found just the open thread.
There's no Draft with Copilot in compose on Basic. Draft in the pane, then copy the text into your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5.4 exercise shows this: a question about all three vendors comes back with one. To ask about another vendor, open that email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Emails go only to the participant's own address. Never to a real vendor or a colleague.
Summaries can give equal weight to an early message and a later one that replaced it: check the summary against the latest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quotations compared, vendors chased. Now the HOD needs a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Copilot reads the whole chat each time, but doesn't treat every earlier message equally. After several rounds of changes, a settled point can quietly disappear.
In 6.1 they send three changes in the comparison chat and check whether their Chapter 4 findings survived. In most classes at least one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 ask for one complete comparison that lists everything it must include, then More options &gt; Edit in Pages. Name the Page Laptop purchase - comparison and memo.
6.3: Copilot on the Page suggests changes in chat rather than editing the Page directly. Add to page appends a response.
6.4: write the memo in the same chat, where the policy is uploaded, following Section 7.
6.5: Share offers Copy link. 6.6: More actions &gt; Export gives Document or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minutes. Read every sentence of the memo as if you'd written it: you're the one signing it. Delete anything you can't back up from the quotations or the policy.
Placeholders: budget code ADM-IT-2026-07, HOD Encik Faizal Rahman (both fictional).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comparison and memo on a Page and exported to Word. The vendors' revised quotations are still on their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Creating a Notebook: name, Next, Create.
Add references offers Upload files and OneDrive files.
There are no notes in a Notebook, so a fact that lives only in your inbox (such as Seri Mutiara's 7-day stock hold) goes in a New Page under Creations, or in your prompt.
Remove superseded documents: if both the expired and the revalidated quotation are in, Copilot may quote the wrong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minutes. Copilot answers only from the references added. If an answer is missing a fact, ask where that fact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everything sits in one Notebook. Before the next purchase comes along, make the Chapter 4 checks reusable.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&gt; New agent &gt; Skip opens the form.
The instructions are the Chapter 4 checks, written once. Rule 1 (ask for today's date) and the never-correct-silently line fix the two mistakes Copilot made most often in Chapter 4.
Under Knowledge, turn Web search off so the agent sticks to the uploaded quotations. Basic can't add files or SharePoint as knowledge.
Writing Coach (8.1) can be blocked by an admin. If it is, skip to 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no test pane in Agent Builder on Basic: create the agent, then test it in its own chat.
In testing, the agent missed the Pinnacle total until this line was added to the instructions. That's the lesson: when an agent misses something, don't just re-ask, change the instructions so it can't miss it again.
The screenshot shows the agent catching the RM270 difference after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has a name field, Org-wide sharing and Copy chat link. For today, copy the link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The instructions are on the Prompts page for Chapter 8.
When testing, give the agent today's class date: 14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for people whose label is M365 Copilot (Basic). Everyone else moves on to the capstone or Chapter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labels you collected in Chapter 1. Copilot Chat (Basic) users have had no Copilot inside Word, Excel, PowerPoint or OneNote since 15 April 2026.
For those who can: 9.2 tightens the memo in Word (check every figure against the old version before keeping a rewrite). 9.3 adds a TRUE or FALSE check row in Excel that catches the same arithmetic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purchase lands on their desk, and this time they run it themselves. Each stage gives a goal, a hint and how to know they're done.
Don't reveal the problems in the three training quotations. They're in the trainer answer key, not in this public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brief aloud. Ask the room to name the four things every quotation must match before anyone opens the files.
Sample files: sample-files.zip in the Chapter 10 folder. Three fictional training providers plus the same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minutes. Step back: let them use the notes from earlier chapters. Hints only if someone is stuck, such as: read the pricing lines carefully, and check each quotation quotes for the same course as the brief.
The capstone checklist is at the end of Chapter 10 in the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takes 10 to 15 minutes and uses skills from Chapters 2 to 8. Good for fast finishers, and for practice after the course.
B: AI images often get text wrong. Ask for an image without words and put the date and place in the notice text yourself. No logos or real brand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person which habit they'll use first, and on what task.
Recap the purchase: requirements, comparison, chasing, memo, Notebook, and an agent for next time, all without the paid license.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them to Chapter 11 for practice and to What to Learn Next on the home page for free Microsoft resources.
After the course, questions go to the training coordinator who arranged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371600"/>
            <a:ext cx="10058400" cy="365760"/>
          </a:xfrm>
          <a:prstGeom prst="rect">
            <a:avLst/>
          </a:prstGeom>
          <a:noFill/>
          <a:ln/>
        </p:spPr>
        <p:txBody>
          <a:bodyPr wrap="square" rtlCol="0"/>
          <a:lstStyle>
            <a:lvl1pPr indent="0" marL="0">
              <a:buNone/>
              <a:defRPr lang="en-US" sz="1400" b="1" spc="3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731520" y="1828800"/>
            <a:ext cx="1051560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731520" y="3383280"/>
            <a:ext cx="9601200" cy="82296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
        <p:nvSpPr>
          <p:cNvPr id="5" name="Text 0"/>
          <p:cNvSpPr/>
          <p:nvPr>
            <p:ph idx="103" type="body" hasCustomPrompt="1"/>
          </p:nvPr>
        </p:nvSpPr>
        <p:spPr>
          <a:xfrm>
            <a:off x="731520" y="5394960"/>
            <a:ext cx="9601200" cy="45720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005840"/>
            <a:ext cx="3657600" cy="1371600"/>
          </a:xfrm>
          <a:prstGeom prst="rect">
            <a:avLst/>
          </a:prstGeom>
          <a:noFill/>
          <a:ln/>
        </p:spPr>
        <p:txBody>
          <a:bodyPr wrap="square" rtlCol="0"/>
          <a:lstStyle>
            <a:lvl1pPr indent="0" marL="0">
              <a:buNone/>
              <a:defRPr lang="en-US" sz="9600" b="1" dirty="0">
                <a:solidFill>
                  <a:schemeClr val="accent1"/>
                </a:solidFill>
              </a:defRPr>
            </a:lvl1pPr>
          </a:lstStyle>
          <a:p>
            <a:pPr indent="0" marL="0">
              <a:buNone/>
            </a:pPr>
            <a:endParaRPr lang="en-US" sz="9600" dirty="0"/>
          </a:p>
        </p:txBody>
      </p:sp>
      <p:sp>
        <p:nvSpPr>
          <p:cNvPr id="3" name="Text 0"/>
          <p:cNvSpPr/>
          <p:nvPr>
            <p:ph idx="101" type="title" hasCustomPrompt="1"/>
          </p:nvPr>
        </p:nvSpPr>
        <p:spPr>
          <a:xfrm>
            <a:off x="731520" y="2560320"/>
            <a:ext cx="1051560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731520" y="3840480"/>
            <a:ext cx="9601200" cy="146304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4" name="Text 0"/>
          <p:cNvSpPr/>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Copilot Chat Basic Workshop</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097280" y="2103120"/>
            <a:ext cx="9966960" cy="1828800"/>
          </a:xfrm>
          <a:prstGeom prst="rect">
            <a:avLst/>
          </a:prstGeom>
          <a:noFill/>
          <a:ln/>
        </p:spPr>
        <p:txBody>
          <a:bodyPr wrap="square" rtlCol="0"/>
          <a:lstStyle>
            <a:lvl1pPr algn="ctr" indent="0" marL="0">
              <a:buNone/>
              <a:defRPr lang="en-US" sz="4000" b="1" dirty="0">
                <a:solidFill>
                  <a:schemeClr val="bg1"/>
                </a:solidFill>
              </a:defRPr>
            </a:lvl1pPr>
          </a:lstStyle>
          <a:p>
            <a:pPr algn="ctr" indent="0" marL="0">
              <a:buNone/>
            </a:pPr>
            <a:endParaRPr lang="en-US" sz="4000" dirty="0"/>
          </a:p>
        </p:txBody>
      </p:sp>
      <p:sp>
        <p:nvSpPr>
          <p:cNvPr id="3" name="Text 0"/>
          <p:cNvSpPr/>
          <p:nvPr>
            <p:ph idx="101" type="body" hasCustomPrompt="1"/>
          </p:nvPr>
        </p:nvSpPr>
        <p:spPr>
          <a:xfrm>
            <a:off x="1097280" y="4114800"/>
            <a:ext cx="9966960" cy="731520"/>
          </a:xfrm>
          <a:prstGeom prst="rect">
            <a:avLst/>
          </a:prstGeom>
          <a:noFill/>
          <a:ln/>
        </p:spPr>
        <p:txBody>
          <a:bodyPr wrap="square" rtlCol="0"/>
          <a:lstStyle>
            <a:lvl1pPr algn="ctr" indent="0" marL="0">
              <a:buNone/>
              <a:defRPr lang="en-US" sz="1800" i="1" dirty="0">
                <a:solidFill>
                  <a:schemeClr val="bg1"/>
                </a:solidFill>
              </a:defRPr>
            </a:lvl1pPr>
          </a:lstStyle>
          <a:p>
            <a:pPr algn="ctr" indent="0" marL="0">
              <a:buNone/>
            </a:pP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4.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4.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4.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4.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4.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4.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4.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slideLayout" Target="../slideLayouts/slideLayout4.xm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slideLayout" Target="../slideLayouts/slideLayout4.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371600"/>
            <a:ext cx="10058400" cy="365760"/>
          </a:xfrm>
          <a:prstGeom prst="rect">
            <a:avLst/>
          </a:prstGeom>
          <a:noFill/>
          <a:ln/>
        </p:spPr>
        <p:txBody>
          <a:bodyPr wrap="square" lIns="0" tIns="0" rIns="0" bIns="0" rtlCol="0"/>
          <a:lstStyle/>
          <a:p>
            <a:pPr indent="0" marL="0">
              <a:buNone/>
            </a:pPr>
            <a:r>
              <a:rPr lang="en-US" sz="1400" b="1" spc="300" kern="0" dirty="0">
                <a:solidFill>
                  <a:schemeClr val="accent1"/>
                </a:solidFill>
              </a:rPr>
              <a:t>ONE-DAY WORKSHOP</a:t>
            </a:r>
            <a:endParaRPr lang="en-US" sz="1400" dirty="0"/>
          </a:p>
        </p:txBody>
      </p:sp>
      <p:sp>
        <p:nvSpPr>
          <p:cNvPr id="3" name="Text 0"/>
          <p:cNvSpPr/>
          <p:nvPr>
            <p:ph idx="101" type="title" hasCustomPrompt="1"/>
          </p:nvPr>
        </p:nvSpPr>
        <p:spPr>
          <a:xfrm>
            <a:off x="731520" y="1828800"/>
            <a:ext cx="10515600" cy="1463040"/>
          </a:xfrm>
          <a:prstGeom prst="rect">
            <a:avLst/>
          </a:prstGeom>
          <a:noFill/>
          <a:ln/>
        </p:spPr>
        <p:txBody>
          <a:bodyPr wrap="square" lIns="0" tIns="0" rIns="0" bIns="0" rtlCol="0" anchor="t"/>
          <a:lstStyle/>
          <a:p>
            <a:pPr algn="l" indent="0" marL="0">
              <a:buNone/>
            </a:pPr>
            <a:r>
              <a:rPr lang="en-US" sz="4800" b="1" dirty="0">
                <a:solidFill>
                  <a:schemeClr val="bg1"/>
                </a:solidFill>
              </a:rPr>
              <a:t>Copilot Chat Basic Workshop</a:t>
            </a:r>
            <a:endParaRPr lang="en-US" sz="4800" dirty="0"/>
          </a:p>
        </p:txBody>
      </p:sp>
      <p:sp>
        <p:nvSpPr>
          <p:cNvPr id="4" name="Text 0"/>
          <p:cNvSpPr/>
          <p:nvPr>
            <p:ph idx="102" type="body" hasCustomPrompt="1"/>
          </p:nvPr>
        </p:nvSpPr>
        <p:spPr>
          <a:xfrm>
            <a:off x="731520" y="3383280"/>
            <a:ext cx="9601200" cy="822960"/>
          </a:xfrm>
          <a:prstGeom prst="rect">
            <a:avLst/>
          </a:prstGeom>
          <a:noFill/>
          <a:ln/>
        </p:spPr>
        <p:txBody>
          <a:bodyPr wrap="square" lIns="0" tIns="0" rIns="0" bIns="0" rtlCol="0" anchor="t"/>
          <a:lstStyle/>
          <a:p>
            <a:pPr indent="0" marL="0">
              <a:buNone/>
            </a:pPr>
            <a:r>
              <a:rPr lang="en-US" sz="2200" dirty="0">
                <a:solidFill>
                  <a:schemeClr val="bg2"/>
                </a:solidFill>
              </a:rPr>
              <a:t>Getting real work done with Microsoft Copilot, without the paid license</a:t>
            </a:r>
            <a:endParaRPr lang="en-US" sz="2200" dirty="0"/>
          </a:p>
        </p:txBody>
      </p:sp>
      <p:sp>
        <p:nvSpPr>
          <p:cNvPr id="5" name="Text 0"/>
          <p:cNvSpPr/>
          <p:nvPr>
            <p:ph idx="103" type="body" hasCustomPrompt="1"/>
          </p:nvPr>
        </p:nvSpPr>
        <p:spPr>
          <a:xfrm>
            <a:off x="731520" y="5394960"/>
            <a:ext cx="9601200" cy="457200"/>
          </a:xfrm>
          <a:prstGeom prst="rect">
            <a:avLst/>
          </a:prstGeom>
          <a:noFill/>
          <a:ln/>
        </p:spPr>
        <p:txBody>
          <a:bodyPr wrap="square" lIns="0" tIns="0" rIns="0" bIns="0" rtlCol="0"/>
          <a:lstStyle/>
          <a:p>
            <a:pPr indent="0" marL="0">
              <a:buNone/>
            </a:pPr>
            <a:r>
              <a:rPr lang="en-US" sz="1400" dirty="0">
                <a:solidFill>
                  <a:schemeClr val="bg2"/>
                </a:solidFill>
              </a:rPr>
              <a:t>Asraf Jaafar Sidik  ·  Microsoft Certified Trainer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TODAY'S TASK</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Today you run one real purchase, start to finish</a:t>
            </a:r>
            <a:endParaRPr lang="en-US" sz="3200" dirty="0"/>
          </a:p>
        </p:txBody>
      </p:sp>
      <p:sp>
        <p:nvSpPr>
          <p:cNvPr id="5" name="Scenario card"/>
          <p:cNvSpPr/>
          <p:nvPr/>
        </p:nvSpPr>
        <p:spPr>
          <a:xfrm>
            <a:off x="548640" y="1691640"/>
            <a:ext cx="5852160" cy="4206240"/>
          </a:xfrm>
          <a:prstGeom prst="roundRect">
            <a:avLst>
              <a:gd name="adj" fmla="val 1739"/>
            </a:avLst>
          </a:prstGeom>
          <a:solidFill>
            <a:schemeClr val="tx2"/>
          </a:solidFill>
          <a:ln/>
        </p:spPr>
      </p:sp>
      <p:sp>
        <p:nvSpPr>
          <p:cNvPr id="6" name="Icon circle"/>
          <p:cNvSpPr/>
          <p:nvPr/>
        </p:nvSpPr>
        <p:spPr>
          <a:xfrm>
            <a:off x="868680" y="2011680"/>
            <a:ext cx="731520" cy="731520"/>
          </a:xfrm>
          <a:prstGeom prst="ellipse">
            <a:avLst/>
          </a:prstGeom>
          <a:solidFill>
            <a:schemeClr val="accent1"/>
          </a:solidFill>
          <a:ln/>
        </p:spPr>
      </p:sp>
      <p:pic>
        <p:nvPicPr>
          <p:cNvPr id="7" name="Image 0" descr="preencoded.png">    </p:cNvPr>
          <p:cNvPicPr>
            <a:picLocks noChangeAspect="1"/>
          </p:cNvPicPr>
          <p:nvPr/>
        </p:nvPicPr>
        <p:blipFill>
          <a:blip r:embed="rId1"/>
          <a:stretch>
            <a:fillRect/>
          </a:stretch>
        </p:blipFill>
        <p:spPr>
          <a:xfrm>
            <a:off x="1051560" y="2194560"/>
            <a:ext cx="365760" cy="365760"/>
          </a:xfrm>
          <a:prstGeom prst="rect">
            <a:avLst/>
          </a:prstGeom>
        </p:spPr>
      </p:pic>
      <p:sp>
        <p:nvSpPr>
          <p:cNvPr id="8" name="Text 4"/>
          <p:cNvSpPr txBox="1"/>
          <p:nvPr/>
        </p:nvSpPr>
        <p:spPr>
          <a:xfrm>
            <a:off x="868680" y="2926080"/>
            <a:ext cx="5212080" cy="2560320"/>
          </a:xfrm>
          <a:prstGeom prst="rect">
            <a:avLst/>
          </a:prstGeom>
          <a:noFill/>
          <a:ln/>
        </p:spPr>
        <p:txBody>
          <a:bodyPr wrap="square" lIns="0" tIns="0" rIns="0" bIns="0" rtlCol="0" anchor="t"/>
          <a:lstStyle/>
          <a:p>
            <a:pPr indent="0" marL="0">
              <a:buNone/>
            </a:pPr>
            <a:r>
              <a:rPr lang="en-US" sz="1800" b="1" dirty="0">
                <a:solidFill>
                  <a:schemeClr val="bg1"/>
                </a:solidFill>
              </a:rPr>
              <a:t>You're an executive in the Admin and Facilities department at Teratai Holdings Berhad.</a:t>
            </a:r>
            <a:endParaRPr lang="en-US" sz="1800" dirty="0"/>
          </a:p>
          <a:p>
            <a:pPr indent="0" marL="0">
              <a:buNone/>
            </a:pPr>
            <a:r>
              <a:rPr lang="en-US" sz="1000" dirty="0">
                <a:solidFill>
                  <a:schemeClr val="bg1"/>
                </a:solidFill>
              </a:rPr>
              <a:t> </a:t>
            </a:r>
            <a:endParaRPr lang="en-US" sz="1800" dirty="0"/>
          </a:p>
          <a:p>
            <a:pPr indent="0" marL="0">
              <a:buNone/>
            </a:pPr>
            <a:r>
              <a:rPr lang="en-US" sz="1800" dirty="0">
                <a:solidFill>
                  <a:schemeClr val="bg1"/>
                </a:solidFill>
              </a:rPr>
              <a:t>The department needs 25 new laptops for next quarter's hires. Company policy says any purchase above RM20,000 needs three written quotations, a comparison and a justification memo before the HOD signs off.</a:t>
            </a:r>
            <a:endParaRPr lang="en-US" sz="1800" dirty="0"/>
          </a:p>
        </p:txBody>
      </p:sp>
      <p:sp>
        <p:nvSpPr>
          <p:cNvPr id="9" name="Stat card"/>
          <p:cNvSpPr/>
          <p:nvPr/>
        </p:nvSpPr>
        <p:spPr>
          <a:xfrm>
            <a:off x="6766560" y="1691640"/>
            <a:ext cx="4873752" cy="1234440"/>
          </a:xfrm>
          <a:prstGeom prst="roundRect">
            <a:avLst>
              <a:gd name="adj" fmla="val 5926"/>
            </a:avLst>
          </a:prstGeom>
          <a:solidFill>
            <a:schemeClr val="bg2"/>
          </a:solidFill>
          <a:ln/>
        </p:spPr>
      </p:sp>
      <p:sp>
        <p:nvSpPr>
          <p:cNvPr id="10" name="Text 6"/>
          <p:cNvSpPr txBox="1"/>
          <p:nvPr/>
        </p:nvSpPr>
        <p:spPr>
          <a:xfrm>
            <a:off x="7040880" y="1691640"/>
            <a:ext cx="2377440" cy="1234440"/>
          </a:xfrm>
          <a:prstGeom prst="rect">
            <a:avLst/>
          </a:prstGeom>
          <a:noFill/>
          <a:ln/>
        </p:spPr>
        <p:txBody>
          <a:bodyPr wrap="square" lIns="0" tIns="0" rIns="0" bIns="0" rtlCol="0" anchor="ctr"/>
          <a:lstStyle/>
          <a:p>
            <a:pPr indent="0" marL="0">
              <a:buNone/>
            </a:pPr>
            <a:r>
              <a:rPr lang="en-US" sz="3600" b="1" dirty="0">
                <a:solidFill>
                  <a:schemeClr val="accent1"/>
                </a:solidFill>
              </a:rPr>
              <a:t>25</a:t>
            </a:r>
            <a:endParaRPr lang="en-US" sz="3600" dirty="0"/>
          </a:p>
        </p:txBody>
      </p:sp>
      <p:sp>
        <p:nvSpPr>
          <p:cNvPr id="11" name="Text 7"/>
          <p:cNvSpPr txBox="1"/>
          <p:nvPr/>
        </p:nvSpPr>
        <p:spPr>
          <a:xfrm>
            <a:off x="9418320" y="1691640"/>
            <a:ext cx="2103120" cy="1234440"/>
          </a:xfrm>
          <a:prstGeom prst="rect">
            <a:avLst/>
          </a:prstGeom>
          <a:noFill/>
          <a:ln/>
        </p:spPr>
        <p:txBody>
          <a:bodyPr wrap="square" lIns="0" tIns="0" rIns="0" bIns="0" rtlCol="0" anchor="ctr"/>
          <a:lstStyle/>
          <a:p>
            <a:pPr indent="0" marL="0">
              <a:buNone/>
            </a:pPr>
            <a:r>
              <a:rPr lang="en-US" sz="1600" dirty="0">
                <a:solidFill>
                  <a:schemeClr val="tx1"/>
                </a:solidFill>
              </a:rPr>
              <a:t>laptops for new hires</a:t>
            </a:r>
            <a:endParaRPr lang="en-US" sz="1600" dirty="0"/>
          </a:p>
        </p:txBody>
      </p:sp>
      <p:sp>
        <p:nvSpPr>
          <p:cNvPr id="12" name="Stat card"/>
          <p:cNvSpPr/>
          <p:nvPr/>
        </p:nvSpPr>
        <p:spPr>
          <a:xfrm>
            <a:off x="6766560" y="3108960"/>
            <a:ext cx="4873752" cy="1234440"/>
          </a:xfrm>
          <a:prstGeom prst="roundRect">
            <a:avLst>
              <a:gd name="adj" fmla="val 5926"/>
            </a:avLst>
          </a:prstGeom>
          <a:solidFill>
            <a:schemeClr val="bg2"/>
          </a:solidFill>
          <a:ln/>
        </p:spPr>
      </p:sp>
      <p:sp>
        <p:nvSpPr>
          <p:cNvPr id="13" name="Text 9"/>
          <p:cNvSpPr txBox="1"/>
          <p:nvPr/>
        </p:nvSpPr>
        <p:spPr>
          <a:xfrm>
            <a:off x="7040880" y="3108960"/>
            <a:ext cx="2377440" cy="1234440"/>
          </a:xfrm>
          <a:prstGeom prst="rect">
            <a:avLst/>
          </a:prstGeom>
          <a:noFill/>
          <a:ln/>
        </p:spPr>
        <p:txBody>
          <a:bodyPr wrap="square" lIns="0" tIns="0" rIns="0" bIns="0" rtlCol="0" anchor="ctr"/>
          <a:lstStyle/>
          <a:p>
            <a:pPr indent="0" marL="0">
              <a:buNone/>
            </a:pPr>
            <a:r>
              <a:rPr lang="en-US" sz="3600" b="1" dirty="0">
                <a:solidFill>
                  <a:schemeClr val="accent1"/>
                </a:solidFill>
              </a:rPr>
              <a:t>RM20,000</a:t>
            </a:r>
            <a:endParaRPr lang="en-US" sz="3600" dirty="0"/>
          </a:p>
        </p:txBody>
      </p:sp>
      <p:sp>
        <p:nvSpPr>
          <p:cNvPr id="14" name="Text 10"/>
          <p:cNvSpPr txBox="1"/>
          <p:nvPr/>
        </p:nvSpPr>
        <p:spPr>
          <a:xfrm>
            <a:off x="9418320" y="3108960"/>
            <a:ext cx="2103120" cy="1234440"/>
          </a:xfrm>
          <a:prstGeom prst="rect">
            <a:avLst/>
          </a:prstGeom>
          <a:noFill/>
          <a:ln/>
        </p:spPr>
        <p:txBody>
          <a:bodyPr wrap="square" lIns="0" tIns="0" rIns="0" bIns="0" rtlCol="0" anchor="ctr"/>
          <a:lstStyle/>
          <a:p>
            <a:pPr indent="0" marL="0">
              <a:buNone/>
            </a:pPr>
            <a:r>
              <a:rPr lang="en-US" sz="1600" dirty="0">
                <a:solidFill>
                  <a:schemeClr val="tx1"/>
                </a:solidFill>
              </a:rPr>
              <a:t>the policy threshold</a:t>
            </a:r>
            <a:endParaRPr lang="en-US" sz="1600" dirty="0"/>
          </a:p>
        </p:txBody>
      </p:sp>
      <p:sp>
        <p:nvSpPr>
          <p:cNvPr id="15" name="Stat card"/>
          <p:cNvSpPr/>
          <p:nvPr/>
        </p:nvSpPr>
        <p:spPr>
          <a:xfrm>
            <a:off x="6766560" y="4526280"/>
            <a:ext cx="4873752" cy="1234440"/>
          </a:xfrm>
          <a:prstGeom prst="roundRect">
            <a:avLst>
              <a:gd name="adj" fmla="val 5926"/>
            </a:avLst>
          </a:prstGeom>
          <a:solidFill>
            <a:schemeClr val="bg2"/>
          </a:solidFill>
          <a:ln/>
        </p:spPr>
      </p:sp>
      <p:sp>
        <p:nvSpPr>
          <p:cNvPr id="16" name="Text 12"/>
          <p:cNvSpPr txBox="1"/>
          <p:nvPr/>
        </p:nvSpPr>
        <p:spPr>
          <a:xfrm>
            <a:off x="7040880" y="4526280"/>
            <a:ext cx="2377440" cy="1234440"/>
          </a:xfrm>
          <a:prstGeom prst="rect">
            <a:avLst/>
          </a:prstGeom>
          <a:noFill/>
          <a:ln/>
        </p:spPr>
        <p:txBody>
          <a:bodyPr wrap="square" lIns="0" tIns="0" rIns="0" bIns="0" rtlCol="0" anchor="ctr"/>
          <a:lstStyle/>
          <a:p>
            <a:pPr indent="0" marL="0">
              <a:buNone/>
            </a:pPr>
            <a:r>
              <a:rPr lang="en-US" sz="3600" b="1" dirty="0">
                <a:solidFill>
                  <a:schemeClr val="accent1"/>
                </a:solidFill>
              </a:rPr>
              <a:t>3 + 1 + 1</a:t>
            </a:r>
            <a:endParaRPr lang="en-US" sz="3600" dirty="0"/>
          </a:p>
        </p:txBody>
      </p:sp>
      <p:sp>
        <p:nvSpPr>
          <p:cNvPr id="17" name="Text 13"/>
          <p:cNvSpPr txBox="1"/>
          <p:nvPr/>
        </p:nvSpPr>
        <p:spPr>
          <a:xfrm>
            <a:off x="9418320" y="4526280"/>
            <a:ext cx="2103120" cy="1234440"/>
          </a:xfrm>
          <a:prstGeom prst="rect">
            <a:avLst/>
          </a:prstGeom>
          <a:noFill/>
          <a:ln/>
        </p:spPr>
        <p:txBody>
          <a:bodyPr wrap="square" lIns="0" tIns="0" rIns="0" bIns="0" rtlCol="0" anchor="ctr"/>
          <a:lstStyle/>
          <a:p>
            <a:pPr indent="0" marL="0">
              <a:buNone/>
            </a:pPr>
            <a:r>
              <a:rPr lang="en-US" sz="1600" dirty="0">
                <a:solidFill>
                  <a:schemeClr val="tx1"/>
                </a:solidFill>
              </a:rPr>
              <a:t>quotations, comparison, memo</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THE DAY AT A GLANCE</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Ten stages, one chapter each</a:t>
            </a:r>
            <a:endParaRPr lang="en-US" sz="3200" dirty="0"/>
          </a:p>
        </p:txBody>
      </p:sp>
      <p:sp>
        <p:nvSpPr>
          <p:cNvPr id="5" name="Stage card"/>
          <p:cNvSpPr/>
          <p:nvPr/>
        </p:nvSpPr>
        <p:spPr>
          <a:xfrm>
            <a:off x="548640" y="1783080"/>
            <a:ext cx="2057400" cy="1920240"/>
          </a:xfrm>
          <a:prstGeom prst="roundRect">
            <a:avLst>
              <a:gd name="adj" fmla="val 3810"/>
            </a:avLst>
          </a:prstGeom>
          <a:solidFill>
            <a:schemeClr val="bg2"/>
          </a:solidFill>
          <a:ln/>
        </p:spPr>
      </p:sp>
      <p:sp>
        <p:nvSpPr>
          <p:cNvPr id="6" name="Number 01"/>
          <p:cNvSpPr/>
          <p:nvPr/>
        </p:nvSpPr>
        <p:spPr>
          <a:xfrm>
            <a:off x="731520" y="1965960"/>
            <a:ext cx="548640" cy="548640"/>
          </a:xfrm>
          <a:prstGeom prst="ellipse">
            <a:avLst/>
          </a:prstGeom>
          <a:solidFill>
            <a:schemeClr val="accent1"/>
          </a:solidFill>
          <a:ln/>
        </p:spPr>
      </p:sp>
      <p:sp>
        <p:nvSpPr>
          <p:cNvPr id="7" name="Text 4"/>
          <p:cNvSpPr txBox="1"/>
          <p:nvPr/>
        </p:nvSpPr>
        <p:spPr>
          <a:xfrm>
            <a:off x="731520" y="19659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01</a:t>
            </a:r>
            <a:endParaRPr lang="en-US" sz="1600" dirty="0"/>
          </a:p>
        </p:txBody>
      </p:sp>
      <p:sp>
        <p:nvSpPr>
          <p:cNvPr id="8" name="Text 5"/>
          <p:cNvSpPr txBox="1"/>
          <p:nvPr/>
        </p:nvSpPr>
        <p:spPr>
          <a:xfrm>
            <a:off x="731520" y="2606040"/>
            <a:ext cx="1737360" cy="365760"/>
          </a:xfrm>
          <a:prstGeom prst="rect">
            <a:avLst/>
          </a:prstGeom>
          <a:noFill/>
          <a:ln/>
        </p:spPr>
        <p:txBody>
          <a:bodyPr wrap="square" lIns="0" tIns="0" rIns="0" bIns="0" rtlCol="0" anchor="ctr"/>
          <a:lstStyle/>
          <a:p>
            <a:pPr indent="0" marL="0">
              <a:buNone/>
            </a:pPr>
            <a:r>
              <a:rPr lang="en-US" sz="1800" b="1" dirty="0">
                <a:solidFill>
                  <a:schemeClr val="tx2"/>
                </a:solidFill>
              </a:rPr>
              <a:t>Check</a:t>
            </a:r>
            <a:endParaRPr lang="en-US" sz="1800" dirty="0"/>
          </a:p>
        </p:txBody>
      </p:sp>
      <p:sp>
        <p:nvSpPr>
          <p:cNvPr id="9" name="Text 6"/>
          <p:cNvSpPr txBox="1"/>
          <p:nvPr/>
        </p:nvSpPr>
        <p:spPr>
          <a:xfrm>
            <a:off x="731520" y="2971800"/>
            <a:ext cx="1737360" cy="640080"/>
          </a:xfrm>
          <a:prstGeom prst="rect">
            <a:avLst/>
          </a:prstGeom>
          <a:noFill/>
          <a:ln/>
        </p:spPr>
        <p:txBody>
          <a:bodyPr wrap="square" lIns="0" tIns="0" rIns="0" bIns="0" rtlCol="0" anchor="t"/>
          <a:lstStyle/>
          <a:p>
            <a:pPr indent="0" marL="0">
              <a:buNone/>
            </a:pPr>
            <a:r>
              <a:rPr lang="en-US" sz="1400" dirty="0">
                <a:solidFill>
                  <a:schemeClr val="tx1"/>
                </a:solidFill>
              </a:rPr>
              <a:t>Your label and the green shield</a:t>
            </a:r>
            <a:endParaRPr lang="en-US" sz="1400" dirty="0"/>
          </a:p>
        </p:txBody>
      </p:sp>
      <p:sp>
        <p:nvSpPr>
          <p:cNvPr id="10" name="Stage card"/>
          <p:cNvSpPr/>
          <p:nvPr/>
        </p:nvSpPr>
        <p:spPr>
          <a:xfrm>
            <a:off x="2788920" y="1783080"/>
            <a:ext cx="2057400" cy="1920240"/>
          </a:xfrm>
          <a:prstGeom prst="roundRect">
            <a:avLst>
              <a:gd name="adj" fmla="val 3810"/>
            </a:avLst>
          </a:prstGeom>
          <a:solidFill>
            <a:schemeClr val="bg2"/>
          </a:solidFill>
          <a:ln/>
        </p:spPr>
      </p:sp>
      <p:sp>
        <p:nvSpPr>
          <p:cNvPr id="11" name="Number 02"/>
          <p:cNvSpPr/>
          <p:nvPr/>
        </p:nvSpPr>
        <p:spPr>
          <a:xfrm>
            <a:off x="2971800" y="1965960"/>
            <a:ext cx="548640" cy="548640"/>
          </a:xfrm>
          <a:prstGeom prst="ellipse">
            <a:avLst/>
          </a:prstGeom>
          <a:solidFill>
            <a:schemeClr val="accent1"/>
          </a:solidFill>
          <a:ln/>
        </p:spPr>
      </p:sp>
      <p:sp>
        <p:nvSpPr>
          <p:cNvPr id="12" name="Text 9"/>
          <p:cNvSpPr txBox="1"/>
          <p:nvPr/>
        </p:nvSpPr>
        <p:spPr>
          <a:xfrm>
            <a:off x="2971800" y="19659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02</a:t>
            </a:r>
            <a:endParaRPr lang="en-US" sz="1600" dirty="0"/>
          </a:p>
        </p:txBody>
      </p:sp>
      <p:sp>
        <p:nvSpPr>
          <p:cNvPr id="13" name="Text 10"/>
          <p:cNvSpPr txBox="1"/>
          <p:nvPr/>
        </p:nvSpPr>
        <p:spPr>
          <a:xfrm>
            <a:off x="2971800" y="2606040"/>
            <a:ext cx="1737360" cy="365760"/>
          </a:xfrm>
          <a:prstGeom prst="rect">
            <a:avLst/>
          </a:prstGeom>
          <a:noFill/>
          <a:ln/>
        </p:spPr>
        <p:txBody>
          <a:bodyPr wrap="square" lIns="0" tIns="0" rIns="0" bIns="0" rtlCol="0" anchor="ctr"/>
          <a:lstStyle/>
          <a:p>
            <a:pPr indent="0" marL="0">
              <a:buNone/>
            </a:pPr>
            <a:r>
              <a:rPr lang="en-US" sz="1800" b="1" dirty="0">
                <a:solidFill>
                  <a:schemeClr val="tx2"/>
                </a:solidFill>
              </a:rPr>
              <a:t>Explore</a:t>
            </a:r>
            <a:endParaRPr lang="en-US" sz="1800" dirty="0"/>
          </a:p>
        </p:txBody>
      </p:sp>
      <p:sp>
        <p:nvSpPr>
          <p:cNvPr id="14" name="Text 11"/>
          <p:cNvSpPr txBox="1"/>
          <p:nvPr/>
        </p:nvSpPr>
        <p:spPr>
          <a:xfrm>
            <a:off x="2971800" y="2971800"/>
            <a:ext cx="1737360" cy="640080"/>
          </a:xfrm>
          <a:prstGeom prst="rect">
            <a:avLst/>
          </a:prstGeom>
          <a:noFill/>
          <a:ln/>
        </p:spPr>
        <p:txBody>
          <a:bodyPr wrap="square" lIns="0" tIns="0" rIns="0" bIns="0" rtlCol="0" anchor="t"/>
          <a:lstStyle/>
          <a:p>
            <a:pPr indent="0" marL="0">
              <a:buNone/>
            </a:pPr>
            <a:r>
              <a:rPr lang="en-US" sz="1400" dirty="0">
                <a:solidFill>
                  <a:schemeClr val="tx1"/>
                </a:solidFill>
              </a:rPr>
              <a:t>Find your way around Copilot</a:t>
            </a:r>
            <a:endParaRPr lang="en-US" sz="1400" dirty="0"/>
          </a:p>
        </p:txBody>
      </p:sp>
      <p:sp>
        <p:nvSpPr>
          <p:cNvPr id="15" name="Stage card"/>
          <p:cNvSpPr/>
          <p:nvPr/>
        </p:nvSpPr>
        <p:spPr>
          <a:xfrm>
            <a:off x="5029200" y="1783080"/>
            <a:ext cx="2057400" cy="1920240"/>
          </a:xfrm>
          <a:prstGeom prst="roundRect">
            <a:avLst>
              <a:gd name="adj" fmla="val 3810"/>
            </a:avLst>
          </a:prstGeom>
          <a:solidFill>
            <a:schemeClr val="bg2"/>
          </a:solidFill>
          <a:ln/>
        </p:spPr>
      </p:sp>
      <p:sp>
        <p:nvSpPr>
          <p:cNvPr id="16" name="Number 03"/>
          <p:cNvSpPr/>
          <p:nvPr/>
        </p:nvSpPr>
        <p:spPr>
          <a:xfrm>
            <a:off x="5212080" y="1965960"/>
            <a:ext cx="548640" cy="548640"/>
          </a:xfrm>
          <a:prstGeom prst="ellipse">
            <a:avLst/>
          </a:prstGeom>
          <a:solidFill>
            <a:schemeClr val="accent1"/>
          </a:solidFill>
          <a:ln/>
        </p:spPr>
      </p:sp>
      <p:sp>
        <p:nvSpPr>
          <p:cNvPr id="17" name="Text 14"/>
          <p:cNvSpPr txBox="1"/>
          <p:nvPr/>
        </p:nvSpPr>
        <p:spPr>
          <a:xfrm>
            <a:off x="5212080" y="19659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03</a:t>
            </a:r>
            <a:endParaRPr lang="en-US" sz="1600" dirty="0"/>
          </a:p>
        </p:txBody>
      </p:sp>
      <p:sp>
        <p:nvSpPr>
          <p:cNvPr id="18" name="Text 15"/>
          <p:cNvSpPr txBox="1"/>
          <p:nvPr/>
        </p:nvSpPr>
        <p:spPr>
          <a:xfrm>
            <a:off x="5212080" y="2606040"/>
            <a:ext cx="1737360" cy="365760"/>
          </a:xfrm>
          <a:prstGeom prst="rect">
            <a:avLst/>
          </a:prstGeom>
          <a:noFill/>
          <a:ln/>
        </p:spPr>
        <p:txBody>
          <a:bodyPr wrap="square" lIns="0" tIns="0" rIns="0" bIns="0" rtlCol="0" anchor="ctr"/>
          <a:lstStyle/>
          <a:p>
            <a:pPr indent="0" marL="0">
              <a:buNone/>
            </a:pPr>
            <a:r>
              <a:rPr lang="en-US" sz="1800" b="1" dirty="0">
                <a:solidFill>
                  <a:schemeClr val="tx2"/>
                </a:solidFill>
              </a:rPr>
              <a:t>Ask</a:t>
            </a:r>
            <a:endParaRPr lang="en-US" sz="1800" dirty="0"/>
          </a:p>
        </p:txBody>
      </p:sp>
      <p:sp>
        <p:nvSpPr>
          <p:cNvPr id="19" name="Text 16"/>
          <p:cNvSpPr txBox="1"/>
          <p:nvPr/>
        </p:nvSpPr>
        <p:spPr>
          <a:xfrm>
            <a:off x="5212080" y="2971800"/>
            <a:ext cx="1737360" cy="640080"/>
          </a:xfrm>
          <a:prstGeom prst="rect">
            <a:avLst/>
          </a:prstGeom>
          <a:noFill/>
          <a:ln/>
        </p:spPr>
        <p:txBody>
          <a:bodyPr wrap="square" lIns="0" tIns="0" rIns="0" bIns="0" rtlCol="0" anchor="t"/>
          <a:lstStyle/>
          <a:p>
            <a:pPr indent="0" marL="0">
              <a:buNone/>
            </a:pPr>
            <a:r>
              <a:rPr lang="en-US" sz="1400" dirty="0">
                <a:solidFill>
                  <a:schemeClr val="tx1"/>
                </a:solidFill>
              </a:rPr>
              <a:t>Write the vendor requirements</a:t>
            </a:r>
            <a:endParaRPr lang="en-US" sz="1400" dirty="0"/>
          </a:p>
        </p:txBody>
      </p:sp>
      <p:sp>
        <p:nvSpPr>
          <p:cNvPr id="20" name="Stage card"/>
          <p:cNvSpPr/>
          <p:nvPr/>
        </p:nvSpPr>
        <p:spPr>
          <a:xfrm>
            <a:off x="7269480" y="1783080"/>
            <a:ext cx="2057400" cy="1920240"/>
          </a:xfrm>
          <a:prstGeom prst="roundRect">
            <a:avLst>
              <a:gd name="adj" fmla="val 3810"/>
            </a:avLst>
          </a:prstGeom>
          <a:solidFill>
            <a:schemeClr val="bg2"/>
          </a:solidFill>
          <a:ln/>
        </p:spPr>
      </p:sp>
      <p:sp>
        <p:nvSpPr>
          <p:cNvPr id="21" name="Number 04"/>
          <p:cNvSpPr/>
          <p:nvPr/>
        </p:nvSpPr>
        <p:spPr>
          <a:xfrm>
            <a:off x="7452360" y="1965960"/>
            <a:ext cx="548640" cy="548640"/>
          </a:xfrm>
          <a:prstGeom prst="ellipse">
            <a:avLst/>
          </a:prstGeom>
          <a:solidFill>
            <a:schemeClr val="accent1"/>
          </a:solidFill>
          <a:ln/>
        </p:spPr>
      </p:sp>
      <p:sp>
        <p:nvSpPr>
          <p:cNvPr id="22" name="Text 19"/>
          <p:cNvSpPr txBox="1"/>
          <p:nvPr/>
        </p:nvSpPr>
        <p:spPr>
          <a:xfrm>
            <a:off x="7452360" y="19659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04</a:t>
            </a:r>
            <a:endParaRPr lang="en-US" sz="1600" dirty="0"/>
          </a:p>
        </p:txBody>
      </p:sp>
      <p:sp>
        <p:nvSpPr>
          <p:cNvPr id="23" name="Text 20"/>
          <p:cNvSpPr txBox="1"/>
          <p:nvPr/>
        </p:nvSpPr>
        <p:spPr>
          <a:xfrm>
            <a:off x="7452360" y="2606040"/>
            <a:ext cx="1737360" cy="365760"/>
          </a:xfrm>
          <a:prstGeom prst="rect">
            <a:avLst/>
          </a:prstGeom>
          <a:noFill/>
          <a:ln/>
        </p:spPr>
        <p:txBody>
          <a:bodyPr wrap="square" lIns="0" tIns="0" rIns="0" bIns="0" rtlCol="0" anchor="ctr"/>
          <a:lstStyle/>
          <a:p>
            <a:pPr indent="0" marL="0">
              <a:buNone/>
            </a:pPr>
            <a:r>
              <a:rPr lang="en-US" sz="1800" b="1" dirty="0">
                <a:solidFill>
                  <a:schemeClr val="tx2"/>
                </a:solidFill>
              </a:rPr>
              <a:t>Compare</a:t>
            </a:r>
            <a:endParaRPr lang="en-US" sz="1800" dirty="0"/>
          </a:p>
        </p:txBody>
      </p:sp>
      <p:sp>
        <p:nvSpPr>
          <p:cNvPr id="24" name="Text 21"/>
          <p:cNvSpPr txBox="1"/>
          <p:nvPr/>
        </p:nvSpPr>
        <p:spPr>
          <a:xfrm>
            <a:off x="7452360" y="2971800"/>
            <a:ext cx="1737360" cy="640080"/>
          </a:xfrm>
          <a:prstGeom prst="rect">
            <a:avLst/>
          </a:prstGeom>
          <a:noFill/>
          <a:ln/>
        </p:spPr>
        <p:txBody>
          <a:bodyPr wrap="square" lIns="0" tIns="0" rIns="0" bIns="0" rtlCol="0" anchor="t"/>
          <a:lstStyle/>
          <a:p>
            <a:pPr indent="0" marL="0">
              <a:buNone/>
            </a:pPr>
            <a:r>
              <a:rPr lang="en-US" sz="1400" dirty="0">
                <a:solidFill>
                  <a:schemeClr val="tx1"/>
                </a:solidFill>
              </a:rPr>
              <a:t>Check the three quotations</a:t>
            </a:r>
            <a:endParaRPr lang="en-US" sz="1400" dirty="0"/>
          </a:p>
        </p:txBody>
      </p:sp>
      <p:sp>
        <p:nvSpPr>
          <p:cNvPr id="25" name="Stage card"/>
          <p:cNvSpPr/>
          <p:nvPr/>
        </p:nvSpPr>
        <p:spPr>
          <a:xfrm>
            <a:off x="9509760" y="1783080"/>
            <a:ext cx="2057400" cy="1920240"/>
          </a:xfrm>
          <a:prstGeom prst="roundRect">
            <a:avLst>
              <a:gd name="adj" fmla="val 3810"/>
            </a:avLst>
          </a:prstGeom>
          <a:solidFill>
            <a:schemeClr val="bg2"/>
          </a:solidFill>
          <a:ln/>
        </p:spPr>
      </p:sp>
      <p:sp>
        <p:nvSpPr>
          <p:cNvPr id="26" name="Number 05"/>
          <p:cNvSpPr/>
          <p:nvPr/>
        </p:nvSpPr>
        <p:spPr>
          <a:xfrm>
            <a:off x="9692640" y="1965960"/>
            <a:ext cx="548640" cy="548640"/>
          </a:xfrm>
          <a:prstGeom prst="ellipse">
            <a:avLst/>
          </a:prstGeom>
          <a:solidFill>
            <a:schemeClr val="accent1"/>
          </a:solidFill>
          <a:ln/>
        </p:spPr>
      </p:sp>
      <p:sp>
        <p:nvSpPr>
          <p:cNvPr id="27" name="Text 24"/>
          <p:cNvSpPr txBox="1"/>
          <p:nvPr/>
        </p:nvSpPr>
        <p:spPr>
          <a:xfrm>
            <a:off x="9692640" y="19659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05</a:t>
            </a:r>
            <a:endParaRPr lang="en-US" sz="1600" dirty="0"/>
          </a:p>
        </p:txBody>
      </p:sp>
      <p:sp>
        <p:nvSpPr>
          <p:cNvPr id="28" name="Text 25"/>
          <p:cNvSpPr txBox="1"/>
          <p:nvPr/>
        </p:nvSpPr>
        <p:spPr>
          <a:xfrm>
            <a:off x="9692640" y="2606040"/>
            <a:ext cx="1737360" cy="365760"/>
          </a:xfrm>
          <a:prstGeom prst="rect">
            <a:avLst/>
          </a:prstGeom>
          <a:noFill/>
          <a:ln/>
        </p:spPr>
        <p:txBody>
          <a:bodyPr wrap="square" lIns="0" tIns="0" rIns="0" bIns="0" rtlCol="0" anchor="ctr"/>
          <a:lstStyle/>
          <a:p>
            <a:pPr indent="0" marL="0">
              <a:buNone/>
            </a:pPr>
            <a:r>
              <a:rPr lang="en-US" sz="1800" b="1" dirty="0">
                <a:solidFill>
                  <a:schemeClr val="tx2"/>
                </a:solidFill>
              </a:rPr>
              <a:t>Chase</a:t>
            </a:r>
            <a:endParaRPr lang="en-US" sz="1800" dirty="0"/>
          </a:p>
        </p:txBody>
      </p:sp>
      <p:sp>
        <p:nvSpPr>
          <p:cNvPr id="29" name="Text 26"/>
          <p:cNvSpPr txBox="1"/>
          <p:nvPr/>
        </p:nvSpPr>
        <p:spPr>
          <a:xfrm>
            <a:off x="9692640" y="2971800"/>
            <a:ext cx="1737360" cy="640080"/>
          </a:xfrm>
          <a:prstGeom prst="rect">
            <a:avLst/>
          </a:prstGeom>
          <a:noFill/>
          <a:ln/>
        </p:spPr>
        <p:txBody>
          <a:bodyPr wrap="square" lIns="0" tIns="0" rIns="0" bIns="0" rtlCol="0" anchor="t"/>
          <a:lstStyle/>
          <a:p>
            <a:pPr indent="0" marL="0">
              <a:buNone/>
            </a:pPr>
            <a:r>
              <a:rPr lang="en-US" sz="1400" dirty="0">
                <a:solidFill>
                  <a:schemeClr val="tx1"/>
                </a:solidFill>
              </a:rPr>
              <a:t>Email vendors with Outlook</a:t>
            </a:r>
            <a:endParaRPr lang="en-US" sz="1400" dirty="0"/>
          </a:p>
        </p:txBody>
      </p:sp>
      <p:sp>
        <p:nvSpPr>
          <p:cNvPr id="30" name="Stage card"/>
          <p:cNvSpPr/>
          <p:nvPr/>
        </p:nvSpPr>
        <p:spPr>
          <a:xfrm>
            <a:off x="548640" y="3977640"/>
            <a:ext cx="2057400" cy="1920240"/>
          </a:xfrm>
          <a:prstGeom prst="roundRect">
            <a:avLst>
              <a:gd name="adj" fmla="val 3810"/>
            </a:avLst>
          </a:prstGeom>
          <a:solidFill>
            <a:schemeClr val="bg2"/>
          </a:solidFill>
          <a:ln/>
        </p:spPr>
      </p:sp>
      <p:sp>
        <p:nvSpPr>
          <p:cNvPr id="31" name="Number 06"/>
          <p:cNvSpPr/>
          <p:nvPr/>
        </p:nvSpPr>
        <p:spPr>
          <a:xfrm>
            <a:off x="731520" y="4160520"/>
            <a:ext cx="548640" cy="548640"/>
          </a:xfrm>
          <a:prstGeom prst="ellipse">
            <a:avLst/>
          </a:prstGeom>
          <a:solidFill>
            <a:schemeClr val="accent1"/>
          </a:solidFill>
          <a:ln/>
        </p:spPr>
      </p:sp>
      <p:sp>
        <p:nvSpPr>
          <p:cNvPr id="32" name="Text 29"/>
          <p:cNvSpPr txBox="1"/>
          <p:nvPr/>
        </p:nvSpPr>
        <p:spPr>
          <a:xfrm>
            <a:off x="731520" y="41605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06</a:t>
            </a:r>
            <a:endParaRPr lang="en-US" sz="1600" dirty="0"/>
          </a:p>
        </p:txBody>
      </p:sp>
      <p:sp>
        <p:nvSpPr>
          <p:cNvPr id="33" name="Text 30"/>
          <p:cNvSpPr txBox="1"/>
          <p:nvPr/>
        </p:nvSpPr>
        <p:spPr>
          <a:xfrm>
            <a:off x="731520" y="4800600"/>
            <a:ext cx="1737360" cy="365760"/>
          </a:xfrm>
          <a:prstGeom prst="rect">
            <a:avLst/>
          </a:prstGeom>
          <a:noFill/>
          <a:ln/>
        </p:spPr>
        <p:txBody>
          <a:bodyPr wrap="square" lIns="0" tIns="0" rIns="0" bIns="0" rtlCol="0" anchor="ctr"/>
          <a:lstStyle/>
          <a:p>
            <a:pPr indent="0" marL="0">
              <a:buNone/>
            </a:pPr>
            <a:r>
              <a:rPr lang="en-US" sz="1800" b="1" dirty="0">
                <a:solidFill>
                  <a:schemeClr val="tx2"/>
                </a:solidFill>
              </a:rPr>
              <a:t>Draft</a:t>
            </a:r>
            <a:endParaRPr lang="en-US" sz="1800" dirty="0"/>
          </a:p>
        </p:txBody>
      </p:sp>
      <p:sp>
        <p:nvSpPr>
          <p:cNvPr id="34" name="Text 31"/>
          <p:cNvSpPr txBox="1"/>
          <p:nvPr/>
        </p:nvSpPr>
        <p:spPr>
          <a:xfrm>
            <a:off x="731520" y="5166360"/>
            <a:ext cx="1737360" cy="640080"/>
          </a:xfrm>
          <a:prstGeom prst="rect">
            <a:avLst/>
          </a:prstGeom>
          <a:noFill/>
          <a:ln/>
        </p:spPr>
        <p:txBody>
          <a:bodyPr wrap="square" lIns="0" tIns="0" rIns="0" bIns="0" rtlCol="0" anchor="t"/>
          <a:lstStyle/>
          <a:p>
            <a:pPr indent="0" marL="0">
              <a:buNone/>
            </a:pPr>
            <a:r>
              <a:rPr lang="en-US" sz="1400" dirty="0">
                <a:solidFill>
                  <a:schemeClr val="tx1"/>
                </a:solidFill>
              </a:rPr>
              <a:t>Comparison and memo on a Page</a:t>
            </a:r>
            <a:endParaRPr lang="en-US" sz="1400" dirty="0"/>
          </a:p>
        </p:txBody>
      </p:sp>
      <p:sp>
        <p:nvSpPr>
          <p:cNvPr id="35" name="Stage card"/>
          <p:cNvSpPr/>
          <p:nvPr/>
        </p:nvSpPr>
        <p:spPr>
          <a:xfrm>
            <a:off x="2788920" y="3977640"/>
            <a:ext cx="2057400" cy="1920240"/>
          </a:xfrm>
          <a:prstGeom prst="roundRect">
            <a:avLst>
              <a:gd name="adj" fmla="val 3810"/>
            </a:avLst>
          </a:prstGeom>
          <a:solidFill>
            <a:schemeClr val="bg2"/>
          </a:solidFill>
          <a:ln/>
        </p:spPr>
      </p:sp>
      <p:sp>
        <p:nvSpPr>
          <p:cNvPr id="36" name="Number 07"/>
          <p:cNvSpPr/>
          <p:nvPr/>
        </p:nvSpPr>
        <p:spPr>
          <a:xfrm>
            <a:off x="2971800" y="4160520"/>
            <a:ext cx="548640" cy="548640"/>
          </a:xfrm>
          <a:prstGeom prst="ellipse">
            <a:avLst/>
          </a:prstGeom>
          <a:solidFill>
            <a:schemeClr val="accent1"/>
          </a:solidFill>
          <a:ln/>
        </p:spPr>
      </p:sp>
      <p:sp>
        <p:nvSpPr>
          <p:cNvPr id="37" name="Text 34"/>
          <p:cNvSpPr txBox="1"/>
          <p:nvPr/>
        </p:nvSpPr>
        <p:spPr>
          <a:xfrm>
            <a:off x="2971800" y="41605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07</a:t>
            </a:r>
            <a:endParaRPr lang="en-US" sz="1600" dirty="0"/>
          </a:p>
        </p:txBody>
      </p:sp>
      <p:sp>
        <p:nvSpPr>
          <p:cNvPr id="38" name="Text 35"/>
          <p:cNvSpPr txBox="1"/>
          <p:nvPr/>
        </p:nvSpPr>
        <p:spPr>
          <a:xfrm>
            <a:off x="2971800" y="4800600"/>
            <a:ext cx="1737360" cy="365760"/>
          </a:xfrm>
          <a:prstGeom prst="rect">
            <a:avLst/>
          </a:prstGeom>
          <a:noFill/>
          <a:ln/>
        </p:spPr>
        <p:txBody>
          <a:bodyPr wrap="square" lIns="0" tIns="0" rIns="0" bIns="0" rtlCol="0" anchor="ctr"/>
          <a:lstStyle/>
          <a:p>
            <a:pPr indent="0" marL="0">
              <a:buNone/>
            </a:pPr>
            <a:r>
              <a:rPr lang="en-US" sz="1800" b="1" dirty="0">
                <a:solidFill>
                  <a:schemeClr val="tx2"/>
                </a:solidFill>
              </a:rPr>
              <a:t>Organise</a:t>
            </a:r>
            <a:endParaRPr lang="en-US" sz="1800" dirty="0"/>
          </a:p>
        </p:txBody>
      </p:sp>
      <p:sp>
        <p:nvSpPr>
          <p:cNvPr id="39" name="Text 36"/>
          <p:cNvSpPr txBox="1"/>
          <p:nvPr/>
        </p:nvSpPr>
        <p:spPr>
          <a:xfrm>
            <a:off x="2971800" y="5166360"/>
            <a:ext cx="1737360" cy="640080"/>
          </a:xfrm>
          <a:prstGeom prst="rect">
            <a:avLst/>
          </a:prstGeom>
          <a:noFill/>
          <a:ln/>
        </p:spPr>
        <p:txBody>
          <a:bodyPr wrap="square" lIns="0" tIns="0" rIns="0" bIns="0" rtlCol="0" anchor="t"/>
          <a:lstStyle/>
          <a:p>
            <a:pPr indent="0" marL="0">
              <a:buNone/>
            </a:pPr>
            <a:r>
              <a:rPr lang="en-US" sz="1400" dirty="0">
                <a:solidFill>
                  <a:schemeClr val="tx1"/>
                </a:solidFill>
              </a:rPr>
              <a:t>Everything in one Notebook</a:t>
            </a:r>
            <a:endParaRPr lang="en-US" sz="1400" dirty="0"/>
          </a:p>
        </p:txBody>
      </p:sp>
      <p:sp>
        <p:nvSpPr>
          <p:cNvPr id="40" name="Stage card"/>
          <p:cNvSpPr/>
          <p:nvPr/>
        </p:nvSpPr>
        <p:spPr>
          <a:xfrm>
            <a:off x="5029200" y="3977640"/>
            <a:ext cx="2057400" cy="1920240"/>
          </a:xfrm>
          <a:prstGeom prst="roundRect">
            <a:avLst>
              <a:gd name="adj" fmla="val 3810"/>
            </a:avLst>
          </a:prstGeom>
          <a:solidFill>
            <a:schemeClr val="bg2"/>
          </a:solidFill>
          <a:ln/>
        </p:spPr>
      </p:sp>
      <p:sp>
        <p:nvSpPr>
          <p:cNvPr id="41" name="Number 08"/>
          <p:cNvSpPr/>
          <p:nvPr/>
        </p:nvSpPr>
        <p:spPr>
          <a:xfrm>
            <a:off x="5212080" y="4160520"/>
            <a:ext cx="548640" cy="548640"/>
          </a:xfrm>
          <a:prstGeom prst="ellipse">
            <a:avLst/>
          </a:prstGeom>
          <a:solidFill>
            <a:schemeClr val="accent1"/>
          </a:solidFill>
          <a:ln/>
        </p:spPr>
      </p:sp>
      <p:sp>
        <p:nvSpPr>
          <p:cNvPr id="42" name="Text 39"/>
          <p:cNvSpPr txBox="1"/>
          <p:nvPr/>
        </p:nvSpPr>
        <p:spPr>
          <a:xfrm>
            <a:off x="5212080" y="41605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08</a:t>
            </a:r>
            <a:endParaRPr lang="en-US" sz="1600" dirty="0"/>
          </a:p>
        </p:txBody>
      </p:sp>
      <p:sp>
        <p:nvSpPr>
          <p:cNvPr id="43" name="Text 40"/>
          <p:cNvSpPr txBox="1"/>
          <p:nvPr/>
        </p:nvSpPr>
        <p:spPr>
          <a:xfrm>
            <a:off x="5212080" y="4800600"/>
            <a:ext cx="1737360" cy="365760"/>
          </a:xfrm>
          <a:prstGeom prst="rect">
            <a:avLst/>
          </a:prstGeom>
          <a:noFill/>
          <a:ln/>
        </p:spPr>
        <p:txBody>
          <a:bodyPr wrap="square" lIns="0" tIns="0" rIns="0" bIns="0" rtlCol="0" anchor="ctr"/>
          <a:lstStyle/>
          <a:p>
            <a:pPr indent="0" marL="0">
              <a:buNone/>
            </a:pPr>
            <a:r>
              <a:rPr lang="en-US" sz="1800" b="1" dirty="0">
                <a:solidFill>
                  <a:schemeClr val="tx2"/>
                </a:solidFill>
              </a:rPr>
              <a:t>Reuse</a:t>
            </a:r>
            <a:endParaRPr lang="en-US" sz="1800" dirty="0"/>
          </a:p>
        </p:txBody>
      </p:sp>
      <p:sp>
        <p:nvSpPr>
          <p:cNvPr id="44" name="Text 41"/>
          <p:cNvSpPr txBox="1"/>
          <p:nvPr/>
        </p:nvSpPr>
        <p:spPr>
          <a:xfrm>
            <a:off x="5212080" y="5166360"/>
            <a:ext cx="1737360" cy="640080"/>
          </a:xfrm>
          <a:prstGeom prst="rect">
            <a:avLst/>
          </a:prstGeom>
          <a:noFill/>
          <a:ln/>
        </p:spPr>
        <p:txBody>
          <a:bodyPr wrap="square" lIns="0" tIns="0" rIns="0" bIns="0" rtlCol="0" anchor="t"/>
          <a:lstStyle/>
          <a:p>
            <a:pPr indent="0" marL="0">
              <a:buNone/>
            </a:pPr>
            <a:r>
              <a:rPr lang="en-US" sz="1400" dirty="0">
                <a:solidFill>
                  <a:schemeClr val="tx1"/>
                </a:solidFill>
              </a:rPr>
              <a:t>Build a Quotation Checker agent</a:t>
            </a:r>
            <a:endParaRPr lang="en-US" sz="1400" dirty="0"/>
          </a:p>
        </p:txBody>
      </p:sp>
      <p:sp>
        <p:nvSpPr>
          <p:cNvPr id="45" name="Stage card"/>
          <p:cNvSpPr/>
          <p:nvPr/>
        </p:nvSpPr>
        <p:spPr>
          <a:xfrm>
            <a:off x="7269480" y="3977640"/>
            <a:ext cx="2057400" cy="1920240"/>
          </a:xfrm>
          <a:prstGeom prst="roundRect">
            <a:avLst>
              <a:gd name="adj" fmla="val 3810"/>
            </a:avLst>
          </a:prstGeom>
          <a:solidFill>
            <a:schemeClr val="bg2"/>
          </a:solidFill>
          <a:ln/>
        </p:spPr>
      </p:sp>
      <p:sp>
        <p:nvSpPr>
          <p:cNvPr id="46" name="Number 09"/>
          <p:cNvSpPr/>
          <p:nvPr/>
        </p:nvSpPr>
        <p:spPr>
          <a:xfrm>
            <a:off x="7452360" y="4160520"/>
            <a:ext cx="548640" cy="548640"/>
          </a:xfrm>
          <a:prstGeom prst="ellipse">
            <a:avLst/>
          </a:prstGeom>
          <a:solidFill>
            <a:schemeClr val="accent4"/>
          </a:solidFill>
          <a:ln/>
        </p:spPr>
      </p:sp>
      <p:sp>
        <p:nvSpPr>
          <p:cNvPr id="47" name="Text 44"/>
          <p:cNvSpPr txBox="1"/>
          <p:nvPr/>
        </p:nvSpPr>
        <p:spPr>
          <a:xfrm>
            <a:off x="7452360" y="41605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09</a:t>
            </a:r>
            <a:endParaRPr lang="en-US" sz="1600" dirty="0"/>
          </a:p>
        </p:txBody>
      </p:sp>
      <p:sp>
        <p:nvSpPr>
          <p:cNvPr id="48" name="Text 45"/>
          <p:cNvSpPr txBox="1"/>
          <p:nvPr/>
        </p:nvSpPr>
        <p:spPr>
          <a:xfrm>
            <a:off x="7452360" y="4800600"/>
            <a:ext cx="1737360" cy="365760"/>
          </a:xfrm>
          <a:prstGeom prst="rect">
            <a:avLst/>
          </a:prstGeom>
          <a:noFill/>
          <a:ln/>
        </p:spPr>
        <p:txBody>
          <a:bodyPr wrap="square" lIns="0" tIns="0" rIns="0" bIns="0" rtlCol="0" anchor="ctr"/>
          <a:lstStyle/>
          <a:p>
            <a:pPr indent="0" marL="0">
              <a:buNone/>
            </a:pPr>
            <a:r>
              <a:rPr lang="en-US" sz="1800" b="1" dirty="0">
                <a:solidFill>
                  <a:schemeClr val="tx2"/>
                </a:solidFill>
              </a:rPr>
              <a:t>Extend</a:t>
            </a:r>
            <a:endParaRPr lang="en-US" sz="1800" dirty="0"/>
          </a:p>
        </p:txBody>
      </p:sp>
      <p:sp>
        <p:nvSpPr>
          <p:cNvPr id="49" name="Text 46"/>
          <p:cNvSpPr txBox="1"/>
          <p:nvPr/>
        </p:nvSpPr>
        <p:spPr>
          <a:xfrm>
            <a:off x="7452360" y="5166360"/>
            <a:ext cx="1737360" cy="640080"/>
          </a:xfrm>
          <a:prstGeom prst="rect">
            <a:avLst/>
          </a:prstGeom>
          <a:noFill/>
          <a:ln/>
        </p:spPr>
        <p:txBody>
          <a:bodyPr wrap="square" lIns="0" tIns="0" rIns="0" bIns="0" rtlCol="0" anchor="t"/>
          <a:lstStyle/>
          <a:p>
            <a:pPr indent="0" marL="0">
              <a:buNone/>
            </a:pPr>
            <a:r>
              <a:rPr lang="en-US" sz="1400" dirty="0">
                <a:solidFill>
                  <a:schemeClr val="tx1"/>
                </a:solidFill>
              </a:rPr>
              <a:t>Optional: Word and Excel</a:t>
            </a:r>
            <a:endParaRPr lang="en-US" sz="1400" dirty="0"/>
          </a:p>
        </p:txBody>
      </p:sp>
      <p:sp>
        <p:nvSpPr>
          <p:cNvPr id="50" name="Stage card"/>
          <p:cNvSpPr/>
          <p:nvPr/>
        </p:nvSpPr>
        <p:spPr>
          <a:xfrm>
            <a:off x="9509760" y="3977640"/>
            <a:ext cx="2057400" cy="1920240"/>
          </a:xfrm>
          <a:prstGeom prst="roundRect">
            <a:avLst>
              <a:gd name="adj" fmla="val 3810"/>
            </a:avLst>
          </a:prstGeom>
          <a:solidFill>
            <a:schemeClr val="bg2"/>
          </a:solidFill>
          <a:ln/>
        </p:spPr>
      </p:sp>
      <p:sp>
        <p:nvSpPr>
          <p:cNvPr id="51" name="Number 10"/>
          <p:cNvSpPr/>
          <p:nvPr/>
        </p:nvSpPr>
        <p:spPr>
          <a:xfrm>
            <a:off x="9692640" y="4160520"/>
            <a:ext cx="548640" cy="548640"/>
          </a:xfrm>
          <a:prstGeom prst="ellipse">
            <a:avLst/>
          </a:prstGeom>
          <a:solidFill>
            <a:schemeClr val="accent1"/>
          </a:solidFill>
          <a:ln/>
        </p:spPr>
      </p:sp>
      <p:sp>
        <p:nvSpPr>
          <p:cNvPr id="52" name="Text 49"/>
          <p:cNvSpPr txBox="1"/>
          <p:nvPr/>
        </p:nvSpPr>
        <p:spPr>
          <a:xfrm>
            <a:off x="9692640" y="41605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10</a:t>
            </a:r>
            <a:endParaRPr lang="en-US" sz="1600" dirty="0"/>
          </a:p>
        </p:txBody>
      </p:sp>
      <p:sp>
        <p:nvSpPr>
          <p:cNvPr id="53" name="Text 50"/>
          <p:cNvSpPr txBox="1"/>
          <p:nvPr/>
        </p:nvSpPr>
        <p:spPr>
          <a:xfrm>
            <a:off x="9692640" y="4800600"/>
            <a:ext cx="1737360" cy="365760"/>
          </a:xfrm>
          <a:prstGeom prst="rect">
            <a:avLst/>
          </a:prstGeom>
          <a:noFill/>
          <a:ln/>
        </p:spPr>
        <p:txBody>
          <a:bodyPr wrap="square" lIns="0" tIns="0" rIns="0" bIns="0" rtlCol="0" anchor="ctr"/>
          <a:lstStyle/>
          <a:p>
            <a:pPr indent="0" marL="0">
              <a:buNone/>
            </a:pPr>
            <a:r>
              <a:rPr lang="en-US" sz="1800" b="1" dirty="0">
                <a:solidFill>
                  <a:schemeClr val="tx2"/>
                </a:solidFill>
              </a:rPr>
              <a:t>Repeat</a:t>
            </a:r>
            <a:endParaRPr lang="en-US" sz="1800" dirty="0"/>
          </a:p>
        </p:txBody>
      </p:sp>
      <p:sp>
        <p:nvSpPr>
          <p:cNvPr id="54" name="Text 51"/>
          <p:cNvSpPr txBox="1"/>
          <p:nvPr/>
        </p:nvSpPr>
        <p:spPr>
          <a:xfrm>
            <a:off x="9692640" y="5166360"/>
            <a:ext cx="1737360" cy="640080"/>
          </a:xfrm>
          <a:prstGeom prst="rect">
            <a:avLst/>
          </a:prstGeom>
          <a:noFill/>
          <a:ln/>
        </p:spPr>
        <p:txBody>
          <a:bodyPr wrap="square" lIns="0" tIns="0" rIns="0" bIns="0" rtlCol="0" anchor="t"/>
          <a:lstStyle/>
          <a:p>
            <a:pPr indent="0" marL="0">
              <a:buNone/>
            </a:pPr>
            <a:r>
              <a:rPr lang="en-US" sz="1400" dirty="0">
                <a:solidFill>
                  <a:schemeClr val="tx1"/>
                </a:solidFill>
              </a:rPr>
              <a:t>Capstone: a second purchase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TODAY'S PLAN</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Morning and afternoon</a:t>
            </a:r>
            <a:endParaRPr lang="en-US" sz="3200" dirty="0"/>
          </a:p>
        </p:txBody>
      </p:sp>
      <p:sp>
        <p:nvSpPr>
          <p:cNvPr id="5" name="Text 2"/>
          <p:cNvSpPr txBox="1"/>
          <p:nvPr/>
        </p:nvSpPr>
        <p:spPr>
          <a:xfrm>
            <a:off x="548640" y="1645920"/>
            <a:ext cx="5394960" cy="411480"/>
          </a:xfrm>
          <a:prstGeom prst="rect">
            <a:avLst/>
          </a:prstGeom>
          <a:noFill/>
          <a:ln/>
        </p:spPr>
        <p:txBody>
          <a:bodyPr wrap="square" lIns="0" tIns="0" rIns="0" bIns="0" rtlCol="0" anchor="ctr"/>
          <a:lstStyle/>
          <a:p>
            <a:pPr indent="0" marL="0">
              <a:buNone/>
            </a:pPr>
            <a:r>
              <a:rPr lang="en-US" sz="2000" b="1" dirty="0">
                <a:solidFill>
                  <a:schemeClr val="tx2"/>
                </a:solidFill>
              </a:rPr>
              <a:t>Morning</a:t>
            </a:r>
            <a:endParaRPr lang="en-US" sz="2000" dirty="0"/>
          </a:p>
        </p:txBody>
      </p:sp>
      <p:sp>
        <p:nvSpPr>
          <p:cNvPr id="6" name="Agenda row"/>
          <p:cNvSpPr/>
          <p:nvPr/>
        </p:nvSpPr>
        <p:spPr>
          <a:xfrm>
            <a:off x="548640" y="2194560"/>
            <a:ext cx="5376672" cy="594360"/>
          </a:xfrm>
          <a:prstGeom prst="roundRect">
            <a:avLst>
              <a:gd name="adj" fmla="val 12308"/>
            </a:avLst>
          </a:prstGeom>
          <a:solidFill>
            <a:schemeClr val="bg2"/>
          </a:solidFill>
          <a:ln/>
        </p:spPr>
      </p:sp>
      <p:sp>
        <p:nvSpPr>
          <p:cNvPr id="7" name="Text 4"/>
          <p:cNvSpPr txBox="1"/>
          <p:nvPr/>
        </p:nvSpPr>
        <p:spPr>
          <a:xfrm>
            <a:off x="731520" y="2194560"/>
            <a:ext cx="548640" cy="594360"/>
          </a:xfrm>
          <a:prstGeom prst="rect">
            <a:avLst/>
          </a:prstGeom>
          <a:noFill/>
          <a:ln/>
        </p:spPr>
        <p:txBody>
          <a:bodyPr wrap="square" lIns="0" tIns="0" rIns="0" bIns="0" rtlCol="0" anchor="ctr"/>
          <a:lstStyle/>
          <a:p>
            <a:pPr indent="0" marL="0">
              <a:buNone/>
            </a:pPr>
            <a:r>
              <a:rPr lang="en-US" sz="1600" b="1" dirty="0">
                <a:solidFill>
                  <a:schemeClr val="accent1"/>
                </a:solidFill>
              </a:rPr>
              <a:t>01</a:t>
            </a:r>
            <a:endParaRPr lang="en-US" sz="1600" dirty="0"/>
          </a:p>
        </p:txBody>
      </p:sp>
      <p:sp>
        <p:nvSpPr>
          <p:cNvPr id="8" name="Text 5"/>
          <p:cNvSpPr txBox="1"/>
          <p:nvPr/>
        </p:nvSpPr>
        <p:spPr>
          <a:xfrm>
            <a:off x="1280160" y="2194560"/>
            <a:ext cx="3566160" cy="594360"/>
          </a:xfrm>
          <a:prstGeom prst="rect">
            <a:avLst/>
          </a:prstGeom>
          <a:noFill/>
          <a:ln/>
        </p:spPr>
        <p:txBody>
          <a:bodyPr wrap="square" lIns="0" tIns="0" rIns="0" bIns="0" rtlCol="0" anchor="ctr"/>
          <a:lstStyle/>
          <a:p>
            <a:pPr indent="0" marL="0">
              <a:buNone/>
            </a:pPr>
            <a:r>
              <a:rPr lang="en-US" sz="1600" dirty="0">
                <a:solidFill>
                  <a:schemeClr val="tx1"/>
                </a:solidFill>
              </a:rPr>
              <a:t>Which Copilot do I have?</a:t>
            </a:r>
            <a:endParaRPr lang="en-US" sz="1600" dirty="0"/>
          </a:p>
        </p:txBody>
      </p:sp>
      <p:sp>
        <p:nvSpPr>
          <p:cNvPr id="9" name="Text 6"/>
          <p:cNvSpPr txBox="1"/>
          <p:nvPr/>
        </p:nvSpPr>
        <p:spPr>
          <a:xfrm>
            <a:off x="4754880" y="2194560"/>
            <a:ext cx="1005840" cy="594360"/>
          </a:xfrm>
          <a:prstGeom prst="rect">
            <a:avLst/>
          </a:prstGeom>
          <a:noFill/>
          <a:ln/>
        </p:spPr>
        <p:txBody>
          <a:bodyPr wrap="square" lIns="0" tIns="0" rIns="0" bIns="0" rtlCol="0" anchor="ctr"/>
          <a:lstStyle/>
          <a:p>
            <a:pPr algn="r" indent="0" marL="0">
              <a:buNone/>
            </a:pPr>
            <a:r>
              <a:rPr lang="en-US" sz="1400" dirty="0">
                <a:solidFill>
                  <a:schemeClr val="accent4"/>
                </a:solidFill>
              </a:rPr>
              <a:t>20 min</a:t>
            </a:r>
            <a:endParaRPr lang="en-US" sz="1400" dirty="0"/>
          </a:p>
        </p:txBody>
      </p:sp>
      <p:sp>
        <p:nvSpPr>
          <p:cNvPr id="10" name="Agenda row"/>
          <p:cNvSpPr/>
          <p:nvPr/>
        </p:nvSpPr>
        <p:spPr>
          <a:xfrm>
            <a:off x="548640" y="2907792"/>
            <a:ext cx="5376672" cy="594360"/>
          </a:xfrm>
          <a:prstGeom prst="roundRect">
            <a:avLst>
              <a:gd name="adj" fmla="val 12308"/>
            </a:avLst>
          </a:prstGeom>
          <a:solidFill>
            <a:schemeClr val="bg2"/>
          </a:solidFill>
          <a:ln/>
        </p:spPr>
      </p:sp>
      <p:sp>
        <p:nvSpPr>
          <p:cNvPr id="11" name="Text 8"/>
          <p:cNvSpPr txBox="1"/>
          <p:nvPr/>
        </p:nvSpPr>
        <p:spPr>
          <a:xfrm>
            <a:off x="731520" y="2907792"/>
            <a:ext cx="548640" cy="594360"/>
          </a:xfrm>
          <a:prstGeom prst="rect">
            <a:avLst/>
          </a:prstGeom>
          <a:noFill/>
          <a:ln/>
        </p:spPr>
        <p:txBody>
          <a:bodyPr wrap="square" lIns="0" tIns="0" rIns="0" bIns="0" rtlCol="0" anchor="ctr"/>
          <a:lstStyle/>
          <a:p>
            <a:pPr indent="0" marL="0">
              <a:buNone/>
            </a:pPr>
            <a:r>
              <a:rPr lang="en-US" sz="1600" b="1" dirty="0">
                <a:solidFill>
                  <a:schemeClr val="accent1"/>
                </a:solidFill>
              </a:rPr>
              <a:t>02</a:t>
            </a:r>
            <a:endParaRPr lang="en-US" sz="1600" dirty="0"/>
          </a:p>
        </p:txBody>
      </p:sp>
      <p:sp>
        <p:nvSpPr>
          <p:cNvPr id="12" name="Text 9"/>
          <p:cNvSpPr txBox="1"/>
          <p:nvPr/>
        </p:nvSpPr>
        <p:spPr>
          <a:xfrm>
            <a:off x="1280160" y="2907792"/>
            <a:ext cx="3566160" cy="594360"/>
          </a:xfrm>
          <a:prstGeom prst="rect">
            <a:avLst/>
          </a:prstGeom>
          <a:noFill/>
          <a:ln/>
        </p:spPr>
        <p:txBody>
          <a:bodyPr wrap="square" lIns="0" tIns="0" rIns="0" bIns="0" rtlCol="0" anchor="ctr"/>
          <a:lstStyle/>
          <a:p>
            <a:pPr indent="0" marL="0">
              <a:buNone/>
            </a:pPr>
            <a:r>
              <a:rPr lang="en-US" sz="1600" dirty="0">
                <a:solidFill>
                  <a:schemeClr val="tx1"/>
                </a:solidFill>
              </a:rPr>
              <a:t>Find your way around</a:t>
            </a:r>
            <a:endParaRPr lang="en-US" sz="1600" dirty="0"/>
          </a:p>
        </p:txBody>
      </p:sp>
      <p:sp>
        <p:nvSpPr>
          <p:cNvPr id="13" name="Text 10"/>
          <p:cNvSpPr txBox="1"/>
          <p:nvPr/>
        </p:nvSpPr>
        <p:spPr>
          <a:xfrm>
            <a:off x="4754880" y="2907792"/>
            <a:ext cx="1005840" cy="594360"/>
          </a:xfrm>
          <a:prstGeom prst="rect">
            <a:avLst/>
          </a:prstGeom>
          <a:noFill/>
          <a:ln/>
        </p:spPr>
        <p:txBody>
          <a:bodyPr wrap="square" lIns="0" tIns="0" rIns="0" bIns="0" rtlCol="0" anchor="ctr"/>
          <a:lstStyle/>
          <a:p>
            <a:pPr algn="r" indent="0" marL="0">
              <a:buNone/>
            </a:pPr>
            <a:r>
              <a:rPr lang="en-US" sz="1400" dirty="0">
                <a:solidFill>
                  <a:schemeClr val="accent4"/>
                </a:solidFill>
              </a:rPr>
              <a:t>30 min</a:t>
            </a:r>
            <a:endParaRPr lang="en-US" sz="1400" dirty="0"/>
          </a:p>
        </p:txBody>
      </p:sp>
      <p:sp>
        <p:nvSpPr>
          <p:cNvPr id="14" name="Agenda row"/>
          <p:cNvSpPr/>
          <p:nvPr/>
        </p:nvSpPr>
        <p:spPr>
          <a:xfrm>
            <a:off x="548640" y="3621024"/>
            <a:ext cx="5376672" cy="594360"/>
          </a:xfrm>
          <a:prstGeom prst="roundRect">
            <a:avLst>
              <a:gd name="adj" fmla="val 12308"/>
            </a:avLst>
          </a:prstGeom>
          <a:solidFill>
            <a:schemeClr val="bg2"/>
          </a:solidFill>
          <a:ln/>
        </p:spPr>
      </p:sp>
      <p:sp>
        <p:nvSpPr>
          <p:cNvPr id="15" name="Text 12"/>
          <p:cNvSpPr txBox="1"/>
          <p:nvPr/>
        </p:nvSpPr>
        <p:spPr>
          <a:xfrm>
            <a:off x="731520" y="3621024"/>
            <a:ext cx="548640" cy="594360"/>
          </a:xfrm>
          <a:prstGeom prst="rect">
            <a:avLst/>
          </a:prstGeom>
          <a:noFill/>
          <a:ln/>
        </p:spPr>
        <p:txBody>
          <a:bodyPr wrap="square" lIns="0" tIns="0" rIns="0" bIns="0" rtlCol="0" anchor="ctr"/>
          <a:lstStyle/>
          <a:p>
            <a:pPr indent="0" marL="0">
              <a:buNone/>
            </a:pPr>
            <a:r>
              <a:rPr lang="en-US" sz="1600" b="1" dirty="0">
                <a:solidFill>
                  <a:schemeClr val="accent1"/>
                </a:solidFill>
              </a:rPr>
              <a:t>03</a:t>
            </a:r>
            <a:endParaRPr lang="en-US" sz="1600" dirty="0"/>
          </a:p>
        </p:txBody>
      </p:sp>
      <p:sp>
        <p:nvSpPr>
          <p:cNvPr id="16" name="Text 13"/>
          <p:cNvSpPr txBox="1"/>
          <p:nvPr/>
        </p:nvSpPr>
        <p:spPr>
          <a:xfrm>
            <a:off x="1280160" y="3621024"/>
            <a:ext cx="3566160" cy="594360"/>
          </a:xfrm>
          <a:prstGeom prst="rect">
            <a:avLst/>
          </a:prstGeom>
          <a:noFill/>
          <a:ln/>
        </p:spPr>
        <p:txBody>
          <a:bodyPr wrap="square" lIns="0" tIns="0" rIns="0" bIns="0" rtlCol="0" anchor="ctr"/>
          <a:lstStyle/>
          <a:p>
            <a:pPr indent="0" marL="0">
              <a:buNone/>
            </a:pPr>
            <a:r>
              <a:rPr lang="en-US" sz="1600" dirty="0">
                <a:solidFill>
                  <a:schemeClr val="tx1"/>
                </a:solidFill>
              </a:rPr>
              <a:t>Write better prompts</a:t>
            </a:r>
            <a:endParaRPr lang="en-US" sz="1600" dirty="0"/>
          </a:p>
        </p:txBody>
      </p:sp>
      <p:sp>
        <p:nvSpPr>
          <p:cNvPr id="17" name="Text 14"/>
          <p:cNvSpPr txBox="1"/>
          <p:nvPr/>
        </p:nvSpPr>
        <p:spPr>
          <a:xfrm>
            <a:off x="4754880" y="3621024"/>
            <a:ext cx="1005840" cy="594360"/>
          </a:xfrm>
          <a:prstGeom prst="rect">
            <a:avLst/>
          </a:prstGeom>
          <a:noFill/>
          <a:ln/>
        </p:spPr>
        <p:txBody>
          <a:bodyPr wrap="square" lIns="0" tIns="0" rIns="0" bIns="0" rtlCol="0" anchor="ctr"/>
          <a:lstStyle/>
          <a:p>
            <a:pPr algn="r" indent="0" marL="0">
              <a:buNone/>
            </a:pPr>
            <a:r>
              <a:rPr lang="en-US" sz="1400" dirty="0">
                <a:solidFill>
                  <a:schemeClr val="accent4"/>
                </a:solidFill>
              </a:rPr>
              <a:t>45 min</a:t>
            </a:r>
            <a:endParaRPr lang="en-US" sz="1400" dirty="0"/>
          </a:p>
        </p:txBody>
      </p:sp>
      <p:sp>
        <p:nvSpPr>
          <p:cNvPr id="18" name="Agenda row"/>
          <p:cNvSpPr/>
          <p:nvPr/>
        </p:nvSpPr>
        <p:spPr>
          <a:xfrm>
            <a:off x="548640" y="4334256"/>
            <a:ext cx="5376672" cy="594360"/>
          </a:xfrm>
          <a:prstGeom prst="roundRect">
            <a:avLst>
              <a:gd name="adj" fmla="val 12308"/>
            </a:avLst>
          </a:prstGeom>
          <a:solidFill>
            <a:schemeClr val="bg2"/>
          </a:solidFill>
          <a:ln/>
        </p:spPr>
      </p:sp>
      <p:sp>
        <p:nvSpPr>
          <p:cNvPr id="19" name="Text 16"/>
          <p:cNvSpPr txBox="1"/>
          <p:nvPr/>
        </p:nvSpPr>
        <p:spPr>
          <a:xfrm>
            <a:off x="731520" y="4334256"/>
            <a:ext cx="548640" cy="594360"/>
          </a:xfrm>
          <a:prstGeom prst="rect">
            <a:avLst/>
          </a:prstGeom>
          <a:noFill/>
          <a:ln/>
        </p:spPr>
        <p:txBody>
          <a:bodyPr wrap="square" lIns="0" tIns="0" rIns="0" bIns="0" rtlCol="0" anchor="ctr"/>
          <a:lstStyle/>
          <a:p>
            <a:pPr indent="0" marL="0">
              <a:buNone/>
            </a:pPr>
            <a:r>
              <a:rPr lang="en-US" sz="1600" b="1" dirty="0">
                <a:solidFill>
                  <a:schemeClr val="accent1"/>
                </a:solidFill>
              </a:rPr>
              <a:t>04</a:t>
            </a:r>
            <a:endParaRPr lang="en-US" sz="1600" dirty="0"/>
          </a:p>
        </p:txBody>
      </p:sp>
      <p:sp>
        <p:nvSpPr>
          <p:cNvPr id="20" name="Text 17"/>
          <p:cNvSpPr txBox="1"/>
          <p:nvPr/>
        </p:nvSpPr>
        <p:spPr>
          <a:xfrm>
            <a:off x="1280160" y="4334256"/>
            <a:ext cx="3566160" cy="594360"/>
          </a:xfrm>
          <a:prstGeom prst="rect">
            <a:avLst/>
          </a:prstGeom>
          <a:noFill/>
          <a:ln/>
        </p:spPr>
        <p:txBody>
          <a:bodyPr wrap="square" lIns="0" tIns="0" rIns="0" bIns="0" rtlCol="0" anchor="ctr"/>
          <a:lstStyle/>
          <a:p>
            <a:pPr indent="0" marL="0">
              <a:buNone/>
            </a:pPr>
            <a:r>
              <a:rPr lang="en-US" sz="1600" dirty="0">
                <a:solidFill>
                  <a:schemeClr val="tx1"/>
                </a:solidFill>
              </a:rPr>
              <a:t>Compare the quotations</a:t>
            </a:r>
            <a:endParaRPr lang="en-US" sz="1600" dirty="0"/>
          </a:p>
        </p:txBody>
      </p:sp>
      <p:sp>
        <p:nvSpPr>
          <p:cNvPr id="21" name="Text 18"/>
          <p:cNvSpPr txBox="1"/>
          <p:nvPr/>
        </p:nvSpPr>
        <p:spPr>
          <a:xfrm>
            <a:off x="4754880" y="4334256"/>
            <a:ext cx="1005840" cy="594360"/>
          </a:xfrm>
          <a:prstGeom prst="rect">
            <a:avLst/>
          </a:prstGeom>
          <a:noFill/>
          <a:ln/>
        </p:spPr>
        <p:txBody>
          <a:bodyPr wrap="square" lIns="0" tIns="0" rIns="0" bIns="0" rtlCol="0" anchor="ctr"/>
          <a:lstStyle/>
          <a:p>
            <a:pPr algn="r" indent="0" marL="0">
              <a:buNone/>
            </a:pPr>
            <a:r>
              <a:rPr lang="en-US" sz="1400" dirty="0">
                <a:solidFill>
                  <a:schemeClr val="accent4"/>
                </a:solidFill>
              </a:rPr>
              <a:t>60 min</a:t>
            </a:r>
            <a:endParaRPr lang="en-US" sz="1400" dirty="0"/>
          </a:p>
        </p:txBody>
      </p:sp>
      <p:sp>
        <p:nvSpPr>
          <p:cNvPr id="22" name="Agenda row"/>
          <p:cNvSpPr/>
          <p:nvPr/>
        </p:nvSpPr>
        <p:spPr>
          <a:xfrm>
            <a:off x="548640" y="5047488"/>
            <a:ext cx="5376672" cy="594360"/>
          </a:xfrm>
          <a:prstGeom prst="roundRect">
            <a:avLst>
              <a:gd name="adj" fmla="val 12308"/>
            </a:avLst>
          </a:prstGeom>
          <a:solidFill>
            <a:schemeClr val="bg2"/>
          </a:solidFill>
          <a:ln/>
        </p:spPr>
      </p:sp>
      <p:sp>
        <p:nvSpPr>
          <p:cNvPr id="23" name="Text 20"/>
          <p:cNvSpPr txBox="1"/>
          <p:nvPr/>
        </p:nvSpPr>
        <p:spPr>
          <a:xfrm>
            <a:off x="731520" y="5047488"/>
            <a:ext cx="548640" cy="594360"/>
          </a:xfrm>
          <a:prstGeom prst="rect">
            <a:avLst/>
          </a:prstGeom>
          <a:noFill/>
          <a:ln/>
        </p:spPr>
        <p:txBody>
          <a:bodyPr wrap="square" lIns="0" tIns="0" rIns="0" bIns="0" rtlCol="0" anchor="ctr"/>
          <a:lstStyle/>
          <a:p>
            <a:pPr indent="0" marL="0">
              <a:buNone/>
            </a:pPr>
            <a:r>
              <a:rPr lang="en-US" sz="1600" b="1" dirty="0">
                <a:solidFill>
                  <a:schemeClr val="accent1"/>
                </a:solidFill>
              </a:rPr>
              <a:t>05</a:t>
            </a:r>
            <a:endParaRPr lang="en-US" sz="1600" dirty="0"/>
          </a:p>
        </p:txBody>
      </p:sp>
      <p:sp>
        <p:nvSpPr>
          <p:cNvPr id="24" name="Text 21"/>
          <p:cNvSpPr txBox="1"/>
          <p:nvPr/>
        </p:nvSpPr>
        <p:spPr>
          <a:xfrm>
            <a:off x="1280160" y="5047488"/>
            <a:ext cx="3566160" cy="594360"/>
          </a:xfrm>
          <a:prstGeom prst="rect">
            <a:avLst/>
          </a:prstGeom>
          <a:noFill/>
          <a:ln/>
        </p:spPr>
        <p:txBody>
          <a:bodyPr wrap="square" lIns="0" tIns="0" rIns="0" bIns="0" rtlCol="0" anchor="ctr"/>
          <a:lstStyle/>
          <a:p>
            <a:pPr indent="0" marL="0">
              <a:buNone/>
            </a:pPr>
            <a:r>
              <a:rPr lang="en-US" sz="1600" dirty="0">
                <a:solidFill>
                  <a:schemeClr val="tx1"/>
                </a:solidFill>
              </a:rPr>
              <a:t>Chase vendors in Outlook</a:t>
            </a:r>
            <a:endParaRPr lang="en-US" sz="1600" dirty="0"/>
          </a:p>
        </p:txBody>
      </p:sp>
      <p:sp>
        <p:nvSpPr>
          <p:cNvPr id="25" name="Text 22"/>
          <p:cNvSpPr txBox="1"/>
          <p:nvPr/>
        </p:nvSpPr>
        <p:spPr>
          <a:xfrm>
            <a:off x="4754880" y="5047488"/>
            <a:ext cx="1005840" cy="594360"/>
          </a:xfrm>
          <a:prstGeom prst="rect">
            <a:avLst/>
          </a:prstGeom>
          <a:noFill/>
          <a:ln/>
        </p:spPr>
        <p:txBody>
          <a:bodyPr wrap="square" lIns="0" tIns="0" rIns="0" bIns="0" rtlCol="0" anchor="ctr"/>
          <a:lstStyle/>
          <a:p>
            <a:pPr algn="r" indent="0" marL="0">
              <a:buNone/>
            </a:pPr>
            <a:r>
              <a:rPr lang="en-US" sz="1400" dirty="0">
                <a:solidFill>
                  <a:schemeClr val="accent4"/>
                </a:solidFill>
              </a:rPr>
              <a:t>45 min</a:t>
            </a:r>
            <a:endParaRPr lang="en-US" sz="1400" dirty="0"/>
          </a:p>
        </p:txBody>
      </p:sp>
      <p:sp>
        <p:nvSpPr>
          <p:cNvPr id="26" name="Text 23"/>
          <p:cNvSpPr txBox="1"/>
          <p:nvPr/>
        </p:nvSpPr>
        <p:spPr>
          <a:xfrm>
            <a:off x="6263640" y="1645920"/>
            <a:ext cx="5394960" cy="411480"/>
          </a:xfrm>
          <a:prstGeom prst="rect">
            <a:avLst/>
          </a:prstGeom>
          <a:noFill/>
          <a:ln/>
        </p:spPr>
        <p:txBody>
          <a:bodyPr wrap="square" lIns="0" tIns="0" rIns="0" bIns="0" rtlCol="0" anchor="ctr"/>
          <a:lstStyle/>
          <a:p>
            <a:pPr indent="0" marL="0">
              <a:buNone/>
            </a:pPr>
            <a:r>
              <a:rPr lang="en-US" sz="2000" b="1" dirty="0">
                <a:solidFill>
                  <a:schemeClr val="tx2"/>
                </a:solidFill>
              </a:rPr>
              <a:t>Afternoon</a:t>
            </a:r>
            <a:endParaRPr lang="en-US" sz="2000" dirty="0"/>
          </a:p>
        </p:txBody>
      </p:sp>
      <p:sp>
        <p:nvSpPr>
          <p:cNvPr id="27" name="Agenda row"/>
          <p:cNvSpPr/>
          <p:nvPr/>
        </p:nvSpPr>
        <p:spPr>
          <a:xfrm>
            <a:off x="6263640" y="2194560"/>
            <a:ext cx="5376672" cy="594360"/>
          </a:xfrm>
          <a:prstGeom prst="roundRect">
            <a:avLst>
              <a:gd name="adj" fmla="val 12308"/>
            </a:avLst>
          </a:prstGeom>
          <a:solidFill>
            <a:schemeClr val="bg2"/>
          </a:solidFill>
          <a:ln/>
        </p:spPr>
      </p:sp>
      <p:sp>
        <p:nvSpPr>
          <p:cNvPr id="28" name="Text 25"/>
          <p:cNvSpPr txBox="1"/>
          <p:nvPr/>
        </p:nvSpPr>
        <p:spPr>
          <a:xfrm>
            <a:off x="6446520" y="2194560"/>
            <a:ext cx="548640" cy="594360"/>
          </a:xfrm>
          <a:prstGeom prst="rect">
            <a:avLst/>
          </a:prstGeom>
          <a:noFill/>
          <a:ln/>
        </p:spPr>
        <p:txBody>
          <a:bodyPr wrap="square" lIns="0" tIns="0" rIns="0" bIns="0" rtlCol="0" anchor="ctr"/>
          <a:lstStyle/>
          <a:p>
            <a:pPr indent="0" marL="0">
              <a:buNone/>
            </a:pPr>
            <a:r>
              <a:rPr lang="en-US" sz="1600" b="1" dirty="0">
                <a:solidFill>
                  <a:schemeClr val="accent1"/>
                </a:solidFill>
              </a:rPr>
              <a:t>06</a:t>
            </a:r>
            <a:endParaRPr lang="en-US" sz="1600" dirty="0"/>
          </a:p>
        </p:txBody>
      </p:sp>
      <p:sp>
        <p:nvSpPr>
          <p:cNvPr id="29" name="Text 26"/>
          <p:cNvSpPr txBox="1"/>
          <p:nvPr/>
        </p:nvSpPr>
        <p:spPr>
          <a:xfrm>
            <a:off x="6995160" y="2194560"/>
            <a:ext cx="3566160" cy="594360"/>
          </a:xfrm>
          <a:prstGeom prst="rect">
            <a:avLst/>
          </a:prstGeom>
          <a:noFill/>
          <a:ln/>
        </p:spPr>
        <p:txBody>
          <a:bodyPr wrap="square" lIns="0" tIns="0" rIns="0" bIns="0" rtlCol="0" anchor="ctr"/>
          <a:lstStyle/>
          <a:p>
            <a:pPr indent="0" marL="0">
              <a:buNone/>
            </a:pPr>
            <a:r>
              <a:rPr lang="en-US" sz="1600" dirty="0">
                <a:solidFill>
                  <a:schemeClr val="tx1"/>
                </a:solidFill>
              </a:rPr>
              <a:t>From chat to Pages</a:t>
            </a:r>
            <a:endParaRPr lang="en-US" sz="1600" dirty="0"/>
          </a:p>
        </p:txBody>
      </p:sp>
      <p:sp>
        <p:nvSpPr>
          <p:cNvPr id="30" name="Text 27"/>
          <p:cNvSpPr txBox="1"/>
          <p:nvPr/>
        </p:nvSpPr>
        <p:spPr>
          <a:xfrm>
            <a:off x="10469880" y="2194560"/>
            <a:ext cx="1005840" cy="594360"/>
          </a:xfrm>
          <a:prstGeom prst="rect">
            <a:avLst/>
          </a:prstGeom>
          <a:noFill/>
          <a:ln/>
        </p:spPr>
        <p:txBody>
          <a:bodyPr wrap="square" lIns="0" tIns="0" rIns="0" bIns="0" rtlCol="0" anchor="ctr"/>
          <a:lstStyle/>
          <a:p>
            <a:pPr algn="r" indent="0" marL="0">
              <a:buNone/>
            </a:pPr>
            <a:r>
              <a:rPr lang="en-US" sz="1400" dirty="0">
                <a:solidFill>
                  <a:schemeClr val="accent4"/>
                </a:solidFill>
              </a:rPr>
              <a:t>40 min</a:t>
            </a:r>
            <a:endParaRPr lang="en-US" sz="1400" dirty="0"/>
          </a:p>
        </p:txBody>
      </p:sp>
      <p:sp>
        <p:nvSpPr>
          <p:cNvPr id="31" name="Agenda row"/>
          <p:cNvSpPr/>
          <p:nvPr/>
        </p:nvSpPr>
        <p:spPr>
          <a:xfrm>
            <a:off x="6263640" y="2907792"/>
            <a:ext cx="5376672" cy="594360"/>
          </a:xfrm>
          <a:prstGeom prst="roundRect">
            <a:avLst>
              <a:gd name="adj" fmla="val 12308"/>
            </a:avLst>
          </a:prstGeom>
          <a:solidFill>
            <a:schemeClr val="bg2"/>
          </a:solidFill>
          <a:ln/>
        </p:spPr>
      </p:sp>
      <p:sp>
        <p:nvSpPr>
          <p:cNvPr id="32" name="Text 29"/>
          <p:cNvSpPr txBox="1"/>
          <p:nvPr/>
        </p:nvSpPr>
        <p:spPr>
          <a:xfrm>
            <a:off x="6446520" y="2907792"/>
            <a:ext cx="548640" cy="594360"/>
          </a:xfrm>
          <a:prstGeom prst="rect">
            <a:avLst/>
          </a:prstGeom>
          <a:noFill/>
          <a:ln/>
        </p:spPr>
        <p:txBody>
          <a:bodyPr wrap="square" lIns="0" tIns="0" rIns="0" bIns="0" rtlCol="0" anchor="ctr"/>
          <a:lstStyle/>
          <a:p>
            <a:pPr indent="0" marL="0">
              <a:buNone/>
            </a:pPr>
            <a:r>
              <a:rPr lang="en-US" sz="1600" b="1" dirty="0">
                <a:solidFill>
                  <a:schemeClr val="accent1"/>
                </a:solidFill>
              </a:rPr>
              <a:t>07</a:t>
            </a:r>
            <a:endParaRPr lang="en-US" sz="1600" dirty="0"/>
          </a:p>
        </p:txBody>
      </p:sp>
      <p:sp>
        <p:nvSpPr>
          <p:cNvPr id="33" name="Text 30"/>
          <p:cNvSpPr txBox="1"/>
          <p:nvPr/>
        </p:nvSpPr>
        <p:spPr>
          <a:xfrm>
            <a:off x="6995160" y="2907792"/>
            <a:ext cx="3566160" cy="594360"/>
          </a:xfrm>
          <a:prstGeom prst="rect">
            <a:avLst/>
          </a:prstGeom>
          <a:noFill/>
          <a:ln/>
        </p:spPr>
        <p:txBody>
          <a:bodyPr wrap="square" lIns="0" tIns="0" rIns="0" bIns="0" rtlCol="0" anchor="ctr"/>
          <a:lstStyle/>
          <a:p>
            <a:pPr indent="0" marL="0">
              <a:buNone/>
            </a:pPr>
            <a:r>
              <a:rPr lang="en-US" sz="1600" dirty="0">
                <a:solidFill>
                  <a:schemeClr val="tx1"/>
                </a:solidFill>
              </a:rPr>
              <a:t>Keep it together in a Notebook</a:t>
            </a:r>
            <a:endParaRPr lang="en-US" sz="1600" dirty="0"/>
          </a:p>
        </p:txBody>
      </p:sp>
      <p:sp>
        <p:nvSpPr>
          <p:cNvPr id="34" name="Text 31"/>
          <p:cNvSpPr txBox="1"/>
          <p:nvPr/>
        </p:nvSpPr>
        <p:spPr>
          <a:xfrm>
            <a:off x="10469880" y="2907792"/>
            <a:ext cx="1005840" cy="594360"/>
          </a:xfrm>
          <a:prstGeom prst="rect">
            <a:avLst/>
          </a:prstGeom>
          <a:noFill/>
          <a:ln/>
        </p:spPr>
        <p:txBody>
          <a:bodyPr wrap="square" lIns="0" tIns="0" rIns="0" bIns="0" rtlCol="0" anchor="ctr"/>
          <a:lstStyle/>
          <a:p>
            <a:pPr algn="r" indent="0" marL="0">
              <a:buNone/>
            </a:pPr>
            <a:r>
              <a:rPr lang="en-US" sz="1400" dirty="0">
                <a:solidFill>
                  <a:schemeClr val="accent4"/>
                </a:solidFill>
              </a:rPr>
              <a:t>30 min</a:t>
            </a:r>
            <a:endParaRPr lang="en-US" sz="1400" dirty="0"/>
          </a:p>
        </p:txBody>
      </p:sp>
      <p:sp>
        <p:nvSpPr>
          <p:cNvPr id="35" name="Agenda row"/>
          <p:cNvSpPr/>
          <p:nvPr/>
        </p:nvSpPr>
        <p:spPr>
          <a:xfrm>
            <a:off x="6263640" y="3621024"/>
            <a:ext cx="5376672" cy="594360"/>
          </a:xfrm>
          <a:prstGeom prst="roundRect">
            <a:avLst>
              <a:gd name="adj" fmla="val 12308"/>
            </a:avLst>
          </a:prstGeom>
          <a:solidFill>
            <a:schemeClr val="bg2"/>
          </a:solidFill>
          <a:ln/>
        </p:spPr>
      </p:sp>
      <p:sp>
        <p:nvSpPr>
          <p:cNvPr id="36" name="Text 33"/>
          <p:cNvSpPr txBox="1"/>
          <p:nvPr/>
        </p:nvSpPr>
        <p:spPr>
          <a:xfrm>
            <a:off x="6446520" y="3621024"/>
            <a:ext cx="548640" cy="594360"/>
          </a:xfrm>
          <a:prstGeom prst="rect">
            <a:avLst/>
          </a:prstGeom>
          <a:noFill/>
          <a:ln/>
        </p:spPr>
        <p:txBody>
          <a:bodyPr wrap="square" lIns="0" tIns="0" rIns="0" bIns="0" rtlCol="0" anchor="ctr"/>
          <a:lstStyle/>
          <a:p>
            <a:pPr indent="0" marL="0">
              <a:buNone/>
            </a:pPr>
            <a:r>
              <a:rPr lang="en-US" sz="1600" b="1" dirty="0">
                <a:solidFill>
                  <a:schemeClr val="accent1"/>
                </a:solidFill>
              </a:rPr>
              <a:t>08</a:t>
            </a:r>
            <a:endParaRPr lang="en-US" sz="1600" dirty="0"/>
          </a:p>
        </p:txBody>
      </p:sp>
      <p:sp>
        <p:nvSpPr>
          <p:cNvPr id="37" name="Text 34"/>
          <p:cNvSpPr txBox="1"/>
          <p:nvPr/>
        </p:nvSpPr>
        <p:spPr>
          <a:xfrm>
            <a:off x="6995160" y="3621024"/>
            <a:ext cx="3566160" cy="594360"/>
          </a:xfrm>
          <a:prstGeom prst="rect">
            <a:avLst/>
          </a:prstGeom>
          <a:noFill/>
          <a:ln/>
        </p:spPr>
        <p:txBody>
          <a:bodyPr wrap="square" lIns="0" tIns="0" rIns="0" bIns="0" rtlCol="0" anchor="ctr"/>
          <a:lstStyle/>
          <a:p>
            <a:pPr indent="0" marL="0">
              <a:buNone/>
            </a:pPr>
            <a:r>
              <a:rPr lang="en-US" sz="1600" dirty="0">
                <a:solidFill>
                  <a:schemeClr val="tx1"/>
                </a:solidFill>
              </a:rPr>
              <a:t>Build a Quotation Checker agent</a:t>
            </a:r>
            <a:endParaRPr lang="en-US" sz="1600" dirty="0"/>
          </a:p>
        </p:txBody>
      </p:sp>
      <p:sp>
        <p:nvSpPr>
          <p:cNvPr id="38" name="Text 35"/>
          <p:cNvSpPr txBox="1"/>
          <p:nvPr/>
        </p:nvSpPr>
        <p:spPr>
          <a:xfrm>
            <a:off x="10469880" y="3621024"/>
            <a:ext cx="1005840" cy="594360"/>
          </a:xfrm>
          <a:prstGeom prst="rect">
            <a:avLst/>
          </a:prstGeom>
          <a:noFill/>
          <a:ln/>
        </p:spPr>
        <p:txBody>
          <a:bodyPr wrap="square" lIns="0" tIns="0" rIns="0" bIns="0" rtlCol="0" anchor="ctr"/>
          <a:lstStyle/>
          <a:p>
            <a:pPr algn="r" indent="0" marL="0">
              <a:buNone/>
            </a:pPr>
            <a:r>
              <a:rPr lang="en-US" sz="1400" dirty="0">
                <a:solidFill>
                  <a:schemeClr val="accent4"/>
                </a:solidFill>
              </a:rPr>
              <a:t>45 min</a:t>
            </a:r>
            <a:endParaRPr lang="en-US" sz="1400" dirty="0"/>
          </a:p>
        </p:txBody>
      </p:sp>
      <p:sp>
        <p:nvSpPr>
          <p:cNvPr id="39" name="Agenda row"/>
          <p:cNvSpPr/>
          <p:nvPr/>
        </p:nvSpPr>
        <p:spPr>
          <a:xfrm>
            <a:off x="6263640" y="4334256"/>
            <a:ext cx="5376672" cy="594360"/>
          </a:xfrm>
          <a:prstGeom prst="roundRect">
            <a:avLst>
              <a:gd name="adj" fmla="val 12308"/>
            </a:avLst>
          </a:prstGeom>
          <a:solidFill>
            <a:schemeClr val="bg2"/>
          </a:solidFill>
          <a:ln/>
        </p:spPr>
      </p:sp>
      <p:sp>
        <p:nvSpPr>
          <p:cNvPr id="40" name="Text 37"/>
          <p:cNvSpPr txBox="1"/>
          <p:nvPr/>
        </p:nvSpPr>
        <p:spPr>
          <a:xfrm>
            <a:off x="6446520" y="4334256"/>
            <a:ext cx="548640" cy="594360"/>
          </a:xfrm>
          <a:prstGeom prst="rect">
            <a:avLst/>
          </a:prstGeom>
          <a:noFill/>
          <a:ln/>
        </p:spPr>
        <p:txBody>
          <a:bodyPr wrap="square" lIns="0" tIns="0" rIns="0" bIns="0" rtlCol="0" anchor="ctr"/>
          <a:lstStyle/>
          <a:p>
            <a:pPr indent="0" marL="0">
              <a:buNone/>
            </a:pPr>
            <a:r>
              <a:rPr lang="en-US" sz="1600" b="1" dirty="0">
                <a:solidFill>
                  <a:schemeClr val="accent1"/>
                </a:solidFill>
              </a:rPr>
              <a:t>09</a:t>
            </a:r>
            <a:endParaRPr lang="en-US" sz="1600" dirty="0"/>
          </a:p>
        </p:txBody>
      </p:sp>
      <p:sp>
        <p:nvSpPr>
          <p:cNvPr id="41" name="Text 38"/>
          <p:cNvSpPr txBox="1"/>
          <p:nvPr/>
        </p:nvSpPr>
        <p:spPr>
          <a:xfrm>
            <a:off x="6995160" y="4334256"/>
            <a:ext cx="3566160" cy="594360"/>
          </a:xfrm>
          <a:prstGeom prst="rect">
            <a:avLst/>
          </a:prstGeom>
          <a:noFill/>
          <a:ln/>
        </p:spPr>
        <p:txBody>
          <a:bodyPr wrap="square" lIns="0" tIns="0" rIns="0" bIns="0" rtlCol="0" anchor="ctr"/>
          <a:lstStyle/>
          <a:p>
            <a:pPr indent="0" marL="0">
              <a:buNone/>
            </a:pPr>
            <a:r>
              <a:rPr lang="en-US" sz="1600" dirty="0">
                <a:solidFill>
                  <a:schemeClr val="tx1"/>
                </a:solidFill>
              </a:rPr>
              <a:t>Optional: Word and Excel</a:t>
            </a:r>
            <a:endParaRPr lang="en-US" sz="1600" dirty="0"/>
          </a:p>
        </p:txBody>
      </p:sp>
      <p:sp>
        <p:nvSpPr>
          <p:cNvPr id="42" name="Text 39"/>
          <p:cNvSpPr txBox="1"/>
          <p:nvPr/>
        </p:nvSpPr>
        <p:spPr>
          <a:xfrm>
            <a:off x="10469880" y="4334256"/>
            <a:ext cx="1005840" cy="594360"/>
          </a:xfrm>
          <a:prstGeom prst="rect">
            <a:avLst/>
          </a:prstGeom>
          <a:noFill/>
          <a:ln/>
        </p:spPr>
        <p:txBody>
          <a:bodyPr wrap="square" lIns="0" tIns="0" rIns="0" bIns="0" rtlCol="0" anchor="ctr"/>
          <a:lstStyle/>
          <a:p>
            <a:pPr algn="r" indent="0" marL="0">
              <a:buNone/>
            </a:pPr>
            <a:r>
              <a:rPr lang="en-US" sz="1400" dirty="0">
                <a:solidFill>
                  <a:schemeClr val="accent4"/>
                </a:solidFill>
              </a:rPr>
              <a:t>30 min</a:t>
            </a:r>
            <a:endParaRPr lang="en-US" sz="1400" dirty="0"/>
          </a:p>
        </p:txBody>
      </p:sp>
      <p:sp>
        <p:nvSpPr>
          <p:cNvPr id="43" name="Agenda row"/>
          <p:cNvSpPr/>
          <p:nvPr/>
        </p:nvSpPr>
        <p:spPr>
          <a:xfrm>
            <a:off x="6263640" y="5047488"/>
            <a:ext cx="5376672" cy="594360"/>
          </a:xfrm>
          <a:prstGeom prst="roundRect">
            <a:avLst>
              <a:gd name="adj" fmla="val 12308"/>
            </a:avLst>
          </a:prstGeom>
          <a:solidFill>
            <a:schemeClr val="bg2"/>
          </a:solidFill>
          <a:ln/>
        </p:spPr>
      </p:sp>
      <p:sp>
        <p:nvSpPr>
          <p:cNvPr id="44" name="Text 41"/>
          <p:cNvSpPr txBox="1"/>
          <p:nvPr/>
        </p:nvSpPr>
        <p:spPr>
          <a:xfrm>
            <a:off x="6446520" y="5047488"/>
            <a:ext cx="548640" cy="594360"/>
          </a:xfrm>
          <a:prstGeom prst="rect">
            <a:avLst/>
          </a:prstGeom>
          <a:noFill/>
          <a:ln/>
        </p:spPr>
        <p:txBody>
          <a:bodyPr wrap="square" lIns="0" tIns="0" rIns="0" bIns="0" rtlCol="0" anchor="ctr"/>
          <a:lstStyle/>
          <a:p>
            <a:pPr indent="0" marL="0">
              <a:buNone/>
            </a:pPr>
            <a:r>
              <a:rPr lang="en-US" sz="1600" b="1" dirty="0">
                <a:solidFill>
                  <a:schemeClr val="accent1"/>
                </a:solidFill>
              </a:rPr>
              <a:t>10</a:t>
            </a:r>
            <a:endParaRPr lang="en-US" sz="1600" dirty="0"/>
          </a:p>
        </p:txBody>
      </p:sp>
      <p:sp>
        <p:nvSpPr>
          <p:cNvPr id="45" name="Text 42"/>
          <p:cNvSpPr txBox="1"/>
          <p:nvPr/>
        </p:nvSpPr>
        <p:spPr>
          <a:xfrm>
            <a:off x="6995160" y="5047488"/>
            <a:ext cx="3566160" cy="594360"/>
          </a:xfrm>
          <a:prstGeom prst="rect">
            <a:avLst/>
          </a:prstGeom>
          <a:noFill/>
          <a:ln/>
        </p:spPr>
        <p:txBody>
          <a:bodyPr wrap="square" lIns="0" tIns="0" rIns="0" bIns="0" rtlCol="0" anchor="ctr"/>
          <a:lstStyle/>
          <a:p>
            <a:pPr indent="0" marL="0">
              <a:buNone/>
            </a:pPr>
            <a:r>
              <a:rPr lang="en-US" sz="1600" dirty="0">
                <a:solidFill>
                  <a:schemeClr val="tx1"/>
                </a:solidFill>
              </a:rPr>
              <a:t>Capstone: the training purchase</a:t>
            </a:r>
            <a:endParaRPr lang="en-US" sz="1600" dirty="0"/>
          </a:p>
        </p:txBody>
      </p:sp>
      <p:sp>
        <p:nvSpPr>
          <p:cNvPr id="46" name="Text 43"/>
          <p:cNvSpPr txBox="1"/>
          <p:nvPr/>
        </p:nvSpPr>
        <p:spPr>
          <a:xfrm>
            <a:off x="10469880" y="5047488"/>
            <a:ext cx="1005840" cy="594360"/>
          </a:xfrm>
          <a:prstGeom prst="rect">
            <a:avLst/>
          </a:prstGeom>
          <a:noFill/>
          <a:ln/>
        </p:spPr>
        <p:txBody>
          <a:bodyPr wrap="square" lIns="0" tIns="0" rIns="0" bIns="0" rtlCol="0" anchor="ctr"/>
          <a:lstStyle/>
          <a:p>
            <a:pPr algn="r" indent="0" marL="0">
              <a:buNone/>
            </a:pPr>
            <a:r>
              <a:rPr lang="en-US" sz="1400" dirty="0">
                <a:solidFill>
                  <a:schemeClr val="accent4"/>
                </a:solidFill>
              </a:rPr>
              <a:t>45 min</a:t>
            </a:r>
            <a:endParaRPr lang="en-US" sz="1400" dirty="0"/>
          </a:p>
        </p:txBody>
      </p:sp>
      <p:sp>
        <p:nvSpPr>
          <p:cNvPr id="47" name="Text 44"/>
          <p:cNvSpPr txBox="1"/>
          <p:nvPr/>
        </p:nvSpPr>
        <p:spPr>
          <a:xfrm>
            <a:off x="548640" y="5806440"/>
            <a:ext cx="10972800" cy="365760"/>
          </a:xfrm>
          <a:prstGeom prst="rect">
            <a:avLst/>
          </a:prstGeom>
          <a:noFill/>
          <a:ln/>
        </p:spPr>
        <p:txBody>
          <a:bodyPr wrap="square" lIns="0" tIns="0" rIns="0" bIns="0" rtlCol="0" anchor="ctr"/>
          <a:lstStyle/>
          <a:p>
            <a:pPr indent="0" marL="0">
              <a:buNone/>
            </a:pPr>
            <a:r>
              <a:rPr lang="en-US" sz="1400" i="1" dirty="0">
                <a:solidFill>
                  <a:schemeClr val="accent4"/>
                </a:solidFill>
              </a:rPr>
              <a:t>Finished early? Chapter 11 has four short extra exercises.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COURSE SITE</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Everything is on one site</a:t>
            </a:r>
            <a:endParaRPr lang="en-US" sz="3200" dirty="0"/>
          </a:p>
        </p:txBody>
      </p:sp>
      <p:sp>
        <p:nvSpPr>
          <p:cNvPr id="5" name="Text 2"/>
          <p:cNvSpPr txBox="1"/>
          <p:nvPr/>
        </p:nvSpPr>
        <p:spPr>
          <a:xfrm>
            <a:off x="548640" y="1645920"/>
            <a:ext cx="11064240" cy="640080"/>
          </a:xfrm>
          <a:prstGeom prst="rect">
            <a:avLst/>
          </a:prstGeom>
          <a:noFill/>
          <a:ln/>
        </p:spPr>
        <p:txBody>
          <a:bodyPr wrap="square" lIns="0" tIns="0" rIns="0" bIns="0" rtlCol="0" anchor="ctr"/>
          <a:lstStyle/>
          <a:p>
            <a:pPr indent="0" marL="0">
              <a:buNone/>
            </a:pPr>
            <a:r>
              <a:rPr lang="en-US" sz="2600" b="1" dirty="0">
                <a:solidFill>
                  <a:schemeClr val="accent1"/>
                </a:solidFill>
              </a:rPr>
              <a:t>asraf-js.github.io/Copilot-Chat-Basic-Workshop</a:t>
            </a:r>
            <a:endParaRPr lang="en-US" sz="2600" dirty="0"/>
          </a:p>
        </p:txBody>
      </p:sp>
      <p:sp>
        <p:nvSpPr>
          <p:cNvPr id="6" name="Site card"/>
          <p:cNvSpPr/>
          <p:nvPr/>
        </p:nvSpPr>
        <p:spPr>
          <a:xfrm>
            <a:off x="548640" y="2606040"/>
            <a:ext cx="2633472" cy="3108960"/>
          </a:xfrm>
          <a:prstGeom prst="roundRect">
            <a:avLst>
              <a:gd name="adj" fmla="val 2778"/>
            </a:avLst>
          </a:prstGeom>
          <a:solidFill>
            <a:schemeClr val="bg2"/>
          </a:solidFill>
          <a:ln/>
        </p:spPr>
      </p:sp>
      <p:sp>
        <p:nvSpPr>
          <p:cNvPr id="7" name="Icon circle"/>
          <p:cNvSpPr/>
          <p:nvPr/>
        </p:nvSpPr>
        <p:spPr>
          <a:xfrm>
            <a:off x="822960" y="2880360"/>
            <a:ext cx="731520" cy="731520"/>
          </a:xfrm>
          <a:prstGeom prst="ellipse">
            <a:avLst/>
          </a:prstGeom>
          <a:solidFill>
            <a:schemeClr val="accent1"/>
          </a:solidFill>
          <a:ln/>
        </p:spPr>
      </p:sp>
      <p:pic>
        <p:nvPicPr>
          <p:cNvPr id="8" name="Image 0" descr="preencoded.png">    </p:cNvPr>
          <p:cNvPicPr>
            <a:picLocks noChangeAspect="1"/>
          </p:cNvPicPr>
          <p:nvPr/>
        </p:nvPicPr>
        <p:blipFill>
          <a:blip r:embed="rId1"/>
          <a:stretch>
            <a:fillRect/>
          </a:stretch>
        </p:blipFill>
        <p:spPr>
          <a:xfrm>
            <a:off x="1005840" y="3063240"/>
            <a:ext cx="365760" cy="365760"/>
          </a:xfrm>
          <a:prstGeom prst="rect">
            <a:avLst/>
          </a:prstGeom>
        </p:spPr>
      </p:pic>
      <p:sp>
        <p:nvSpPr>
          <p:cNvPr id="9" name="Text 5"/>
          <p:cNvSpPr txBox="1"/>
          <p:nvPr/>
        </p:nvSpPr>
        <p:spPr>
          <a:xfrm>
            <a:off x="822960" y="3794760"/>
            <a:ext cx="2194560" cy="411480"/>
          </a:xfrm>
          <a:prstGeom prst="rect">
            <a:avLst/>
          </a:prstGeom>
          <a:noFill/>
          <a:ln/>
        </p:spPr>
        <p:txBody>
          <a:bodyPr wrap="square" lIns="0" tIns="0" rIns="0" bIns="0" rtlCol="0" anchor="ctr"/>
          <a:lstStyle/>
          <a:p>
            <a:pPr indent="0" marL="0">
              <a:buNone/>
            </a:pPr>
            <a:r>
              <a:rPr lang="en-US" sz="2000" b="1" dirty="0">
                <a:solidFill>
                  <a:schemeClr val="tx2"/>
                </a:solidFill>
              </a:rPr>
              <a:t>Notes</a:t>
            </a:r>
            <a:endParaRPr lang="en-US" sz="2000" dirty="0"/>
          </a:p>
        </p:txBody>
      </p:sp>
      <p:sp>
        <p:nvSpPr>
          <p:cNvPr id="10" name="Text 6"/>
          <p:cNvSpPr txBox="1"/>
          <p:nvPr/>
        </p:nvSpPr>
        <p:spPr>
          <a:xfrm>
            <a:off x="822960" y="4251960"/>
            <a:ext cx="2148840" cy="1280160"/>
          </a:xfrm>
          <a:prstGeom prst="rect">
            <a:avLst/>
          </a:prstGeom>
          <a:noFill/>
          <a:ln/>
        </p:spPr>
        <p:txBody>
          <a:bodyPr wrap="square" lIns="0" tIns="0" rIns="0" bIns="0" rtlCol="0" anchor="t"/>
          <a:lstStyle/>
          <a:p>
            <a:pPr indent="0" marL="0">
              <a:buNone/>
            </a:pPr>
            <a:r>
              <a:rPr lang="en-US" sz="1500" dirty="0">
                <a:solidFill>
                  <a:schemeClr val="tx1"/>
                </a:solidFill>
              </a:rPr>
              <a:t>Point-and-click steps and screenshots for every chapter</a:t>
            </a:r>
            <a:endParaRPr lang="en-US" sz="1500" dirty="0"/>
          </a:p>
        </p:txBody>
      </p:sp>
      <p:sp>
        <p:nvSpPr>
          <p:cNvPr id="11" name="Site card"/>
          <p:cNvSpPr/>
          <p:nvPr/>
        </p:nvSpPr>
        <p:spPr>
          <a:xfrm>
            <a:off x="3364992" y="2606040"/>
            <a:ext cx="2633472" cy="3108960"/>
          </a:xfrm>
          <a:prstGeom prst="roundRect">
            <a:avLst>
              <a:gd name="adj" fmla="val 2778"/>
            </a:avLst>
          </a:prstGeom>
          <a:solidFill>
            <a:schemeClr val="bg2"/>
          </a:solidFill>
          <a:ln/>
        </p:spPr>
      </p:sp>
      <p:sp>
        <p:nvSpPr>
          <p:cNvPr id="12" name="Icon circle"/>
          <p:cNvSpPr/>
          <p:nvPr/>
        </p:nvSpPr>
        <p:spPr>
          <a:xfrm>
            <a:off x="3639312" y="2880360"/>
            <a:ext cx="731520" cy="731520"/>
          </a:xfrm>
          <a:prstGeom prst="ellipse">
            <a:avLst/>
          </a:prstGeom>
          <a:solidFill>
            <a:schemeClr val="accent1"/>
          </a:solidFill>
          <a:ln/>
        </p:spPr>
      </p:sp>
      <p:pic>
        <p:nvPicPr>
          <p:cNvPr id="13" name="Image 1" descr="preencoded.png">    </p:cNvPr>
          <p:cNvPicPr>
            <a:picLocks noChangeAspect="1"/>
          </p:cNvPicPr>
          <p:nvPr/>
        </p:nvPicPr>
        <p:blipFill>
          <a:blip r:embed="rId2"/>
          <a:stretch>
            <a:fillRect/>
          </a:stretch>
        </p:blipFill>
        <p:spPr>
          <a:xfrm>
            <a:off x="3822192" y="3063240"/>
            <a:ext cx="365760" cy="365760"/>
          </a:xfrm>
          <a:prstGeom prst="rect">
            <a:avLst/>
          </a:prstGeom>
        </p:spPr>
      </p:pic>
      <p:sp>
        <p:nvSpPr>
          <p:cNvPr id="14" name="Text 9"/>
          <p:cNvSpPr txBox="1"/>
          <p:nvPr/>
        </p:nvSpPr>
        <p:spPr>
          <a:xfrm>
            <a:off x="3639312" y="3794760"/>
            <a:ext cx="2194560" cy="411480"/>
          </a:xfrm>
          <a:prstGeom prst="rect">
            <a:avLst/>
          </a:prstGeom>
          <a:noFill/>
          <a:ln/>
        </p:spPr>
        <p:txBody>
          <a:bodyPr wrap="square" lIns="0" tIns="0" rIns="0" bIns="0" rtlCol="0" anchor="ctr"/>
          <a:lstStyle/>
          <a:p>
            <a:pPr indent="0" marL="0">
              <a:buNone/>
            </a:pPr>
            <a:r>
              <a:rPr lang="en-US" sz="2000" b="1" dirty="0">
                <a:solidFill>
                  <a:schemeClr val="tx2"/>
                </a:solidFill>
              </a:rPr>
              <a:t>Prompts</a:t>
            </a:r>
            <a:endParaRPr lang="en-US" sz="2000" dirty="0"/>
          </a:p>
        </p:txBody>
      </p:sp>
      <p:sp>
        <p:nvSpPr>
          <p:cNvPr id="15" name="Text 10"/>
          <p:cNvSpPr txBox="1"/>
          <p:nvPr/>
        </p:nvSpPr>
        <p:spPr>
          <a:xfrm>
            <a:off x="3639312" y="4251960"/>
            <a:ext cx="2148840" cy="1280160"/>
          </a:xfrm>
          <a:prstGeom prst="rect">
            <a:avLst/>
          </a:prstGeom>
          <a:noFill/>
          <a:ln/>
        </p:spPr>
        <p:txBody>
          <a:bodyPr wrap="square" lIns="0" tIns="0" rIns="0" bIns="0" rtlCol="0" anchor="t"/>
          <a:lstStyle/>
          <a:p>
            <a:pPr indent="0" marL="0">
              <a:buNone/>
            </a:pPr>
            <a:r>
              <a:rPr lang="en-US" sz="1500" dirty="0">
                <a:solidFill>
                  <a:schemeClr val="tx1"/>
                </a:solidFill>
              </a:rPr>
              <a:t>Every prompt you type, with a copy button on each box</a:t>
            </a:r>
            <a:endParaRPr lang="en-US" sz="1500" dirty="0"/>
          </a:p>
        </p:txBody>
      </p:sp>
      <p:sp>
        <p:nvSpPr>
          <p:cNvPr id="16" name="Site card"/>
          <p:cNvSpPr/>
          <p:nvPr/>
        </p:nvSpPr>
        <p:spPr>
          <a:xfrm>
            <a:off x="6181344" y="2606040"/>
            <a:ext cx="2633472" cy="3108960"/>
          </a:xfrm>
          <a:prstGeom prst="roundRect">
            <a:avLst>
              <a:gd name="adj" fmla="val 2778"/>
            </a:avLst>
          </a:prstGeom>
          <a:solidFill>
            <a:schemeClr val="bg2"/>
          </a:solidFill>
          <a:ln/>
        </p:spPr>
      </p:sp>
      <p:sp>
        <p:nvSpPr>
          <p:cNvPr id="17" name="Icon circle"/>
          <p:cNvSpPr/>
          <p:nvPr/>
        </p:nvSpPr>
        <p:spPr>
          <a:xfrm>
            <a:off x="6455664" y="2880360"/>
            <a:ext cx="731520" cy="731520"/>
          </a:xfrm>
          <a:prstGeom prst="ellipse">
            <a:avLst/>
          </a:prstGeom>
          <a:solidFill>
            <a:schemeClr val="accent1"/>
          </a:solidFill>
          <a:ln/>
        </p:spPr>
      </p:sp>
      <p:pic>
        <p:nvPicPr>
          <p:cNvPr id="18" name="Image 2" descr="preencoded.png">    </p:cNvPr>
          <p:cNvPicPr>
            <a:picLocks noChangeAspect="1"/>
          </p:cNvPicPr>
          <p:nvPr/>
        </p:nvPicPr>
        <p:blipFill>
          <a:blip r:embed="rId3"/>
          <a:stretch>
            <a:fillRect/>
          </a:stretch>
        </p:blipFill>
        <p:spPr>
          <a:xfrm>
            <a:off x="6638544" y="3063240"/>
            <a:ext cx="365760" cy="365760"/>
          </a:xfrm>
          <a:prstGeom prst="rect">
            <a:avLst/>
          </a:prstGeom>
        </p:spPr>
      </p:pic>
      <p:sp>
        <p:nvSpPr>
          <p:cNvPr id="19" name="Text 13"/>
          <p:cNvSpPr txBox="1"/>
          <p:nvPr/>
        </p:nvSpPr>
        <p:spPr>
          <a:xfrm>
            <a:off x="6455664" y="3794760"/>
            <a:ext cx="2194560" cy="411480"/>
          </a:xfrm>
          <a:prstGeom prst="rect">
            <a:avLst/>
          </a:prstGeom>
          <a:noFill/>
          <a:ln/>
        </p:spPr>
        <p:txBody>
          <a:bodyPr wrap="square" lIns="0" tIns="0" rIns="0" bIns="0" rtlCol="0" anchor="ctr"/>
          <a:lstStyle/>
          <a:p>
            <a:pPr indent="0" marL="0">
              <a:buNone/>
            </a:pPr>
            <a:r>
              <a:rPr lang="en-US" sz="2000" b="1" dirty="0">
                <a:solidFill>
                  <a:schemeClr val="tx2"/>
                </a:solidFill>
              </a:rPr>
              <a:t>Course book</a:t>
            </a:r>
            <a:endParaRPr lang="en-US" sz="2000" dirty="0"/>
          </a:p>
        </p:txBody>
      </p:sp>
      <p:sp>
        <p:nvSpPr>
          <p:cNvPr id="20" name="Text 14"/>
          <p:cNvSpPr txBox="1"/>
          <p:nvPr/>
        </p:nvSpPr>
        <p:spPr>
          <a:xfrm>
            <a:off x="6455664" y="4251960"/>
            <a:ext cx="2148840" cy="1280160"/>
          </a:xfrm>
          <a:prstGeom prst="rect">
            <a:avLst/>
          </a:prstGeom>
          <a:noFill/>
          <a:ln/>
        </p:spPr>
        <p:txBody>
          <a:bodyPr wrap="square" lIns="0" tIns="0" rIns="0" bIns="0" rtlCol="0" anchor="t"/>
          <a:lstStyle/>
          <a:p>
            <a:pPr indent="0" marL="0">
              <a:buNone/>
            </a:pPr>
            <a:r>
              <a:rPr lang="en-US" sz="1500" dirty="0">
                <a:solidFill>
                  <a:schemeClr val="tx1"/>
                </a:solidFill>
              </a:rPr>
              <a:t>All notes and prompts in one PDF to keep</a:t>
            </a:r>
            <a:endParaRPr lang="en-US" sz="1500" dirty="0"/>
          </a:p>
        </p:txBody>
      </p:sp>
      <p:sp>
        <p:nvSpPr>
          <p:cNvPr id="21" name="Site card"/>
          <p:cNvSpPr/>
          <p:nvPr/>
        </p:nvSpPr>
        <p:spPr>
          <a:xfrm>
            <a:off x="8997696" y="2606040"/>
            <a:ext cx="2633472" cy="3108960"/>
          </a:xfrm>
          <a:prstGeom prst="roundRect">
            <a:avLst>
              <a:gd name="adj" fmla="val 2778"/>
            </a:avLst>
          </a:prstGeom>
          <a:solidFill>
            <a:schemeClr val="bg2"/>
          </a:solidFill>
          <a:ln/>
        </p:spPr>
      </p:sp>
      <p:sp>
        <p:nvSpPr>
          <p:cNvPr id="22" name="Icon circle"/>
          <p:cNvSpPr/>
          <p:nvPr/>
        </p:nvSpPr>
        <p:spPr>
          <a:xfrm>
            <a:off x="9272016" y="2880360"/>
            <a:ext cx="731520" cy="731520"/>
          </a:xfrm>
          <a:prstGeom prst="ellipse">
            <a:avLst/>
          </a:prstGeom>
          <a:solidFill>
            <a:schemeClr val="accent1"/>
          </a:solidFill>
          <a:ln/>
        </p:spPr>
      </p:sp>
      <p:pic>
        <p:nvPicPr>
          <p:cNvPr id="23" name="Image 3" descr="preencoded.png">    </p:cNvPr>
          <p:cNvPicPr>
            <a:picLocks noChangeAspect="1"/>
          </p:cNvPicPr>
          <p:nvPr/>
        </p:nvPicPr>
        <p:blipFill>
          <a:blip r:embed="rId4"/>
          <a:stretch>
            <a:fillRect/>
          </a:stretch>
        </p:blipFill>
        <p:spPr>
          <a:xfrm>
            <a:off x="9454896" y="3063240"/>
            <a:ext cx="365760" cy="365760"/>
          </a:xfrm>
          <a:prstGeom prst="rect">
            <a:avLst/>
          </a:prstGeom>
        </p:spPr>
      </p:pic>
      <p:sp>
        <p:nvSpPr>
          <p:cNvPr id="24" name="Text 17"/>
          <p:cNvSpPr txBox="1"/>
          <p:nvPr/>
        </p:nvSpPr>
        <p:spPr>
          <a:xfrm>
            <a:off x="9272016" y="3794760"/>
            <a:ext cx="2194560" cy="411480"/>
          </a:xfrm>
          <a:prstGeom prst="rect">
            <a:avLst/>
          </a:prstGeom>
          <a:noFill/>
          <a:ln/>
        </p:spPr>
        <p:txBody>
          <a:bodyPr wrap="square" lIns="0" tIns="0" rIns="0" bIns="0" rtlCol="0" anchor="ctr"/>
          <a:lstStyle/>
          <a:p>
            <a:pPr indent="0" marL="0">
              <a:buNone/>
            </a:pPr>
            <a:r>
              <a:rPr lang="en-US" sz="2000" b="1" dirty="0">
                <a:solidFill>
                  <a:schemeClr val="tx2"/>
                </a:solidFill>
              </a:rPr>
              <a:t>Sample files</a:t>
            </a:r>
            <a:endParaRPr lang="en-US" sz="2000" dirty="0"/>
          </a:p>
        </p:txBody>
      </p:sp>
      <p:sp>
        <p:nvSpPr>
          <p:cNvPr id="25" name="Text 18"/>
          <p:cNvSpPr txBox="1"/>
          <p:nvPr/>
        </p:nvSpPr>
        <p:spPr>
          <a:xfrm>
            <a:off x="9272016" y="4251960"/>
            <a:ext cx="2148840" cy="1280160"/>
          </a:xfrm>
          <a:prstGeom prst="rect">
            <a:avLst/>
          </a:prstGeom>
          <a:noFill/>
          <a:ln/>
        </p:spPr>
        <p:txBody>
          <a:bodyPr wrap="square" lIns="0" tIns="0" rIns="0" bIns="0" rtlCol="0" anchor="t"/>
          <a:lstStyle/>
          <a:p>
            <a:pPr indent="0" marL="0">
              <a:buNone/>
            </a:pPr>
            <a:r>
              <a:rPr lang="en-US" sz="1500" dirty="0">
                <a:solidFill>
                  <a:schemeClr val="tx1"/>
                </a:solidFill>
              </a:rPr>
              <a:t>The fictional quotations and policy, in Chapters 4 and 10</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GROUND RULES</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Four rules for today</a:t>
            </a:r>
            <a:endParaRPr lang="en-US" sz="3200" dirty="0"/>
          </a:p>
        </p:txBody>
      </p:sp>
      <p:sp>
        <p:nvSpPr>
          <p:cNvPr id="5" name="Rule card"/>
          <p:cNvSpPr/>
          <p:nvPr/>
        </p:nvSpPr>
        <p:spPr>
          <a:xfrm>
            <a:off x="548640" y="1783080"/>
            <a:ext cx="5440680" cy="1828800"/>
          </a:xfrm>
          <a:prstGeom prst="roundRect">
            <a:avLst>
              <a:gd name="adj" fmla="val 4000"/>
            </a:avLst>
          </a:prstGeom>
          <a:solidFill>
            <a:schemeClr val="bg2"/>
          </a:solidFill>
          <a:ln/>
        </p:spPr>
      </p:sp>
      <p:sp>
        <p:nvSpPr>
          <p:cNvPr id="6" name="Icon circle"/>
          <p:cNvSpPr/>
          <p:nvPr/>
        </p:nvSpPr>
        <p:spPr>
          <a:xfrm>
            <a:off x="868680" y="2286000"/>
            <a:ext cx="822960" cy="822960"/>
          </a:xfrm>
          <a:prstGeom prst="ellipse">
            <a:avLst/>
          </a:prstGeom>
          <a:solidFill>
            <a:schemeClr val="accent1"/>
          </a:solidFill>
          <a:ln/>
        </p:spPr>
      </p:sp>
      <p:pic>
        <p:nvPicPr>
          <p:cNvPr id="7" name="Image 0" descr="preencoded.png">    </p:cNvPr>
          <p:cNvPicPr>
            <a:picLocks noChangeAspect="1"/>
          </p:cNvPicPr>
          <p:nvPr/>
        </p:nvPicPr>
        <p:blipFill>
          <a:blip r:embed="rId1"/>
          <a:stretch>
            <a:fillRect/>
          </a:stretch>
        </p:blipFill>
        <p:spPr>
          <a:xfrm>
            <a:off x="1074420" y="2491740"/>
            <a:ext cx="411480" cy="411480"/>
          </a:xfrm>
          <a:prstGeom prst="rect">
            <a:avLst/>
          </a:prstGeom>
        </p:spPr>
      </p:pic>
      <p:sp>
        <p:nvSpPr>
          <p:cNvPr id="8" name="Text 4"/>
          <p:cNvSpPr txBox="1"/>
          <p:nvPr/>
        </p:nvSpPr>
        <p:spPr>
          <a:xfrm>
            <a:off x="1920240" y="2011680"/>
            <a:ext cx="3840480" cy="1371600"/>
          </a:xfrm>
          <a:prstGeom prst="rect">
            <a:avLst/>
          </a:prstGeom>
          <a:noFill/>
          <a:ln/>
        </p:spPr>
        <p:txBody>
          <a:bodyPr wrap="square" lIns="0" tIns="0" rIns="0" bIns="0" rtlCol="0" anchor="ctr"/>
          <a:lstStyle/>
          <a:p>
            <a:pPr indent="0" marL="0">
              <a:buNone/>
            </a:pPr>
            <a:r>
              <a:rPr lang="en-US" sz="2000" b="1" dirty="0">
                <a:solidFill>
                  <a:schemeClr val="tx2"/>
                </a:solidFill>
              </a:rPr>
              <a:t>Use only the fictional sample files</a:t>
            </a:r>
            <a:endParaRPr lang="en-US" sz="2000" dirty="0"/>
          </a:p>
          <a:p>
            <a:pPr indent="0" marL="0">
              <a:buNone/>
            </a:pPr>
            <a:r>
              <a:rPr lang="en-US" sz="1600" dirty="0">
                <a:solidFill>
                  <a:schemeClr val="tx1"/>
                </a:solidFill>
              </a:rPr>
              <a:t>Don't upload real company documents to practise.</a:t>
            </a:r>
            <a:endParaRPr lang="en-US" sz="2000" dirty="0"/>
          </a:p>
        </p:txBody>
      </p:sp>
      <p:sp>
        <p:nvSpPr>
          <p:cNvPr id="9" name="Rule card"/>
          <p:cNvSpPr/>
          <p:nvPr/>
        </p:nvSpPr>
        <p:spPr>
          <a:xfrm>
            <a:off x="6217920" y="1783080"/>
            <a:ext cx="5440680" cy="1828800"/>
          </a:xfrm>
          <a:prstGeom prst="roundRect">
            <a:avLst>
              <a:gd name="adj" fmla="val 4000"/>
            </a:avLst>
          </a:prstGeom>
          <a:solidFill>
            <a:schemeClr val="bg2"/>
          </a:solidFill>
          <a:ln/>
        </p:spPr>
      </p:sp>
      <p:sp>
        <p:nvSpPr>
          <p:cNvPr id="10" name="Icon circle"/>
          <p:cNvSpPr/>
          <p:nvPr/>
        </p:nvSpPr>
        <p:spPr>
          <a:xfrm>
            <a:off x="6537960" y="2286000"/>
            <a:ext cx="822960" cy="822960"/>
          </a:xfrm>
          <a:prstGeom prst="ellipse">
            <a:avLst/>
          </a:prstGeom>
          <a:solidFill>
            <a:schemeClr val="accent1"/>
          </a:solidFill>
          <a:ln/>
        </p:spPr>
      </p:sp>
      <p:pic>
        <p:nvPicPr>
          <p:cNvPr id="11" name="Image 1" descr="preencoded.png">    </p:cNvPr>
          <p:cNvPicPr>
            <a:picLocks noChangeAspect="1"/>
          </p:cNvPicPr>
          <p:nvPr/>
        </p:nvPicPr>
        <p:blipFill>
          <a:blip r:embed="rId2"/>
          <a:stretch>
            <a:fillRect/>
          </a:stretch>
        </p:blipFill>
        <p:spPr>
          <a:xfrm>
            <a:off x="6743700" y="2491740"/>
            <a:ext cx="411480" cy="411480"/>
          </a:xfrm>
          <a:prstGeom prst="rect">
            <a:avLst/>
          </a:prstGeom>
        </p:spPr>
      </p:pic>
      <p:sp>
        <p:nvSpPr>
          <p:cNvPr id="12" name="Text 7"/>
          <p:cNvSpPr txBox="1"/>
          <p:nvPr/>
        </p:nvSpPr>
        <p:spPr>
          <a:xfrm>
            <a:off x="7589520" y="2011680"/>
            <a:ext cx="3840480" cy="1371600"/>
          </a:xfrm>
          <a:prstGeom prst="rect">
            <a:avLst/>
          </a:prstGeom>
          <a:noFill/>
          <a:ln/>
        </p:spPr>
        <p:txBody>
          <a:bodyPr wrap="square" lIns="0" tIns="0" rIns="0" bIns="0" rtlCol="0" anchor="ctr"/>
          <a:lstStyle/>
          <a:p>
            <a:pPr indent="0" marL="0">
              <a:buNone/>
            </a:pPr>
            <a:r>
              <a:rPr lang="en-US" sz="2000" b="1" dirty="0">
                <a:solidFill>
                  <a:schemeClr val="tx2"/>
                </a:solidFill>
              </a:rPr>
              <a:t>No shield, no upload</a:t>
            </a:r>
            <a:endParaRPr lang="en-US" sz="2000" dirty="0"/>
          </a:p>
          <a:p>
            <a:pPr indent="0" marL="0">
              <a:buNone/>
            </a:pPr>
            <a:r>
              <a:rPr lang="en-US" sz="1600" dirty="0">
                <a:solidFill>
                  <a:schemeClr val="tx1"/>
                </a:solidFill>
              </a:rPr>
              <a:t>Check for the green shield before you upload anything.</a:t>
            </a:r>
            <a:endParaRPr lang="en-US" sz="2000" dirty="0"/>
          </a:p>
        </p:txBody>
      </p:sp>
      <p:sp>
        <p:nvSpPr>
          <p:cNvPr id="13" name="Rule card"/>
          <p:cNvSpPr/>
          <p:nvPr/>
        </p:nvSpPr>
        <p:spPr>
          <a:xfrm>
            <a:off x="548640" y="3886200"/>
            <a:ext cx="5440680" cy="1828800"/>
          </a:xfrm>
          <a:prstGeom prst="roundRect">
            <a:avLst>
              <a:gd name="adj" fmla="val 4000"/>
            </a:avLst>
          </a:prstGeom>
          <a:solidFill>
            <a:schemeClr val="bg2"/>
          </a:solidFill>
          <a:ln/>
        </p:spPr>
      </p:sp>
      <p:sp>
        <p:nvSpPr>
          <p:cNvPr id="14" name="Icon circle"/>
          <p:cNvSpPr/>
          <p:nvPr/>
        </p:nvSpPr>
        <p:spPr>
          <a:xfrm>
            <a:off x="868680" y="4389120"/>
            <a:ext cx="822960" cy="82296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1074420" y="4594860"/>
            <a:ext cx="411480" cy="411480"/>
          </a:xfrm>
          <a:prstGeom prst="rect">
            <a:avLst/>
          </a:prstGeom>
        </p:spPr>
      </p:pic>
      <p:sp>
        <p:nvSpPr>
          <p:cNvPr id="16" name="Text 10"/>
          <p:cNvSpPr txBox="1"/>
          <p:nvPr/>
        </p:nvSpPr>
        <p:spPr>
          <a:xfrm>
            <a:off x="1920240" y="4114800"/>
            <a:ext cx="3840480" cy="1371600"/>
          </a:xfrm>
          <a:prstGeom prst="rect">
            <a:avLst/>
          </a:prstGeom>
          <a:noFill/>
          <a:ln/>
        </p:spPr>
        <p:txBody>
          <a:bodyPr wrap="square" lIns="0" tIns="0" rIns="0" bIns="0" rtlCol="0" anchor="ctr"/>
          <a:lstStyle/>
          <a:p>
            <a:pPr indent="0" marL="0">
              <a:buNone/>
            </a:pPr>
            <a:r>
              <a:rPr lang="en-US" sz="2000" b="1" dirty="0">
                <a:solidFill>
                  <a:schemeClr val="tx2"/>
                </a:solidFill>
              </a:rPr>
              <a:t>Send test emails only to yourself</a:t>
            </a:r>
            <a:endParaRPr lang="en-US" sz="2000" dirty="0"/>
          </a:p>
          <a:p>
            <a:pPr indent="0" marL="0">
              <a:buNone/>
            </a:pPr>
            <a:r>
              <a:rPr lang="en-US" sz="1600" dirty="0">
                <a:solidFill>
                  <a:schemeClr val="tx1"/>
                </a:solidFill>
              </a:rPr>
              <a:t>Every training subject starts with [CCB TRAINING].</a:t>
            </a:r>
            <a:endParaRPr lang="en-US" sz="2000" dirty="0"/>
          </a:p>
        </p:txBody>
      </p:sp>
      <p:sp>
        <p:nvSpPr>
          <p:cNvPr id="17" name="Rule card"/>
          <p:cNvSpPr/>
          <p:nvPr/>
        </p:nvSpPr>
        <p:spPr>
          <a:xfrm>
            <a:off x="6217920" y="3886200"/>
            <a:ext cx="5440680" cy="1828800"/>
          </a:xfrm>
          <a:prstGeom prst="roundRect">
            <a:avLst>
              <a:gd name="adj" fmla="val 4000"/>
            </a:avLst>
          </a:prstGeom>
          <a:solidFill>
            <a:schemeClr val="bg2"/>
          </a:solidFill>
          <a:ln/>
        </p:spPr>
      </p:sp>
      <p:sp>
        <p:nvSpPr>
          <p:cNvPr id="18" name="Icon circle"/>
          <p:cNvSpPr/>
          <p:nvPr/>
        </p:nvSpPr>
        <p:spPr>
          <a:xfrm>
            <a:off x="6537960" y="4389120"/>
            <a:ext cx="822960" cy="822960"/>
          </a:xfrm>
          <a:prstGeom prst="ellipse">
            <a:avLst/>
          </a:prstGeom>
          <a:solidFill>
            <a:schemeClr val="accent1"/>
          </a:solidFill>
          <a:ln/>
        </p:spPr>
      </p:sp>
      <p:pic>
        <p:nvPicPr>
          <p:cNvPr id="19" name="Image 3" descr="preencoded.png">    </p:cNvPr>
          <p:cNvPicPr>
            <a:picLocks noChangeAspect="1"/>
          </p:cNvPicPr>
          <p:nvPr/>
        </p:nvPicPr>
        <p:blipFill>
          <a:blip r:embed="rId4"/>
          <a:stretch>
            <a:fillRect/>
          </a:stretch>
        </p:blipFill>
        <p:spPr>
          <a:xfrm>
            <a:off x="6743700" y="4594860"/>
            <a:ext cx="411480" cy="411480"/>
          </a:xfrm>
          <a:prstGeom prst="rect">
            <a:avLst/>
          </a:prstGeom>
        </p:spPr>
      </p:pic>
      <p:sp>
        <p:nvSpPr>
          <p:cNvPr id="20" name="Text 13"/>
          <p:cNvSpPr txBox="1"/>
          <p:nvPr/>
        </p:nvSpPr>
        <p:spPr>
          <a:xfrm>
            <a:off x="7589520" y="4114800"/>
            <a:ext cx="3840480" cy="1371600"/>
          </a:xfrm>
          <a:prstGeom prst="rect">
            <a:avLst/>
          </a:prstGeom>
          <a:noFill/>
          <a:ln/>
        </p:spPr>
        <p:txBody>
          <a:bodyPr wrap="square" lIns="0" tIns="0" rIns="0" bIns="0" rtlCol="0" anchor="ctr"/>
          <a:lstStyle/>
          <a:p>
            <a:pPr indent="0" marL="0">
              <a:buNone/>
            </a:pPr>
            <a:r>
              <a:rPr lang="en-US" sz="2000" b="1" dirty="0">
                <a:solidFill>
                  <a:schemeClr val="tx2"/>
                </a:solidFill>
              </a:rPr>
              <a:t>Check every number</a:t>
            </a:r>
            <a:endParaRPr lang="en-US" sz="2000" dirty="0"/>
          </a:p>
          <a:p>
            <a:pPr indent="0" marL="0">
              <a:buNone/>
            </a:pPr>
            <a:r>
              <a:rPr lang="en-US" sz="1600" dirty="0">
                <a:solidFill>
                  <a:schemeClr val="tx1"/>
                </a:solidFill>
              </a:rPr>
              <a:t>Copilot can be wrong. Treat it like a colleague's draft.</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731520" y="100584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01</a:t>
            </a:r>
            <a:endParaRPr lang="en-US" sz="9600" dirty="0"/>
          </a:p>
        </p:txBody>
      </p:sp>
      <p:sp>
        <p:nvSpPr>
          <p:cNvPr id="3" name="Text 0"/>
          <p:cNvSpPr/>
          <p:nvPr>
            <p:ph idx="101" type="title" hasCustomPrompt="1"/>
          </p:nvPr>
        </p:nvSpPr>
        <p:spPr>
          <a:xfrm>
            <a:off x="731520" y="256032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Which Copilot do I have?</a:t>
            </a:r>
            <a:endParaRPr lang="en-US" sz="4400" dirty="0"/>
          </a:p>
        </p:txBody>
      </p:sp>
      <p:sp>
        <p:nvSpPr>
          <p:cNvPr id="4" name="Text 0"/>
          <p:cNvSpPr/>
          <p:nvPr>
            <p:ph idx="102" type="body" hasCustomPrompt="1"/>
          </p:nvPr>
        </p:nvSpPr>
        <p:spPr>
          <a:xfrm>
            <a:off x="731520" y="3840480"/>
            <a:ext cx="9601200" cy="1463040"/>
          </a:xfrm>
          <a:prstGeom prst="rect">
            <a:avLst/>
          </a:prstGeom>
          <a:noFill/>
          <a:ln/>
        </p:spPr>
        <p:txBody>
          <a:bodyPr wrap="square" lIns="0" tIns="0" rIns="0" bIns="0" rtlCol="0" anchor="t"/>
          <a:lstStyle/>
          <a:p>
            <a:pPr indent="0" marL="0">
              <a:buNone/>
            </a:pPr>
            <a:r>
              <a:rPr lang="en-US" sz="1800" b="1" dirty="0">
                <a:solidFill>
                  <a:schemeClr val="bg1"/>
                </a:solidFill>
              </a:rPr>
              <a:t>Stage: Check  ·  20 minutes</a:t>
            </a:r>
            <a:endParaRPr lang="en-US" sz="1800" dirty="0"/>
          </a:p>
          <a:p>
            <a:pPr indent="0" marL="0">
              <a:buNone/>
            </a:pPr>
            <a:r>
              <a:rPr lang="en-US" sz="800" dirty="0">
                <a:solidFill>
                  <a:schemeClr val="bg2"/>
                </a:solidFill>
              </a:rPr>
              <a:t> </a:t>
            </a:r>
            <a:endParaRPr lang="en-US" sz="1800" dirty="0"/>
          </a:p>
          <a:p>
            <a:pPr indent="0" marL="0">
              <a:buNone/>
            </a:pPr>
            <a:r>
              <a:rPr lang="en-US" sz="1800" b="1" dirty="0">
                <a:solidFill>
                  <a:schemeClr val="bg2"/>
                </a:solidFill>
              </a:rPr>
              <a:t>Your result: </a:t>
            </a:r>
            <a:pPr indent="0" marL="0">
              <a:buNone/>
            </a:pPr>
            <a:r>
              <a:rPr lang="en-US" sz="1800" dirty="0">
                <a:solidFill>
                  <a:schemeClr val="bg2"/>
                </a:solidFill>
              </a:rPr>
              <a:t>you know your Copilot label, you've seen the green shield, and you've run one safe prompt.</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CHAPTER 01</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Three work labels, and a consumer app with a similar name</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651760"/>
                <a:gridCol w="3566160"/>
                <a:gridCol w="2651760"/>
                <a:gridCol w="2194560"/>
              </a:tblGrid>
              <a:tr h="566928">
                <a:tc>
                  <a:txBody>
                    <a:bodyPr/>
                    <a:lstStyle/>
                    <a:p>
                      <a:pPr indent="0" marL="0">
                        <a:buNone/>
                      </a:pPr>
                      <a:r>
                        <a:rPr lang="en-US" sz="1500" b="1" dirty="0">
                          <a:solidFill>
                            <a:schemeClr val="bg1"/>
                          </a:solidFill>
                        </a:rPr>
                        <a:t>Label</a:t>
                      </a:r>
                      <a:endParaRPr lang="en-US" sz="1500" dirty="0"/>
                    </a:p>
                  </a:txBody>
                  <a:tcPr marL="91440" marR="91440" marT="45720" marB="45720" anchor="ctr">
                    <a:lnL w="12700" cap="flat" cmpd="sng" algn="ctr">
                      <a:solidFill>
                        <a:srgbClr val="F1F4F7"/>
                      </a:solidFill>
                      <a:prstDash val="solid"/>
                      <a:round/>
                      <a:headEnd type="none" w="med" len="med"/>
                      <a:tailEnd type="none" w="med" len="med"/>
                    </a:lnL>
                    <a:lnR w="12700" cap="flat" cmpd="sng" algn="ctr">
                      <a:solidFill>
                        <a:srgbClr val="F1F4F7"/>
                      </a:solidFill>
                      <a:prstDash val="solid"/>
                      <a:round/>
                      <a:headEnd type="none" w="med" len="med"/>
                      <a:tailEnd type="none" w="med" len="med"/>
                    </a:lnR>
                    <a:lnT w="12700" cap="flat" cmpd="sng" algn="ctr">
                      <a:solidFill>
                        <a:srgbClr val="F1F4F7"/>
                      </a:solidFill>
                      <a:prstDash val="solid"/>
                      <a:round/>
                      <a:headEnd type="none" w="med" len="med"/>
                      <a:tailEnd type="none" w="med" len="med"/>
                    </a:lnT>
                    <a:lnB w="12700" cap="flat" cmpd="sng" algn="ctr">
                      <a:solidFill>
                        <a:srgbClr val="F1F4F7"/>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Who usually has it</a:t>
                      </a:r>
                      <a:endParaRPr lang="en-US" sz="1500" dirty="0"/>
                    </a:p>
                  </a:txBody>
                  <a:tcPr marL="91440" marR="91440" marT="45720" marB="45720" anchor="ctr">
                    <a:lnL w="12700" cap="flat" cmpd="sng" algn="ctr">
                      <a:solidFill>
                        <a:srgbClr val="F1F4F7"/>
                      </a:solidFill>
                      <a:prstDash val="solid"/>
                      <a:round/>
                      <a:headEnd type="none" w="med" len="med"/>
                      <a:tailEnd type="none" w="med" len="med"/>
                    </a:lnL>
                    <a:lnR w="12700" cap="flat" cmpd="sng" algn="ctr">
                      <a:solidFill>
                        <a:srgbClr val="F1F4F7"/>
                      </a:solidFill>
                      <a:prstDash val="solid"/>
                      <a:round/>
                      <a:headEnd type="none" w="med" len="med"/>
                      <a:tailEnd type="none" w="med" len="med"/>
                    </a:lnR>
                    <a:lnT w="12700" cap="flat" cmpd="sng" algn="ctr">
                      <a:solidFill>
                        <a:srgbClr val="F1F4F7"/>
                      </a:solidFill>
                      <a:prstDash val="solid"/>
                      <a:round/>
                      <a:headEnd type="none" w="med" len="med"/>
                      <a:tailEnd type="none" w="med" len="med"/>
                    </a:lnT>
                    <a:lnB w="12700" cap="flat" cmpd="sng" algn="ctr">
                      <a:solidFill>
                        <a:srgbClr val="F1F4F7"/>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Copilot in Word, Excel, PowerPoint</a:t>
                      </a:r>
                      <a:endParaRPr lang="en-US" sz="1500" dirty="0"/>
                    </a:p>
                  </a:txBody>
                  <a:tcPr marL="91440" marR="91440" marT="45720" marB="45720" anchor="ctr">
                    <a:lnL w="12700" cap="flat" cmpd="sng" algn="ctr">
                      <a:solidFill>
                        <a:srgbClr val="F1F4F7"/>
                      </a:solidFill>
                      <a:prstDash val="solid"/>
                      <a:round/>
                      <a:headEnd type="none" w="med" len="med"/>
                      <a:tailEnd type="none" w="med" len="med"/>
                    </a:lnL>
                    <a:lnR w="12700" cap="flat" cmpd="sng" algn="ctr">
                      <a:solidFill>
                        <a:srgbClr val="F1F4F7"/>
                      </a:solidFill>
                      <a:prstDash val="solid"/>
                      <a:round/>
                      <a:headEnd type="none" w="med" len="med"/>
                      <a:tailEnd type="none" w="med" len="med"/>
                    </a:lnR>
                    <a:lnT w="12700" cap="flat" cmpd="sng" algn="ctr">
                      <a:solidFill>
                        <a:srgbClr val="F1F4F7"/>
                      </a:solidFill>
                      <a:prstDash val="solid"/>
                      <a:round/>
                      <a:headEnd type="none" w="med" len="med"/>
                      <a:tailEnd type="none" w="med" len="med"/>
                    </a:lnT>
                    <a:lnB w="12700" cap="flat" cmpd="sng" algn="ctr">
                      <a:solidFill>
                        <a:srgbClr val="F1F4F7"/>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Busy times</a:t>
                      </a:r>
                      <a:endParaRPr lang="en-US" sz="1500" dirty="0"/>
                    </a:p>
                  </a:txBody>
                  <a:tcPr marL="91440" marR="91440" marT="45720" marB="45720" anchor="ctr">
                    <a:lnL w="12700" cap="flat" cmpd="sng" algn="ctr">
                      <a:solidFill>
                        <a:srgbClr val="F1F4F7"/>
                      </a:solidFill>
                      <a:prstDash val="solid"/>
                      <a:round/>
                      <a:headEnd type="none" w="med" len="med"/>
                      <a:tailEnd type="none" w="med" len="med"/>
                    </a:lnL>
                    <a:lnR w="12700" cap="flat" cmpd="sng" algn="ctr">
                      <a:solidFill>
                        <a:srgbClr val="F1F4F7"/>
                      </a:solidFill>
                      <a:prstDash val="solid"/>
                      <a:round/>
                      <a:headEnd type="none" w="med" len="med"/>
                      <a:tailEnd type="none" w="med" len="med"/>
                    </a:lnR>
                    <a:lnT w="12700" cap="flat" cmpd="sng" algn="ctr">
                      <a:solidFill>
                        <a:srgbClr val="F1F4F7"/>
                      </a:solidFill>
                      <a:prstDash val="solid"/>
                      <a:round/>
                      <a:headEnd type="none" w="med" len="med"/>
                      <a:tailEnd type="none" w="med" len="med"/>
                    </a:lnT>
                    <a:lnB w="12700" cap="flat" cmpd="sng" algn="ctr">
                      <a:solidFill>
                        <a:srgbClr val="F1F4F7"/>
                      </a:solidFill>
                      <a:prstDash val="solid"/>
                      <a:round/>
                      <a:headEnd type="none" w="med" len="med"/>
                      <a:tailEnd type="none" w="med" len="med"/>
                    </a:lnB>
                    <a:solidFill>
                      <a:schemeClr val="tx2"/>
                    </a:solidFill>
                  </a:tcPr>
                </a:tc>
              </a:tr>
              <a:tr h="566928">
                <a:tc>
                  <a:txBody>
                    <a:bodyPr/>
                    <a:lstStyle/>
                    <a:p>
                      <a:pPr indent="0" marL="0">
                        <a:buNone/>
                      </a:pPr>
                      <a:r>
                        <a:rPr lang="en-US" sz="1500" b="1" dirty="0">
                          <a:solidFill>
                            <a:schemeClr val="tx1"/>
                          </a:solidFill>
                        </a:rPr>
                        <a:t>Copilot Chat (Basic)</a:t>
                      </a:r>
                      <a:endParaRPr lang="en-US" sz="1500" dirty="0"/>
                    </a:p>
                  </a:txBody>
                  <a:tcPr marL="91440" marR="91440" marT="45720" marB="45720" anchor="ctr">
                    <a:lnL w="12700" cap="flat" cmpd="sng" algn="ctr">
                      <a:solidFill>
                        <a:srgbClr val="F1F4F7"/>
                      </a:solidFill>
                      <a:prstDash val="solid"/>
                      <a:round/>
                      <a:headEnd type="none" w="med" len="med"/>
                      <a:tailEnd type="none" w="med" len="med"/>
                    </a:lnL>
                    <a:lnR w="12700" cap="flat" cmpd="sng" algn="ctr">
                      <a:solidFill>
                        <a:srgbClr val="F1F4F7"/>
                      </a:solidFill>
                      <a:prstDash val="solid"/>
                      <a:round/>
                      <a:headEnd type="none" w="med" len="med"/>
                      <a:tailEnd type="none" w="med" len="med"/>
                    </a:lnR>
                    <a:lnT w="12700" cap="flat" cmpd="sng" algn="ctr">
                      <a:solidFill>
                        <a:srgbClr val="F1F4F7"/>
                      </a:solidFill>
                      <a:prstDash val="solid"/>
                      <a:round/>
                      <a:headEnd type="none" w="med" len="med"/>
                      <a:tailEnd type="none" w="med" len="med"/>
                    </a:lnT>
                    <a:lnB w="12700" cap="flat" cmpd="sng" algn="ctr">
                      <a:solidFill>
                        <a:srgbClr val="F1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Organisations over 2,000 users, no paid license</a:t>
                      </a:r>
                      <a:endParaRPr lang="en-US" sz="1500" dirty="0"/>
                    </a:p>
                  </a:txBody>
                  <a:tcPr marL="91440" marR="91440" marT="45720" marB="45720" anchor="ctr">
                    <a:lnL w="12700" cap="flat" cmpd="sng" algn="ctr">
                      <a:solidFill>
                        <a:srgbClr val="F1F4F7"/>
                      </a:solidFill>
                      <a:prstDash val="solid"/>
                      <a:round/>
                      <a:headEnd type="none" w="med" len="med"/>
                      <a:tailEnd type="none" w="med" len="med"/>
                    </a:lnL>
                    <a:lnR w="12700" cap="flat" cmpd="sng" algn="ctr">
                      <a:solidFill>
                        <a:srgbClr val="F1F4F7"/>
                      </a:solidFill>
                      <a:prstDash val="solid"/>
                      <a:round/>
                      <a:headEnd type="none" w="med" len="med"/>
                      <a:tailEnd type="none" w="med" len="med"/>
                    </a:lnR>
                    <a:lnT w="12700" cap="flat" cmpd="sng" algn="ctr">
                      <a:solidFill>
                        <a:srgbClr val="F1F4F7"/>
                      </a:solidFill>
                      <a:prstDash val="solid"/>
                      <a:round/>
                      <a:headEnd type="none" w="med" len="med"/>
                      <a:tailEnd type="none" w="med" len="med"/>
                    </a:lnT>
                    <a:lnB w="12700" cap="flat" cmpd="sng" algn="ctr">
                      <a:solidFill>
                        <a:srgbClr val="F1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No</a:t>
                      </a:r>
                      <a:endParaRPr lang="en-US" sz="1500" dirty="0"/>
                    </a:p>
                  </a:txBody>
                  <a:tcPr marL="91440" marR="91440" marT="45720" marB="45720" anchor="ctr">
                    <a:lnL w="12700" cap="flat" cmpd="sng" algn="ctr">
                      <a:solidFill>
                        <a:srgbClr val="F1F4F7"/>
                      </a:solidFill>
                      <a:prstDash val="solid"/>
                      <a:round/>
                      <a:headEnd type="none" w="med" len="med"/>
                      <a:tailEnd type="none" w="med" len="med"/>
                    </a:lnL>
                    <a:lnR w="12700" cap="flat" cmpd="sng" algn="ctr">
                      <a:solidFill>
                        <a:srgbClr val="F1F4F7"/>
                      </a:solidFill>
                      <a:prstDash val="solid"/>
                      <a:round/>
                      <a:headEnd type="none" w="med" len="med"/>
                      <a:tailEnd type="none" w="med" len="med"/>
                    </a:lnR>
                    <a:lnT w="12700" cap="flat" cmpd="sng" algn="ctr">
                      <a:solidFill>
                        <a:srgbClr val="F1F4F7"/>
                      </a:solidFill>
                      <a:prstDash val="solid"/>
                      <a:round/>
                      <a:headEnd type="none" w="med" len="med"/>
                      <a:tailEnd type="none" w="med" len="med"/>
                    </a:lnT>
                    <a:lnB w="12700" cap="flat" cmpd="sng" algn="ctr">
                      <a:solidFill>
                        <a:srgbClr val="F1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Standard access, can slow down</a:t>
                      </a:r>
                      <a:endParaRPr lang="en-US" sz="1500" dirty="0"/>
                    </a:p>
                  </a:txBody>
                  <a:tcPr marL="91440" marR="91440" marT="45720" marB="45720" anchor="ctr">
                    <a:lnL w="12700" cap="flat" cmpd="sng" algn="ctr">
                      <a:solidFill>
                        <a:srgbClr val="F1F4F7"/>
                      </a:solidFill>
                      <a:prstDash val="solid"/>
                      <a:round/>
                      <a:headEnd type="none" w="med" len="med"/>
                      <a:tailEnd type="none" w="med" len="med"/>
                    </a:lnL>
                    <a:lnR w="12700" cap="flat" cmpd="sng" algn="ctr">
                      <a:solidFill>
                        <a:srgbClr val="F1F4F7"/>
                      </a:solidFill>
                      <a:prstDash val="solid"/>
                      <a:round/>
                      <a:headEnd type="none" w="med" len="med"/>
                      <a:tailEnd type="none" w="med" len="med"/>
                    </a:lnR>
                    <a:lnT w="12700" cap="flat" cmpd="sng" algn="ctr">
                      <a:solidFill>
                        <a:srgbClr val="F1F4F7"/>
                      </a:solidFill>
                      <a:prstDash val="solid"/>
                      <a:round/>
                      <a:headEnd type="none" w="med" len="med"/>
                      <a:tailEnd type="none" w="med" len="med"/>
                    </a:lnT>
                    <a:lnB w="12700" cap="flat" cmpd="sng" algn="ctr">
                      <a:solidFill>
                        <a:srgbClr val="F1F4F7"/>
                      </a:solidFill>
                      <a:prstDash val="solid"/>
                      <a:round/>
                      <a:headEnd type="none" w="med" len="med"/>
                      <a:tailEnd type="none" w="med" len="med"/>
                    </a:lnB>
                    <a:solidFill>
                      <a:schemeClr val="bg1"/>
                    </a:solidFill>
                  </a:tcPr>
                </a:tc>
              </a:tr>
              <a:tr h="566928">
                <a:tc>
                  <a:txBody>
                    <a:bodyPr/>
                    <a:lstStyle/>
                    <a:p>
                      <a:pPr indent="0" marL="0">
                        <a:buNone/>
                      </a:pPr>
                      <a:r>
                        <a:rPr lang="en-US" sz="1500" b="1" dirty="0">
                          <a:solidFill>
                            <a:schemeClr val="tx1"/>
                          </a:solidFill>
                        </a:rPr>
                        <a:t>M365 Copilot (Basic)</a:t>
                      </a:r>
                      <a:endParaRPr lang="en-US" sz="1500" dirty="0"/>
                    </a:p>
                  </a:txBody>
                  <a:tcPr marL="91440" marR="91440" marT="45720" marB="45720" anchor="ctr">
                    <a:lnL w="12700" cap="flat" cmpd="sng" algn="ctr">
                      <a:solidFill>
                        <a:srgbClr val="F1F4F7"/>
                      </a:solidFill>
                      <a:prstDash val="solid"/>
                      <a:round/>
                      <a:headEnd type="none" w="med" len="med"/>
                      <a:tailEnd type="none" w="med" len="med"/>
                    </a:lnL>
                    <a:lnR w="12700" cap="flat" cmpd="sng" algn="ctr">
                      <a:solidFill>
                        <a:srgbClr val="F1F4F7"/>
                      </a:solidFill>
                      <a:prstDash val="solid"/>
                      <a:round/>
                      <a:headEnd type="none" w="med" len="med"/>
                      <a:tailEnd type="none" w="med" len="med"/>
                    </a:lnR>
                    <a:lnT w="12700" cap="flat" cmpd="sng" algn="ctr">
                      <a:solidFill>
                        <a:srgbClr val="F1F4F7"/>
                      </a:solidFill>
                      <a:prstDash val="solid"/>
                      <a:round/>
                      <a:headEnd type="none" w="med" len="med"/>
                      <a:tailEnd type="none" w="med" len="med"/>
                    </a:lnT>
                    <a:lnB w="12700" cap="flat" cmpd="sng" algn="ctr">
                      <a:solidFill>
                        <a:srgbClr val="F1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Smaller organisations, no paid license</a:t>
                      </a:r>
                      <a:endParaRPr lang="en-US" sz="1500" dirty="0"/>
                    </a:p>
                  </a:txBody>
                  <a:tcPr marL="91440" marR="91440" marT="45720" marB="45720" anchor="ctr">
                    <a:lnL w="12700" cap="flat" cmpd="sng" algn="ctr">
                      <a:solidFill>
                        <a:srgbClr val="F1F4F7"/>
                      </a:solidFill>
                      <a:prstDash val="solid"/>
                      <a:round/>
                      <a:headEnd type="none" w="med" len="med"/>
                      <a:tailEnd type="none" w="med" len="med"/>
                    </a:lnL>
                    <a:lnR w="12700" cap="flat" cmpd="sng" algn="ctr">
                      <a:solidFill>
                        <a:srgbClr val="F1F4F7"/>
                      </a:solidFill>
                      <a:prstDash val="solid"/>
                      <a:round/>
                      <a:headEnd type="none" w="med" len="med"/>
                      <a:tailEnd type="none" w="med" len="med"/>
                    </a:lnR>
                    <a:lnT w="12700" cap="flat" cmpd="sng" algn="ctr">
                      <a:solidFill>
                        <a:srgbClr val="F1F4F7"/>
                      </a:solidFill>
                      <a:prstDash val="solid"/>
                      <a:round/>
                      <a:headEnd type="none" w="med" len="med"/>
                      <a:tailEnd type="none" w="med" len="med"/>
                    </a:lnT>
                    <a:lnB w="12700" cap="flat" cmpd="sng" algn="ctr">
                      <a:solidFill>
                        <a:srgbClr val="F1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Yes, standard access</a:t>
                      </a:r>
                      <a:endParaRPr lang="en-US" sz="1500" dirty="0"/>
                    </a:p>
                  </a:txBody>
                  <a:tcPr marL="91440" marR="91440" marT="45720" marB="45720" anchor="ctr">
                    <a:lnL w="12700" cap="flat" cmpd="sng" algn="ctr">
                      <a:solidFill>
                        <a:srgbClr val="F1F4F7"/>
                      </a:solidFill>
                      <a:prstDash val="solid"/>
                      <a:round/>
                      <a:headEnd type="none" w="med" len="med"/>
                      <a:tailEnd type="none" w="med" len="med"/>
                    </a:lnL>
                    <a:lnR w="12700" cap="flat" cmpd="sng" algn="ctr">
                      <a:solidFill>
                        <a:srgbClr val="F1F4F7"/>
                      </a:solidFill>
                      <a:prstDash val="solid"/>
                      <a:round/>
                      <a:headEnd type="none" w="med" len="med"/>
                      <a:tailEnd type="none" w="med" len="med"/>
                    </a:lnR>
                    <a:lnT w="12700" cap="flat" cmpd="sng" algn="ctr">
                      <a:solidFill>
                        <a:srgbClr val="F1F4F7"/>
                      </a:solidFill>
                      <a:prstDash val="solid"/>
                      <a:round/>
                      <a:headEnd type="none" w="med" len="med"/>
                      <a:tailEnd type="none" w="med" len="med"/>
                    </a:lnT>
                    <a:lnB w="12700" cap="flat" cmpd="sng" algn="ctr">
                      <a:solidFill>
                        <a:srgbClr val="F1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Standard access, can slow down</a:t>
                      </a:r>
                      <a:endParaRPr lang="en-US" sz="1500" dirty="0"/>
                    </a:p>
                  </a:txBody>
                  <a:tcPr marL="91440" marR="91440" marT="45720" marB="45720" anchor="ctr">
                    <a:lnL w="12700" cap="flat" cmpd="sng" algn="ctr">
                      <a:solidFill>
                        <a:srgbClr val="F1F4F7"/>
                      </a:solidFill>
                      <a:prstDash val="solid"/>
                      <a:round/>
                      <a:headEnd type="none" w="med" len="med"/>
                      <a:tailEnd type="none" w="med" len="med"/>
                    </a:lnL>
                    <a:lnR w="12700" cap="flat" cmpd="sng" algn="ctr">
                      <a:solidFill>
                        <a:srgbClr val="F1F4F7"/>
                      </a:solidFill>
                      <a:prstDash val="solid"/>
                      <a:round/>
                      <a:headEnd type="none" w="med" len="med"/>
                      <a:tailEnd type="none" w="med" len="med"/>
                    </a:lnR>
                    <a:lnT w="12700" cap="flat" cmpd="sng" algn="ctr">
                      <a:solidFill>
                        <a:srgbClr val="F1F4F7"/>
                      </a:solidFill>
                      <a:prstDash val="solid"/>
                      <a:round/>
                      <a:headEnd type="none" w="med" len="med"/>
                      <a:tailEnd type="none" w="med" len="med"/>
                    </a:lnT>
                    <a:lnB w="12700" cap="flat" cmpd="sng" algn="ctr">
                      <a:solidFill>
                        <a:srgbClr val="F1F4F7"/>
                      </a:solidFill>
                      <a:prstDash val="solid"/>
                      <a:round/>
                      <a:headEnd type="none" w="med" len="med"/>
                      <a:tailEnd type="none" w="med" len="med"/>
                    </a:lnB>
                    <a:solidFill>
                      <a:schemeClr val="bg1"/>
                    </a:solidFill>
                  </a:tcPr>
                </a:tc>
              </a:tr>
              <a:tr h="566928">
                <a:tc>
                  <a:txBody>
                    <a:bodyPr/>
                    <a:lstStyle/>
                    <a:p>
                      <a:pPr indent="0" marL="0">
                        <a:buNone/>
                      </a:pPr>
                      <a:r>
                        <a:rPr lang="en-US" sz="1500" b="1" dirty="0">
                          <a:solidFill>
                            <a:schemeClr val="tx1"/>
                          </a:solidFill>
                        </a:rPr>
                        <a:t>M365 Copilot (Premium)</a:t>
                      </a:r>
                      <a:endParaRPr lang="en-US" sz="1500" dirty="0"/>
                    </a:p>
                  </a:txBody>
                  <a:tcPr marL="91440" marR="91440" marT="45720" marB="45720" anchor="ctr">
                    <a:lnL w="12700" cap="flat" cmpd="sng" algn="ctr">
                      <a:solidFill>
                        <a:srgbClr val="F1F4F7"/>
                      </a:solidFill>
                      <a:prstDash val="solid"/>
                      <a:round/>
                      <a:headEnd type="none" w="med" len="med"/>
                      <a:tailEnd type="none" w="med" len="med"/>
                    </a:lnL>
                    <a:lnR w="12700" cap="flat" cmpd="sng" algn="ctr">
                      <a:solidFill>
                        <a:srgbClr val="F1F4F7"/>
                      </a:solidFill>
                      <a:prstDash val="solid"/>
                      <a:round/>
                      <a:headEnd type="none" w="med" len="med"/>
                      <a:tailEnd type="none" w="med" len="med"/>
                    </a:lnR>
                    <a:lnT w="12700" cap="flat" cmpd="sng" algn="ctr">
                      <a:solidFill>
                        <a:srgbClr val="F1F4F7"/>
                      </a:solidFill>
                      <a:prstDash val="solid"/>
                      <a:round/>
                      <a:headEnd type="none" w="med" len="med"/>
                      <a:tailEnd type="none" w="med" len="med"/>
                    </a:lnT>
                    <a:lnB w="12700" cap="flat" cmpd="sng" algn="ctr">
                      <a:solidFill>
                        <a:srgbClr val="F1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The paid Microsoft 365 Copilot license</a:t>
                      </a:r>
                      <a:endParaRPr lang="en-US" sz="1500" dirty="0"/>
                    </a:p>
                  </a:txBody>
                  <a:tcPr marL="91440" marR="91440" marT="45720" marB="45720" anchor="ctr">
                    <a:lnL w="12700" cap="flat" cmpd="sng" algn="ctr">
                      <a:solidFill>
                        <a:srgbClr val="F1F4F7"/>
                      </a:solidFill>
                      <a:prstDash val="solid"/>
                      <a:round/>
                      <a:headEnd type="none" w="med" len="med"/>
                      <a:tailEnd type="none" w="med" len="med"/>
                    </a:lnL>
                    <a:lnR w="12700" cap="flat" cmpd="sng" algn="ctr">
                      <a:solidFill>
                        <a:srgbClr val="F1F4F7"/>
                      </a:solidFill>
                      <a:prstDash val="solid"/>
                      <a:round/>
                      <a:headEnd type="none" w="med" len="med"/>
                      <a:tailEnd type="none" w="med" len="med"/>
                    </a:lnR>
                    <a:lnT w="12700" cap="flat" cmpd="sng" algn="ctr">
                      <a:solidFill>
                        <a:srgbClr val="F1F4F7"/>
                      </a:solidFill>
                      <a:prstDash val="solid"/>
                      <a:round/>
                      <a:headEnd type="none" w="med" len="med"/>
                      <a:tailEnd type="none" w="med" len="med"/>
                    </a:lnT>
                    <a:lnB w="12700" cap="flat" cmpd="sng" algn="ctr">
                      <a:solidFill>
                        <a:srgbClr val="F1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Yes, full features</a:t>
                      </a:r>
                      <a:endParaRPr lang="en-US" sz="1500" dirty="0"/>
                    </a:p>
                  </a:txBody>
                  <a:tcPr marL="91440" marR="91440" marT="45720" marB="45720" anchor="ctr">
                    <a:lnL w="12700" cap="flat" cmpd="sng" algn="ctr">
                      <a:solidFill>
                        <a:srgbClr val="F1F4F7"/>
                      </a:solidFill>
                      <a:prstDash val="solid"/>
                      <a:round/>
                      <a:headEnd type="none" w="med" len="med"/>
                      <a:tailEnd type="none" w="med" len="med"/>
                    </a:lnL>
                    <a:lnR w="12700" cap="flat" cmpd="sng" algn="ctr">
                      <a:solidFill>
                        <a:srgbClr val="F1F4F7"/>
                      </a:solidFill>
                      <a:prstDash val="solid"/>
                      <a:round/>
                      <a:headEnd type="none" w="med" len="med"/>
                      <a:tailEnd type="none" w="med" len="med"/>
                    </a:lnR>
                    <a:lnT w="12700" cap="flat" cmpd="sng" algn="ctr">
                      <a:solidFill>
                        <a:srgbClr val="F1F4F7"/>
                      </a:solidFill>
                      <a:prstDash val="solid"/>
                      <a:round/>
                      <a:headEnd type="none" w="med" len="med"/>
                      <a:tailEnd type="none" w="med" len="med"/>
                    </a:lnT>
                    <a:lnB w="12700" cap="flat" cmpd="sng" algn="ctr">
                      <a:solidFill>
                        <a:srgbClr val="F1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Priority access</a:t>
                      </a:r>
                      <a:endParaRPr lang="en-US" sz="1500" dirty="0"/>
                    </a:p>
                  </a:txBody>
                  <a:tcPr marL="91440" marR="91440" marT="45720" marB="45720" anchor="ctr">
                    <a:lnL w="12700" cap="flat" cmpd="sng" algn="ctr">
                      <a:solidFill>
                        <a:srgbClr val="F1F4F7"/>
                      </a:solidFill>
                      <a:prstDash val="solid"/>
                      <a:round/>
                      <a:headEnd type="none" w="med" len="med"/>
                      <a:tailEnd type="none" w="med" len="med"/>
                    </a:lnL>
                    <a:lnR w="12700" cap="flat" cmpd="sng" algn="ctr">
                      <a:solidFill>
                        <a:srgbClr val="F1F4F7"/>
                      </a:solidFill>
                      <a:prstDash val="solid"/>
                      <a:round/>
                      <a:headEnd type="none" w="med" len="med"/>
                      <a:tailEnd type="none" w="med" len="med"/>
                    </a:lnR>
                    <a:lnT w="12700" cap="flat" cmpd="sng" algn="ctr">
                      <a:solidFill>
                        <a:srgbClr val="F1F4F7"/>
                      </a:solidFill>
                      <a:prstDash val="solid"/>
                      <a:round/>
                      <a:headEnd type="none" w="med" len="med"/>
                      <a:tailEnd type="none" w="med" len="med"/>
                    </a:lnT>
                    <a:lnB w="12700" cap="flat" cmpd="sng" algn="ctr">
                      <a:solidFill>
                        <a:srgbClr val="F1F4F7"/>
                      </a:solidFill>
                      <a:prstDash val="solid"/>
                      <a:round/>
                      <a:headEnd type="none" w="med" len="med"/>
                      <a:tailEnd type="none" w="med" len="med"/>
                    </a:lnB>
                    <a:solidFill>
                      <a:schemeClr val="bg1"/>
                    </a:solidFill>
                  </a:tcPr>
                </a:tc>
              </a:tr>
            </a:tbl>
          </a:graphicData>
        </a:graphic>
      </p:graphicFrame>
      <p:sp>
        <p:nvSpPr>
          <p:cNvPr id="6" name="Consumer warning card"/>
          <p:cNvSpPr/>
          <p:nvPr/>
        </p:nvSpPr>
        <p:spPr>
          <a:xfrm>
            <a:off x="548640" y="4572000"/>
            <a:ext cx="11064240" cy="1371600"/>
          </a:xfrm>
          <a:prstGeom prst="roundRect">
            <a:avLst>
              <a:gd name="adj" fmla="val 5333"/>
            </a:avLst>
          </a:prstGeom>
          <a:solidFill>
            <a:schemeClr val="accent3">
              <a:alpha val="12000"/>
            </a:schemeClr>
          </a:solidFill>
          <a:ln/>
        </p:spPr>
      </p:sp>
      <p:sp>
        <p:nvSpPr>
          <p:cNvPr id="7" name="Icon circle"/>
          <p:cNvSpPr/>
          <p:nvPr/>
        </p:nvSpPr>
        <p:spPr>
          <a:xfrm>
            <a:off x="822960" y="4846320"/>
            <a:ext cx="822960" cy="822960"/>
          </a:xfrm>
          <a:prstGeom prst="ellipse">
            <a:avLst/>
          </a:prstGeom>
          <a:solidFill>
            <a:schemeClr val="accent3"/>
          </a:solidFill>
          <a:ln/>
        </p:spPr>
      </p:sp>
      <p:pic>
        <p:nvPicPr>
          <p:cNvPr id="8" name="Image 0" descr="preencoded.png">    </p:cNvPr>
          <p:cNvPicPr>
            <a:picLocks noChangeAspect="1"/>
          </p:cNvPicPr>
          <p:nvPr/>
        </p:nvPicPr>
        <p:blipFill>
          <a:blip r:embed="rId1"/>
          <a:stretch>
            <a:fillRect/>
          </a:stretch>
        </p:blipFill>
        <p:spPr>
          <a:xfrm>
            <a:off x="1028700" y="5052060"/>
            <a:ext cx="411480" cy="411480"/>
          </a:xfrm>
          <a:prstGeom prst="rect">
            <a:avLst/>
          </a:prstGeom>
        </p:spPr>
      </p:pic>
      <p:sp>
        <p:nvSpPr>
          <p:cNvPr id="9" name="Text 4"/>
          <p:cNvSpPr txBox="1"/>
          <p:nvPr/>
        </p:nvSpPr>
        <p:spPr>
          <a:xfrm>
            <a:off x="1874520" y="4663440"/>
            <a:ext cx="9509760" cy="1188720"/>
          </a:xfrm>
          <a:prstGeom prst="rect">
            <a:avLst/>
          </a:prstGeom>
          <a:noFill/>
          <a:ln/>
        </p:spPr>
        <p:txBody>
          <a:bodyPr wrap="square" lIns="0" tIns="0" rIns="0" bIns="0" rtlCol="0" anchor="ctr"/>
          <a:lstStyle/>
          <a:p>
            <a:pPr indent="0" marL="0">
              <a:buNone/>
            </a:pPr>
            <a:r>
              <a:rPr lang="en-US" sz="1600" b="1" dirty="0">
                <a:solidFill>
                  <a:schemeClr val="tx2"/>
                </a:solidFill>
              </a:rPr>
              <a:t>Microsoft Copilot is the consumer product.</a:t>
            </a:r>
            <a:endParaRPr lang="en-US" sz="1600" dirty="0"/>
          </a:p>
          <a:p>
            <a:pPr indent="0" marL="0">
              <a:buNone/>
            </a:pPr>
            <a:r>
              <a:rPr lang="en-US" sz="1600" dirty="0">
                <a:solidFill>
                  <a:schemeClr val="tx1"/>
                </a:solidFill>
              </a:rPr>
              <a:t>Signed in with a personal account, it has no green shield. Don't use it for company documents. Today's course is built for the two Basic labels.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CHAPTER 01</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No shield, no upload</a:t>
            </a:r>
            <a:endParaRPr lang="en-US" sz="3200" dirty="0"/>
          </a:p>
        </p:txBody>
      </p:sp>
      <p:sp>
        <p:nvSpPr>
          <p:cNvPr id="5" name="Screenshot frame"/>
          <p:cNvSpPr/>
          <p:nvPr/>
        </p:nvSpPr>
        <p:spPr>
          <a:xfrm>
            <a:off x="548640" y="1691640"/>
            <a:ext cx="6766560" cy="3806190"/>
          </a:xfrm>
          <a:prstGeom prst="rect">
            <a:avLst/>
          </a:prstGeom>
          <a:solidFill>
            <a:schemeClr val="bg1"/>
          </a:solidFill>
          <a:ln w="12700">
            <a:solidFill>
              <a:srgbClr val="F1F4F7"/>
            </a:solidFill>
            <a:prstDash val="solid"/>
          </a:ln>
          <a:effectLst>
            <a:outerShdw sx="100000" sy="100000" kx="0" ky="0" algn="bl" rotWithShape="0" blurRad="101600" dist="25400" dir="5400000">
              <a:srgbClr val="000000">
                <a:alpha val="18000"/>
              </a:srgbClr>
            </a:outerShdw>
          </a:effectLst>
        </p:spPr>
      </p:sp>
      <p:pic>
        <p:nvPicPr>
          <p:cNvPr id="6" name="Image 0" descr="The Copilot app with the green shield at the top right and its tooltip">    </p:cNvPr>
          <p:cNvPicPr>
            <a:picLocks noChangeAspect="1"/>
          </p:cNvPicPr>
          <p:nvPr/>
        </p:nvPicPr>
        <p:blipFill>
          <a:blip r:embed="rId1"/>
          <a:stretch>
            <a:fillRect/>
          </a:stretch>
        </p:blipFill>
        <p:spPr>
          <a:xfrm>
            <a:off x="548640" y="1691640"/>
            <a:ext cx="6766560" cy="3806190"/>
          </a:xfrm>
          <a:prstGeom prst="rect">
            <a:avLst/>
          </a:prstGeom>
        </p:spPr>
      </p:pic>
      <p:sp>
        <p:nvSpPr>
          <p:cNvPr id="7" name="Number 1"/>
          <p:cNvSpPr/>
          <p:nvPr/>
        </p:nvSpPr>
        <p:spPr>
          <a:xfrm>
            <a:off x="7680960" y="1783080"/>
            <a:ext cx="457200" cy="457200"/>
          </a:xfrm>
          <a:prstGeom prst="ellipse">
            <a:avLst/>
          </a:prstGeom>
          <a:solidFill>
            <a:schemeClr val="accent1"/>
          </a:solidFill>
          <a:ln/>
        </p:spPr>
      </p:sp>
      <p:sp>
        <p:nvSpPr>
          <p:cNvPr id="8" name="Text 4"/>
          <p:cNvSpPr txBox="1"/>
          <p:nvPr/>
        </p:nvSpPr>
        <p:spPr>
          <a:xfrm>
            <a:off x="768096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5"/>
          <p:cNvSpPr txBox="1"/>
          <p:nvPr/>
        </p:nvSpPr>
        <p:spPr>
          <a:xfrm>
            <a:off x="8275320" y="1673352"/>
            <a:ext cx="3383280" cy="731520"/>
          </a:xfrm>
          <a:prstGeom prst="rect">
            <a:avLst/>
          </a:prstGeom>
          <a:noFill/>
          <a:ln/>
        </p:spPr>
        <p:txBody>
          <a:bodyPr wrap="square" lIns="0" tIns="0" rIns="0" bIns="0" rtlCol="0" anchor="ctr"/>
          <a:lstStyle/>
          <a:p>
            <a:pPr indent="0" marL="0">
              <a:buNone/>
            </a:pPr>
            <a:r>
              <a:rPr lang="en-US" sz="1600" dirty="0">
                <a:solidFill>
                  <a:schemeClr val="tx1"/>
                </a:solidFill>
              </a:rPr>
              <a:t>Open m365.cloud.microsoft/chat with your work account</a:t>
            </a:r>
            <a:endParaRPr lang="en-US" sz="1600" dirty="0"/>
          </a:p>
        </p:txBody>
      </p:sp>
      <p:sp>
        <p:nvSpPr>
          <p:cNvPr id="10" name="Number 2"/>
          <p:cNvSpPr/>
          <p:nvPr/>
        </p:nvSpPr>
        <p:spPr>
          <a:xfrm>
            <a:off x="7680960" y="2770632"/>
            <a:ext cx="457200" cy="457200"/>
          </a:xfrm>
          <a:prstGeom prst="ellipse">
            <a:avLst/>
          </a:prstGeom>
          <a:solidFill>
            <a:schemeClr val="accent1"/>
          </a:solidFill>
          <a:ln/>
        </p:spPr>
      </p:sp>
      <p:sp>
        <p:nvSpPr>
          <p:cNvPr id="11" name="Text 7"/>
          <p:cNvSpPr txBox="1"/>
          <p:nvPr/>
        </p:nvSpPr>
        <p:spPr>
          <a:xfrm>
            <a:off x="7680960" y="27706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8"/>
          <p:cNvSpPr txBox="1"/>
          <p:nvPr/>
        </p:nvSpPr>
        <p:spPr>
          <a:xfrm>
            <a:off x="8275320" y="2660904"/>
            <a:ext cx="3383280" cy="731520"/>
          </a:xfrm>
          <a:prstGeom prst="rect">
            <a:avLst/>
          </a:prstGeom>
          <a:noFill/>
          <a:ln/>
        </p:spPr>
        <p:txBody>
          <a:bodyPr wrap="square" lIns="0" tIns="0" rIns="0" bIns="0" rtlCol="0" anchor="ctr"/>
          <a:lstStyle/>
          <a:p>
            <a:pPr indent="0" marL="0">
              <a:buNone/>
            </a:pPr>
            <a:r>
              <a:rPr lang="en-US" sz="1600" dirty="0">
                <a:solidFill>
                  <a:schemeClr val="tx1"/>
                </a:solidFill>
              </a:rPr>
              <a:t>Look for the small green shield at the top right</a:t>
            </a:r>
            <a:endParaRPr lang="en-US" sz="1600" dirty="0"/>
          </a:p>
        </p:txBody>
      </p:sp>
      <p:sp>
        <p:nvSpPr>
          <p:cNvPr id="13" name="Number 3"/>
          <p:cNvSpPr/>
          <p:nvPr/>
        </p:nvSpPr>
        <p:spPr>
          <a:xfrm>
            <a:off x="7680960" y="3758184"/>
            <a:ext cx="457200" cy="457200"/>
          </a:xfrm>
          <a:prstGeom prst="ellipse">
            <a:avLst/>
          </a:prstGeom>
          <a:solidFill>
            <a:schemeClr val="accent1"/>
          </a:solidFill>
          <a:ln/>
        </p:spPr>
      </p:sp>
      <p:sp>
        <p:nvSpPr>
          <p:cNvPr id="14" name="Text 10"/>
          <p:cNvSpPr txBox="1"/>
          <p:nvPr/>
        </p:nvSpPr>
        <p:spPr>
          <a:xfrm>
            <a:off x="7680960" y="37581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1"/>
          <p:cNvSpPr txBox="1"/>
          <p:nvPr/>
        </p:nvSpPr>
        <p:spPr>
          <a:xfrm>
            <a:off x="8275320" y="3648456"/>
            <a:ext cx="3383280" cy="731520"/>
          </a:xfrm>
          <a:prstGeom prst="rect">
            <a:avLst/>
          </a:prstGeom>
          <a:noFill/>
          <a:ln/>
        </p:spPr>
        <p:txBody>
          <a:bodyPr wrap="square" lIns="0" tIns="0" rIns="0" bIns="0" rtlCol="0" anchor="ctr"/>
          <a:lstStyle/>
          <a:p>
            <a:pPr indent="0" marL="0">
              <a:buNone/>
            </a:pPr>
            <a:r>
              <a:rPr lang="en-US" sz="1600" dirty="0">
                <a:solidFill>
                  <a:schemeClr val="tx1"/>
                </a:solidFill>
              </a:rPr>
              <a:t>Point at it: "Enterprise data protection applies to this chat"</a:t>
            </a:r>
            <a:endParaRPr lang="en-US" sz="1600" dirty="0"/>
          </a:p>
        </p:txBody>
      </p:sp>
      <p:sp>
        <p:nvSpPr>
          <p:cNvPr id="16" name="Number 4"/>
          <p:cNvSpPr/>
          <p:nvPr/>
        </p:nvSpPr>
        <p:spPr>
          <a:xfrm>
            <a:off x="7680960" y="4745736"/>
            <a:ext cx="457200" cy="457200"/>
          </a:xfrm>
          <a:prstGeom prst="ellipse">
            <a:avLst/>
          </a:prstGeom>
          <a:solidFill>
            <a:schemeClr val="accent1"/>
          </a:solidFill>
          <a:ln/>
        </p:spPr>
      </p:sp>
      <p:sp>
        <p:nvSpPr>
          <p:cNvPr id="17" name="Text 13"/>
          <p:cNvSpPr txBox="1"/>
          <p:nvPr/>
        </p:nvSpPr>
        <p:spPr>
          <a:xfrm>
            <a:off x="7680960" y="47457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4"/>
          <p:cNvSpPr txBox="1"/>
          <p:nvPr/>
        </p:nvSpPr>
        <p:spPr>
          <a:xfrm>
            <a:off x="8275320" y="4636008"/>
            <a:ext cx="3383280" cy="731520"/>
          </a:xfrm>
          <a:prstGeom prst="rect">
            <a:avLst/>
          </a:prstGeom>
          <a:noFill/>
          <a:ln/>
        </p:spPr>
        <p:txBody>
          <a:bodyPr wrap="square" lIns="0" tIns="0" rIns="0" bIns="0" rtlCol="0" anchor="ctr"/>
          <a:lstStyle/>
          <a:p>
            <a:pPr indent="0" marL="0">
              <a:buNone/>
            </a:pPr>
            <a:r>
              <a:rPr lang="en-US" sz="1600" dirty="0">
                <a:solidFill>
                  <a:schemeClr val="tx1"/>
                </a:solidFill>
              </a:rPr>
              <a:t>No shield? Sign out and sign back in with your work account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CHAPTER 01</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What Basic can't do, so you can stop looking for it</a:t>
            </a:r>
            <a:endParaRPr lang="en-US" sz="3200" dirty="0"/>
          </a:p>
        </p:txBody>
      </p:sp>
      <p:sp>
        <p:nvSpPr>
          <p:cNvPr id="5" name="In this course card"/>
          <p:cNvSpPr/>
          <p:nvPr/>
        </p:nvSpPr>
        <p:spPr>
          <a:xfrm>
            <a:off x="548640" y="1691640"/>
            <a:ext cx="5440680" cy="4251960"/>
          </a:xfrm>
          <a:prstGeom prst="roundRect">
            <a:avLst>
              <a:gd name="adj" fmla="val 1720"/>
            </a:avLst>
          </a:prstGeom>
          <a:solidFill>
            <a:schemeClr val="accent1">
              <a:alpha val="12000"/>
            </a:schemeClr>
          </a:solidFill>
          <a:ln/>
        </p:spPr>
      </p:sp>
      <p:sp>
        <p:nvSpPr>
          <p:cNvPr id="6" name="Icon circle"/>
          <p:cNvSpPr/>
          <p:nvPr/>
        </p:nvSpPr>
        <p:spPr>
          <a:xfrm>
            <a:off x="822960" y="1920240"/>
            <a:ext cx="640080" cy="640080"/>
          </a:xfrm>
          <a:prstGeom prst="ellipse">
            <a:avLst/>
          </a:prstGeom>
          <a:solidFill>
            <a:schemeClr val="accent1"/>
          </a:solidFill>
          <a:ln/>
        </p:spPr>
      </p:sp>
      <p:pic>
        <p:nvPicPr>
          <p:cNvPr id="7" name="Image 0" descr="preencoded.png">    </p:cNvPr>
          <p:cNvPicPr>
            <a:picLocks noChangeAspect="1"/>
          </p:cNvPicPr>
          <p:nvPr/>
        </p:nvPicPr>
        <p:blipFill>
          <a:blip r:embed="rId1"/>
          <a:stretch>
            <a:fillRect/>
          </a:stretch>
        </p:blipFill>
        <p:spPr>
          <a:xfrm>
            <a:off x="982980" y="2080260"/>
            <a:ext cx="320040" cy="320040"/>
          </a:xfrm>
          <a:prstGeom prst="rect">
            <a:avLst/>
          </a:prstGeom>
        </p:spPr>
      </p:pic>
      <p:sp>
        <p:nvSpPr>
          <p:cNvPr id="8" name="Text 4"/>
          <p:cNvSpPr txBox="1"/>
          <p:nvPr/>
        </p:nvSpPr>
        <p:spPr>
          <a:xfrm>
            <a:off x="1600200" y="1920240"/>
            <a:ext cx="4114800" cy="640080"/>
          </a:xfrm>
          <a:prstGeom prst="rect">
            <a:avLst/>
          </a:prstGeom>
          <a:noFill/>
          <a:ln/>
        </p:spPr>
        <p:txBody>
          <a:bodyPr wrap="square" lIns="0" tIns="0" rIns="0" bIns="0" rtlCol="0" anchor="ctr"/>
          <a:lstStyle/>
          <a:p>
            <a:pPr indent="0" marL="0">
              <a:buNone/>
            </a:pPr>
            <a:r>
              <a:rPr lang="en-US" sz="2000" b="1" dirty="0">
                <a:solidFill>
                  <a:schemeClr val="tx2"/>
                </a:solidFill>
              </a:rPr>
              <a:t>In this course</a:t>
            </a:r>
            <a:endParaRPr lang="en-US" sz="2000" dirty="0"/>
          </a:p>
        </p:txBody>
      </p:sp>
      <p:sp>
        <p:nvSpPr>
          <p:cNvPr id="9" name="Text 5"/>
          <p:cNvSpPr txBox="1"/>
          <p:nvPr/>
        </p:nvSpPr>
        <p:spPr>
          <a:xfrm>
            <a:off x="822960" y="2743200"/>
            <a:ext cx="4937760" cy="301752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chemeClr val="tx1"/>
                </a:solidFill>
              </a:rPr>
              <a:t>Copilot Chat with the web and files you upload</a:t>
            </a:r>
            <a:endParaRPr lang="en-US" sz="1800" dirty="0"/>
          </a:p>
          <a:p>
            <a:pPr marL="342900" indent="-342900">
              <a:spcAft>
                <a:spcPts val="1400"/>
              </a:spcAft>
              <a:buSzPct val="100000"/>
              <a:buChar char="•"/>
            </a:pPr>
            <a:r>
              <a:rPr lang="en-US" sz="1800" dirty="0">
                <a:solidFill>
                  <a:schemeClr val="tx1"/>
                </a:solidFill>
              </a:rPr>
              <a:t>Copilot in Outlook, for the open email</a:t>
            </a:r>
            <a:endParaRPr lang="en-US" sz="1800" dirty="0"/>
          </a:p>
          <a:p>
            <a:pPr marL="342900" indent="-342900">
              <a:spcAft>
                <a:spcPts val="1400"/>
              </a:spcAft>
              <a:buSzPct val="100000"/>
              <a:buChar char="•"/>
            </a:pPr>
            <a:r>
              <a:rPr lang="en-US" sz="1800" dirty="0">
                <a:solidFill>
                  <a:schemeClr val="tx1"/>
                </a:solidFill>
              </a:rPr>
              <a:t>Pages, Notebooks and the Prompt Gallery</a:t>
            </a:r>
            <a:endParaRPr lang="en-US" sz="1800" dirty="0"/>
          </a:p>
          <a:p>
            <a:pPr marL="342900" indent="-342900">
              <a:spcAft>
                <a:spcPts val="1400"/>
              </a:spcAft>
              <a:buSzPct val="100000"/>
              <a:buChar char="•"/>
            </a:pPr>
            <a:r>
              <a:rPr lang="en-US" sz="1800" dirty="0">
                <a:solidFill>
                  <a:schemeClr val="tx1"/>
                </a:solidFill>
              </a:rPr>
              <a:t>Agent Builder with instructions and public websites</a:t>
            </a:r>
            <a:endParaRPr lang="en-US" sz="1800" dirty="0"/>
          </a:p>
          <a:p>
            <a:pPr marL="342900" indent="-342900">
              <a:spcAft>
                <a:spcPts val="1400"/>
              </a:spcAft>
              <a:buSzPct val="100000"/>
              <a:buChar char="•"/>
            </a:pPr>
            <a:r>
              <a:rPr lang="en-US" sz="1800" dirty="0">
                <a:solidFill>
                  <a:schemeClr val="tx1"/>
                </a:solidFill>
              </a:rPr>
              <a:t>Custom instructions and memory</a:t>
            </a:r>
            <a:endParaRPr lang="en-US" sz="1800" dirty="0"/>
          </a:p>
        </p:txBody>
      </p:sp>
      <p:sp>
        <p:nvSpPr>
          <p:cNvPr id="10" name="Paid license card"/>
          <p:cNvSpPr/>
          <p:nvPr/>
        </p:nvSpPr>
        <p:spPr>
          <a:xfrm>
            <a:off x="6172200" y="1691640"/>
            <a:ext cx="5440680" cy="4251960"/>
          </a:xfrm>
          <a:prstGeom prst="roundRect">
            <a:avLst>
              <a:gd name="adj" fmla="val 1720"/>
            </a:avLst>
          </a:prstGeom>
          <a:solidFill>
            <a:schemeClr val="bg2"/>
          </a:solidFill>
          <a:ln/>
        </p:spPr>
      </p:sp>
      <p:sp>
        <p:nvSpPr>
          <p:cNvPr id="11" name="Icon circle"/>
          <p:cNvSpPr/>
          <p:nvPr/>
        </p:nvSpPr>
        <p:spPr>
          <a:xfrm>
            <a:off x="6446520" y="1920240"/>
            <a:ext cx="640080" cy="640080"/>
          </a:xfrm>
          <a:prstGeom prst="ellipse">
            <a:avLst/>
          </a:prstGeom>
          <a:solidFill>
            <a:schemeClr val="accent4"/>
          </a:solidFill>
          <a:ln/>
        </p:spPr>
      </p:sp>
      <p:pic>
        <p:nvPicPr>
          <p:cNvPr id="12" name="Image 1" descr="preencoded.png">    </p:cNvPr>
          <p:cNvPicPr>
            <a:picLocks noChangeAspect="1"/>
          </p:cNvPicPr>
          <p:nvPr/>
        </p:nvPicPr>
        <p:blipFill>
          <a:blip r:embed="rId2"/>
          <a:stretch>
            <a:fillRect/>
          </a:stretch>
        </p:blipFill>
        <p:spPr>
          <a:xfrm>
            <a:off x="6606540" y="2080260"/>
            <a:ext cx="320040" cy="320040"/>
          </a:xfrm>
          <a:prstGeom prst="rect">
            <a:avLst/>
          </a:prstGeom>
        </p:spPr>
      </p:pic>
      <p:sp>
        <p:nvSpPr>
          <p:cNvPr id="13" name="Text 8"/>
          <p:cNvSpPr txBox="1"/>
          <p:nvPr/>
        </p:nvSpPr>
        <p:spPr>
          <a:xfrm>
            <a:off x="7223760" y="1920240"/>
            <a:ext cx="4206240" cy="640080"/>
          </a:xfrm>
          <a:prstGeom prst="rect">
            <a:avLst/>
          </a:prstGeom>
          <a:noFill/>
          <a:ln/>
        </p:spPr>
        <p:txBody>
          <a:bodyPr wrap="square" lIns="0" tIns="0" rIns="0" bIns="0" rtlCol="0" anchor="ctr"/>
          <a:lstStyle/>
          <a:p>
            <a:pPr indent="0" marL="0">
              <a:buNone/>
            </a:pPr>
            <a:r>
              <a:rPr lang="en-US" sz="2000" b="1" dirty="0">
                <a:solidFill>
                  <a:schemeClr val="tx2"/>
                </a:solidFill>
              </a:rPr>
              <a:t>Needs the paid license</a:t>
            </a:r>
            <a:endParaRPr lang="en-US" sz="2000" dirty="0"/>
          </a:p>
        </p:txBody>
      </p:sp>
      <p:sp>
        <p:nvSpPr>
          <p:cNvPr id="14" name="Text 9"/>
          <p:cNvSpPr txBox="1"/>
          <p:nvPr/>
        </p:nvSpPr>
        <p:spPr>
          <a:xfrm>
            <a:off x="6446520" y="2743200"/>
            <a:ext cx="4937760" cy="301752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chemeClr val="tx1"/>
                </a:solidFill>
              </a:rPr>
              <a:t>Researcher and Analyst</a:t>
            </a:r>
            <a:endParaRPr lang="en-US" sz="1800" dirty="0"/>
          </a:p>
          <a:p>
            <a:pPr marL="342900" indent="-342900">
              <a:spcAft>
                <a:spcPts val="1400"/>
              </a:spcAft>
              <a:buSzPct val="100000"/>
              <a:buChar char="•"/>
            </a:pPr>
            <a:r>
              <a:rPr lang="en-US" sz="1800" dirty="0">
                <a:solidFill>
                  <a:schemeClr val="tx1"/>
                </a:solidFill>
              </a:rPr>
              <a:t>Cowork</a:t>
            </a:r>
            <a:endParaRPr lang="en-US" sz="1800" dirty="0"/>
          </a:p>
          <a:p>
            <a:pPr marL="342900" indent="-342900">
              <a:spcAft>
                <a:spcPts val="1400"/>
              </a:spcAft>
              <a:buSzPct val="100000"/>
              <a:buChar char="•"/>
            </a:pPr>
            <a:r>
              <a:rPr lang="en-US" sz="1800" dirty="0">
                <a:solidFill>
                  <a:schemeClr val="tx1"/>
                </a:solidFill>
              </a:rPr>
              <a:t>Searching your work files, Teams chats and meetings</a:t>
            </a:r>
            <a:endParaRPr lang="en-US" sz="1800" dirty="0"/>
          </a:p>
          <a:p>
            <a:pPr marL="342900" indent="-342900">
              <a:spcAft>
                <a:spcPts val="1400"/>
              </a:spcAft>
              <a:buSzPct val="100000"/>
              <a:buChar char="•"/>
            </a:pPr>
            <a:r>
              <a:rPr lang="en-US" sz="1800" dirty="0">
                <a:solidFill>
                  <a:schemeClr val="tx1"/>
                </a:solidFill>
              </a:rPr>
              <a:t>Agents with SharePoint or file knowledge</a:t>
            </a:r>
            <a:endParaRPr lang="en-US" sz="1800" dirty="0"/>
          </a:p>
          <a:p>
            <a:pPr marL="342900" indent="-342900">
              <a:spcAft>
                <a:spcPts val="1400"/>
              </a:spcAft>
              <a:buSzPct val="100000"/>
              <a:buChar char="•"/>
            </a:pPr>
            <a:r>
              <a:rPr lang="en-US" sz="1800" dirty="0">
                <a:solidFill>
                  <a:schemeClr val="tx1"/>
                </a:solidFill>
              </a:rPr>
              <a:t>Custom skills, voice, priority access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YOUR TURN  ·  CHAPTER 01</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Find your label and check the shield</a:t>
            </a:r>
            <a:endParaRPr lang="en-US" sz="3200" dirty="0"/>
          </a:p>
        </p:txBody>
      </p:sp>
      <p:sp>
        <p:nvSpPr>
          <p:cNvPr id="5" name="Number 1"/>
          <p:cNvSpPr/>
          <p:nvPr/>
        </p:nvSpPr>
        <p:spPr>
          <a:xfrm>
            <a:off x="548640" y="1792224"/>
            <a:ext cx="457200" cy="457200"/>
          </a:xfrm>
          <a:prstGeom prst="ellipse">
            <a:avLst/>
          </a:prstGeom>
          <a:solidFill>
            <a:schemeClr val="accent1"/>
          </a:solidFill>
          <a:ln/>
        </p:spPr>
      </p:sp>
      <p:sp>
        <p:nvSpPr>
          <p:cNvPr id="6" name="Text 3"/>
          <p:cNvSpPr txBox="1"/>
          <p:nvPr/>
        </p:nvSpPr>
        <p:spPr>
          <a:xfrm>
            <a:off x="548640" y="179222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4"/>
          <p:cNvSpPr txBox="1"/>
          <p:nvPr/>
        </p:nvSpPr>
        <p:spPr>
          <a:xfrm>
            <a:off x="1188720" y="1691640"/>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1.1  </a:t>
            </a:r>
            <a:pPr indent="0" marL="0">
              <a:buNone/>
            </a:pPr>
            <a:r>
              <a:rPr lang="en-US" sz="1600" dirty="0">
                <a:solidFill>
                  <a:schemeClr val="tx1"/>
                </a:solidFill>
              </a:rPr>
              <a:t>Find your Copilot label under your name, bottom left</a:t>
            </a:r>
            <a:endParaRPr lang="en-US" sz="1600" dirty="0"/>
          </a:p>
        </p:txBody>
      </p:sp>
      <p:sp>
        <p:nvSpPr>
          <p:cNvPr id="8" name="Number 2"/>
          <p:cNvSpPr/>
          <p:nvPr/>
        </p:nvSpPr>
        <p:spPr>
          <a:xfrm>
            <a:off x="548640" y="2450592"/>
            <a:ext cx="457200" cy="457200"/>
          </a:xfrm>
          <a:prstGeom prst="ellipse">
            <a:avLst/>
          </a:prstGeom>
          <a:solidFill>
            <a:schemeClr val="accent1"/>
          </a:solidFill>
          <a:ln/>
        </p:spPr>
      </p:sp>
      <p:sp>
        <p:nvSpPr>
          <p:cNvPr id="9" name="Text 6"/>
          <p:cNvSpPr txBox="1"/>
          <p:nvPr/>
        </p:nvSpPr>
        <p:spPr>
          <a:xfrm>
            <a:off x="548640" y="24505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1188720" y="2350008"/>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1.3  </a:t>
            </a:r>
            <a:pPr indent="0" marL="0">
              <a:buNone/>
            </a:pPr>
            <a:r>
              <a:rPr lang="en-US" sz="1600" dirty="0">
                <a:solidFill>
                  <a:schemeClr val="tx1"/>
                </a:solidFill>
              </a:rPr>
              <a:t>Point at the green shield and read the tooltip</a:t>
            </a:r>
            <a:endParaRPr lang="en-US" sz="1600" dirty="0"/>
          </a:p>
        </p:txBody>
      </p:sp>
      <p:sp>
        <p:nvSpPr>
          <p:cNvPr id="11" name="Number 3"/>
          <p:cNvSpPr/>
          <p:nvPr/>
        </p:nvSpPr>
        <p:spPr>
          <a:xfrm>
            <a:off x="548640" y="3108960"/>
            <a:ext cx="457200" cy="457200"/>
          </a:xfrm>
          <a:prstGeom prst="ellipse">
            <a:avLst/>
          </a:prstGeom>
          <a:solidFill>
            <a:schemeClr val="accent1"/>
          </a:solidFill>
          <a:ln/>
        </p:spPr>
      </p:sp>
      <p:sp>
        <p:nvSpPr>
          <p:cNvPr id="12" name="Text 9"/>
          <p:cNvSpPr txBox="1"/>
          <p:nvPr/>
        </p:nvSpPr>
        <p:spPr>
          <a:xfrm>
            <a:off x="548640" y="31089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0"/>
          <p:cNvSpPr txBox="1"/>
          <p:nvPr/>
        </p:nvSpPr>
        <p:spPr>
          <a:xfrm>
            <a:off x="1188720" y="3008376"/>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1.5  </a:t>
            </a:r>
            <a:pPr indent="0" marL="0">
              <a:buNone/>
            </a:pPr>
            <a:r>
              <a:rPr lang="en-US" sz="1600" dirty="0">
                <a:solidFill>
                  <a:schemeClr val="tx1"/>
                </a:solidFill>
              </a:rPr>
              <a:t>Run your first safe prompt, about enterprise data protection</a:t>
            </a:r>
            <a:endParaRPr lang="en-US" sz="1600" dirty="0"/>
          </a:p>
        </p:txBody>
      </p:sp>
      <p:sp>
        <p:nvSpPr>
          <p:cNvPr id="14" name="Number 4"/>
          <p:cNvSpPr/>
          <p:nvPr/>
        </p:nvSpPr>
        <p:spPr>
          <a:xfrm>
            <a:off x="548640" y="3767328"/>
            <a:ext cx="457200" cy="457200"/>
          </a:xfrm>
          <a:prstGeom prst="ellipse">
            <a:avLst/>
          </a:prstGeom>
          <a:solidFill>
            <a:schemeClr val="accent1"/>
          </a:solidFill>
          <a:ln/>
        </p:spPr>
      </p:sp>
      <p:sp>
        <p:nvSpPr>
          <p:cNvPr id="15" name="Text 12"/>
          <p:cNvSpPr txBox="1"/>
          <p:nvPr/>
        </p:nvSpPr>
        <p:spPr>
          <a:xfrm>
            <a:off x="548640" y="3767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6" name="Text 13"/>
          <p:cNvSpPr txBox="1"/>
          <p:nvPr/>
        </p:nvSpPr>
        <p:spPr>
          <a:xfrm>
            <a:off x="1188720" y="3666744"/>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1.5  </a:t>
            </a:r>
            <a:pPr indent="0" marL="0">
              <a:buNone/>
            </a:pPr>
            <a:r>
              <a:rPr lang="en-US" sz="1600" dirty="0">
                <a:solidFill>
                  <a:schemeClr val="tx1"/>
                </a:solidFill>
              </a:rPr>
              <a:t>Find the small grey source labels and the Sources button</a:t>
            </a:r>
            <a:endParaRPr lang="en-US" sz="1600" dirty="0"/>
          </a:p>
        </p:txBody>
      </p:sp>
      <p:sp>
        <p:nvSpPr>
          <p:cNvPr id="17" name="Checkpoint card"/>
          <p:cNvSpPr/>
          <p:nvPr/>
        </p:nvSpPr>
        <p:spPr>
          <a:xfrm>
            <a:off x="7680960" y="1691640"/>
            <a:ext cx="3959352" cy="2743200"/>
          </a:xfrm>
          <a:prstGeom prst="roundRect">
            <a:avLst>
              <a:gd name="adj" fmla="val 2667"/>
            </a:avLst>
          </a:prstGeom>
          <a:solidFill>
            <a:schemeClr val="accent1">
              <a:alpha val="12000"/>
            </a:schemeClr>
          </a:solidFill>
          <a:ln/>
        </p:spPr>
      </p:sp>
      <p:sp>
        <p:nvSpPr>
          <p:cNvPr id="18" name="Icon circle"/>
          <p:cNvSpPr/>
          <p:nvPr/>
        </p:nvSpPr>
        <p:spPr>
          <a:xfrm>
            <a:off x="7955280" y="1920240"/>
            <a:ext cx="548640" cy="548640"/>
          </a:xfrm>
          <a:prstGeom prst="ellipse">
            <a:avLst/>
          </a:prstGeom>
          <a:solidFill>
            <a:schemeClr val="accent1"/>
          </a:solidFill>
          <a:ln/>
        </p:spPr>
      </p:sp>
      <p:pic>
        <p:nvPicPr>
          <p:cNvPr id="19" name="Image 0" descr="preencoded.png">    </p:cNvPr>
          <p:cNvPicPr>
            <a:picLocks noChangeAspect="1"/>
          </p:cNvPicPr>
          <p:nvPr/>
        </p:nvPicPr>
        <p:blipFill>
          <a:blip r:embed="rId1"/>
          <a:stretch>
            <a:fillRect/>
          </a:stretch>
        </p:blipFill>
        <p:spPr>
          <a:xfrm>
            <a:off x="8092440" y="2057400"/>
            <a:ext cx="274320" cy="274320"/>
          </a:xfrm>
          <a:prstGeom prst="rect">
            <a:avLst/>
          </a:prstGeom>
        </p:spPr>
      </p:pic>
      <p:sp>
        <p:nvSpPr>
          <p:cNvPr id="20" name="Text 16"/>
          <p:cNvSpPr txBox="1"/>
          <p:nvPr/>
        </p:nvSpPr>
        <p:spPr>
          <a:xfrm>
            <a:off x="8641080" y="1920240"/>
            <a:ext cx="2834640" cy="548640"/>
          </a:xfrm>
          <a:prstGeom prst="rect">
            <a:avLst/>
          </a:prstGeom>
          <a:noFill/>
          <a:ln/>
        </p:spPr>
        <p:txBody>
          <a:bodyPr wrap="square" lIns="0" tIns="0" rIns="0" bIns="0" rtlCol="0" anchor="ctr"/>
          <a:lstStyle/>
          <a:p>
            <a:pPr indent="0" marL="0">
              <a:buNone/>
            </a:pPr>
            <a:r>
              <a:rPr lang="en-US" sz="1800" b="1" dirty="0">
                <a:solidFill>
                  <a:schemeClr val="tx2"/>
                </a:solidFill>
              </a:rPr>
              <a:t>Checkpoint</a:t>
            </a:r>
            <a:endParaRPr lang="en-US" sz="1800" dirty="0"/>
          </a:p>
        </p:txBody>
      </p:sp>
      <p:sp>
        <p:nvSpPr>
          <p:cNvPr id="21" name="Text 17"/>
          <p:cNvSpPr txBox="1"/>
          <p:nvPr/>
        </p:nvSpPr>
        <p:spPr>
          <a:xfrm>
            <a:off x="7955280" y="2606040"/>
            <a:ext cx="3474720" cy="1737360"/>
          </a:xfrm>
          <a:prstGeom prst="rect">
            <a:avLst/>
          </a:prstGeom>
          <a:noFill/>
          <a:ln/>
        </p:spPr>
        <p:txBody>
          <a:bodyPr wrap="square" lIns="0" tIns="0" rIns="0" bIns="0" rtlCol="0" anchor="t"/>
          <a:lstStyle/>
          <a:p>
            <a:pPr indent="0" marL="0">
              <a:buNone/>
            </a:pPr>
            <a:r>
              <a:rPr lang="en-US" sz="1500" dirty="0">
                <a:solidFill>
                  <a:schemeClr val="tx1"/>
                </a:solidFill>
              </a:rPr>
              <a:t>You know your label, you can see the green shield, and Copilot has answered your first prompt with sources.</a:t>
            </a:r>
            <a:endParaRPr lang="en-US" sz="1500" dirty="0"/>
          </a:p>
        </p:txBody>
      </p:sp>
      <p:sp>
        <p:nvSpPr>
          <p:cNvPr id="22" name="Prompts card"/>
          <p:cNvSpPr/>
          <p:nvPr/>
        </p:nvSpPr>
        <p:spPr>
          <a:xfrm>
            <a:off x="7680960" y="4617720"/>
            <a:ext cx="3959352" cy="1234440"/>
          </a:xfrm>
          <a:prstGeom prst="roundRect">
            <a:avLst>
              <a:gd name="adj" fmla="val 5926"/>
            </a:avLst>
          </a:prstGeom>
          <a:solidFill>
            <a:schemeClr val="bg2"/>
          </a:solidFill>
          <a:ln/>
        </p:spPr>
      </p:sp>
      <p:sp>
        <p:nvSpPr>
          <p:cNvPr id="23" name="Icon circle"/>
          <p:cNvSpPr/>
          <p:nvPr/>
        </p:nvSpPr>
        <p:spPr>
          <a:xfrm>
            <a:off x="7955280" y="4892040"/>
            <a:ext cx="548640" cy="548640"/>
          </a:xfrm>
          <a:prstGeom prst="ellipse">
            <a:avLst/>
          </a:prstGeom>
          <a:solidFill>
            <a:schemeClr val="tx2"/>
          </a:solidFill>
          <a:ln/>
        </p:spPr>
      </p:sp>
      <p:pic>
        <p:nvPicPr>
          <p:cNvPr id="24" name="Image 1" descr="preencoded.png">    </p:cNvPr>
          <p:cNvPicPr>
            <a:picLocks noChangeAspect="1"/>
          </p:cNvPicPr>
          <p:nvPr/>
        </p:nvPicPr>
        <p:blipFill>
          <a:blip r:embed="rId2"/>
          <a:stretch>
            <a:fillRect/>
          </a:stretch>
        </p:blipFill>
        <p:spPr>
          <a:xfrm>
            <a:off x="8092440" y="5029200"/>
            <a:ext cx="274320" cy="274320"/>
          </a:xfrm>
          <a:prstGeom prst="rect">
            <a:avLst/>
          </a:prstGeom>
        </p:spPr>
      </p:pic>
      <p:sp>
        <p:nvSpPr>
          <p:cNvPr id="25" name="Text 20"/>
          <p:cNvSpPr txBox="1"/>
          <p:nvPr/>
        </p:nvSpPr>
        <p:spPr>
          <a:xfrm>
            <a:off x="8641080" y="4754880"/>
            <a:ext cx="2834640" cy="868680"/>
          </a:xfrm>
          <a:prstGeom prst="rect">
            <a:avLst/>
          </a:prstGeom>
          <a:noFill/>
          <a:ln/>
        </p:spPr>
        <p:txBody>
          <a:bodyPr wrap="square" lIns="0" tIns="0" rIns="0" bIns="0" rtlCol="0" anchor="ctr"/>
          <a:lstStyle/>
          <a:p>
            <a:pPr indent="0" marL="0">
              <a:buNone/>
            </a:pPr>
            <a:r>
              <a:rPr lang="en-US" sz="1600" b="1" dirty="0">
                <a:solidFill>
                  <a:schemeClr val="tx2"/>
                </a:solidFill>
              </a:rPr>
              <a:t>Prompts page</a:t>
            </a:r>
            <a:endParaRPr lang="en-US" sz="1600" dirty="0"/>
          </a:p>
          <a:p>
            <a:pPr indent="0" marL="0">
              <a:buNone/>
            </a:pPr>
            <a:r>
              <a:rPr lang="en-US" sz="1300" dirty="0">
                <a:solidFill>
                  <a:schemeClr val="accent4"/>
                </a:solidFill>
              </a:rPr>
              <a:t>Chapter 01: copy every prompt from there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731520" y="100584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02</a:t>
            </a:r>
            <a:endParaRPr lang="en-US" sz="9600" dirty="0"/>
          </a:p>
        </p:txBody>
      </p:sp>
      <p:sp>
        <p:nvSpPr>
          <p:cNvPr id="3" name="Text 0"/>
          <p:cNvSpPr/>
          <p:nvPr>
            <p:ph idx="101" type="title" hasCustomPrompt="1"/>
          </p:nvPr>
        </p:nvSpPr>
        <p:spPr>
          <a:xfrm>
            <a:off x="731520" y="256032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Find your way around</a:t>
            </a:r>
            <a:endParaRPr lang="en-US" sz="4400" dirty="0"/>
          </a:p>
        </p:txBody>
      </p:sp>
      <p:sp>
        <p:nvSpPr>
          <p:cNvPr id="4" name="Text 0"/>
          <p:cNvSpPr/>
          <p:nvPr>
            <p:ph idx="102" type="body" hasCustomPrompt="1"/>
          </p:nvPr>
        </p:nvSpPr>
        <p:spPr>
          <a:xfrm>
            <a:off x="731520" y="3840480"/>
            <a:ext cx="9601200" cy="1463040"/>
          </a:xfrm>
          <a:prstGeom prst="rect">
            <a:avLst/>
          </a:prstGeom>
          <a:noFill/>
          <a:ln/>
        </p:spPr>
        <p:txBody>
          <a:bodyPr wrap="square" lIns="0" tIns="0" rIns="0" bIns="0" rtlCol="0" anchor="t"/>
          <a:lstStyle/>
          <a:p>
            <a:pPr indent="0" marL="0">
              <a:buNone/>
            </a:pPr>
            <a:r>
              <a:rPr lang="en-US" sz="1800" b="1" dirty="0">
                <a:solidFill>
                  <a:schemeClr val="bg1"/>
                </a:solidFill>
              </a:rPr>
              <a:t>Stage: Explore  ·  30 minutes</a:t>
            </a:r>
            <a:endParaRPr lang="en-US" sz="1800" dirty="0"/>
          </a:p>
          <a:p>
            <a:pPr indent="0" marL="0">
              <a:buNone/>
            </a:pPr>
            <a:r>
              <a:rPr lang="en-US" sz="800" dirty="0">
                <a:solidFill>
                  <a:schemeClr val="bg2"/>
                </a:solidFill>
              </a:rPr>
              <a:t> </a:t>
            </a:r>
            <a:endParaRPr lang="en-US" sz="1800" dirty="0"/>
          </a:p>
          <a:p>
            <a:pPr indent="0" marL="0">
              <a:buNone/>
            </a:pPr>
            <a:r>
              <a:rPr lang="en-US" sz="1800" b="1" dirty="0">
                <a:solidFill>
                  <a:schemeClr val="bg2"/>
                </a:solidFill>
              </a:rPr>
              <a:t>Your result: </a:t>
            </a:r>
            <a:pPr indent="0" marL="0">
              <a:buNone/>
            </a:pPr>
            <a:r>
              <a:rPr lang="en-US" sz="1800" dirty="0">
                <a:solidFill>
                  <a:schemeClr val="bg2"/>
                </a:solidFill>
              </a:rPr>
              <a:t>a named chat about laptop quotations that you can find again, and a copied answer you can share.</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CHAPTER 02</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Four ways in, one Copilot Chat</a:t>
            </a:r>
            <a:endParaRPr lang="en-US" sz="3200" dirty="0"/>
          </a:p>
        </p:txBody>
      </p:sp>
      <p:sp>
        <p:nvSpPr>
          <p:cNvPr id="5" name="Way in card"/>
          <p:cNvSpPr/>
          <p:nvPr/>
        </p:nvSpPr>
        <p:spPr>
          <a:xfrm>
            <a:off x="548640" y="1783080"/>
            <a:ext cx="2633472" cy="3931920"/>
          </a:xfrm>
          <a:prstGeom prst="roundRect">
            <a:avLst>
              <a:gd name="adj" fmla="val 2778"/>
            </a:avLst>
          </a:prstGeom>
          <a:solidFill>
            <a:schemeClr val="tx2"/>
          </a:solidFill>
          <a:ln/>
        </p:spPr>
      </p:sp>
      <p:sp>
        <p:nvSpPr>
          <p:cNvPr id="6" name="Icon circle"/>
          <p:cNvSpPr/>
          <p:nvPr/>
        </p:nvSpPr>
        <p:spPr>
          <a:xfrm>
            <a:off x="822960" y="2103120"/>
            <a:ext cx="822960" cy="822960"/>
          </a:xfrm>
          <a:prstGeom prst="ellipse">
            <a:avLst/>
          </a:prstGeom>
          <a:solidFill>
            <a:schemeClr val="accent1"/>
          </a:solidFill>
          <a:ln/>
        </p:spPr>
      </p:sp>
      <p:pic>
        <p:nvPicPr>
          <p:cNvPr id="7" name="Image 0" descr="preencoded.png">    </p:cNvPr>
          <p:cNvPicPr>
            <a:picLocks noChangeAspect="1"/>
          </p:cNvPicPr>
          <p:nvPr/>
        </p:nvPicPr>
        <p:blipFill>
          <a:blip r:embed="rId1"/>
          <a:stretch>
            <a:fillRect/>
          </a:stretch>
        </p:blipFill>
        <p:spPr>
          <a:xfrm>
            <a:off x="1028700" y="2308860"/>
            <a:ext cx="411480" cy="411480"/>
          </a:xfrm>
          <a:prstGeom prst="rect">
            <a:avLst/>
          </a:prstGeom>
        </p:spPr>
      </p:pic>
      <p:sp>
        <p:nvSpPr>
          <p:cNvPr id="8" name="Text 4"/>
          <p:cNvSpPr txBox="1"/>
          <p:nvPr/>
        </p:nvSpPr>
        <p:spPr>
          <a:xfrm>
            <a:off x="822960" y="3154680"/>
            <a:ext cx="2194560" cy="457200"/>
          </a:xfrm>
          <a:prstGeom prst="rect">
            <a:avLst/>
          </a:prstGeom>
          <a:noFill/>
          <a:ln/>
        </p:spPr>
        <p:txBody>
          <a:bodyPr wrap="square" lIns="0" tIns="0" rIns="0" bIns="0" rtlCol="0" anchor="ctr"/>
          <a:lstStyle/>
          <a:p>
            <a:pPr indent="0" marL="0">
              <a:buNone/>
            </a:pPr>
            <a:r>
              <a:rPr lang="en-US" sz="2000" b="1" dirty="0">
                <a:solidFill>
                  <a:schemeClr val="bg1"/>
                </a:solidFill>
              </a:rPr>
              <a:t>Copilot app</a:t>
            </a:r>
            <a:endParaRPr lang="en-US" sz="2000" dirty="0"/>
          </a:p>
        </p:txBody>
      </p:sp>
      <p:sp>
        <p:nvSpPr>
          <p:cNvPr id="9" name="Text 5"/>
          <p:cNvSpPr txBox="1"/>
          <p:nvPr/>
        </p:nvSpPr>
        <p:spPr>
          <a:xfrm>
            <a:off x="822960" y="3657600"/>
            <a:ext cx="2148840" cy="1828800"/>
          </a:xfrm>
          <a:prstGeom prst="rect">
            <a:avLst/>
          </a:prstGeom>
          <a:noFill/>
          <a:ln/>
        </p:spPr>
        <p:txBody>
          <a:bodyPr wrap="square" lIns="0" tIns="0" rIns="0" bIns="0" rtlCol="0" anchor="t"/>
          <a:lstStyle/>
          <a:p>
            <a:pPr indent="0" marL="0">
              <a:buNone/>
            </a:pPr>
            <a:r>
              <a:rPr lang="en-US" sz="1600" dirty="0">
                <a:solidFill>
                  <a:schemeClr val="bg1"/>
                </a:solidFill>
              </a:rPr>
              <a:t>m365.cloud.microsoft/chat. The main path for today.</a:t>
            </a:r>
            <a:endParaRPr lang="en-US" sz="1600" dirty="0"/>
          </a:p>
        </p:txBody>
      </p:sp>
      <p:sp>
        <p:nvSpPr>
          <p:cNvPr id="10" name="Way in card"/>
          <p:cNvSpPr/>
          <p:nvPr/>
        </p:nvSpPr>
        <p:spPr>
          <a:xfrm>
            <a:off x="3364992" y="1783080"/>
            <a:ext cx="2633472" cy="3931920"/>
          </a:xfrm>
          <a:prstGeom prst="roundRect">
            <a:avLst>
              <a:gd name="adj" fmla="val 2778"/>
            </a:avLst>
          </a:prstGeom>
          <a:solidFill>
            <a:schemeClr val="bg2"/>
          </a:solidFill>
          <a:ln/>
        </p:spPr>
      </p:sp>
      <p:sp>
        <p:nvSpPr>
          <p:cNvPr id="11" name="Icon circle"/>
          <p:cNvSpPr/>
          <p:nvPr/>
        </p:nvSpPr>
        <p:spPr>
          <a:xfrm>
            <a:off x="3639312" y="2103120"/>
            <a:ext cx="822960" cy="822960"/>
          </a:xfrm>
          <a:prstGeom prst="ellipse">
            <a:avLst/>
          </a:prstGeom>
          <a:solidFill>
            <a:schemeClr val="tx2"/>
          </a:solidFill>
          <a:ln/>
        </p:spPr>
      </p:sp>
      <p:pic>
        <p:nvPicPr>
          <p:cNvPr id="12" name="Image 1" descr="preencoded.png">    </p:cNvPr>
          <p:cNvPicPr>
            <a:picLocks noChangeAspect="1"/>
          </p:cNvPicPr>
          <p:nvPr/>
        </p:nvPicPr>
        <p:blipFill>
          <a:blip r:embed="rId2"/>
          <a:stretch>
            <a:fillRect/>
          </a:stretch>
        </p:blipFill>
        <p:spPr>
          <a:xfrm>
            <a:off x="3845052" y="2308860"/>
            <a:ext cx="411480" cy="411480"/>
          </a:xfrm>
          <a:prstGeom prst="rect">
            <a:avLst/>
          </a:prstGeom>
        </p:spPr>
      </p:pic>
      <p:sp>
        <p:nvSpPr>
          <p:cNvPr id="13" name="Text 8"/>
          <p:cNvSpPr txBox="1"/>
          <p:nvPr/>
        </p:nvSpPr>
        <p:spPr>
          <a:xfrm>
            <a:off x="3639312" y="3154680"/>
            <a:ext cx="2194560" cy="457200"/>
          </a:xfrm>
          <a:prstGeom prst="rect">
            <a:avLst/>
          </a:prstGeom>
          <a:noFill/>
          <a:ln/>
        </p:spPr>
        <p:txBody>
          <a:bodyPr wrap="square" lIns="0" tIns="0" rIns="0" bIns="0" rtlCol="0" anchor="ctr"/>
          <a:lstStyle/>
          <a:p>
            <a:pPr indent="0" marL="0">
              <a:buNone/>
            </a:pPr>
            <a:r>
              <a:rPr lang="en-US" sz="2000" b="1" dirty="0">
                <a:solidFill>
                  <a:schemeClr val="tx2"/>
                </a:solidFill>
              </a:rPr>
              <a:t>Edge sidebar</a:t>
            </a:r>
            <a:endParaRPr lang="en-US" sz="2000" dirty="0"/>
          </a:p>
        </p:txBody>
      </p:sp>
      <p:sp>
        <p:nvSpPr>
          <p:cNvPr id="14" name="Text 9"/>
          <p:cNvSpPr txBox="1"/>
          <p:nvPr/>
        </p:nvSpPr>
        <p:spPr>
          <a:xfrm>
            <a:off x="3639312" y="3657600"/>
            <a:ext cx="2148840" cy="1828800"/>
          </a:xfrm>
          <a:prstGeom prst="rect">
            <a:avLst/>
          </a:prstGeom>
          <a:noFill/>
          <a:ln/>
        </p:spPr>
        <p:txBody>
          <a:bodyPr wrap="square" lIns="0" tIns="0" rIns="0" bIns="0" rtlCol="0" anchor="t"/>
          <a:lstStyle/>
          <a:p>
            <a:pPr indent="0" marL="0">
              <a:buNone/>
            </a:pPr>
            <a:r>
              <a:rPr lang="en-US" sz="1600" dirty="0">
                <a:solidFill>
                  <a:schemeClr val="tx1"/>
                </a:solidFill>
              </a:rPr>
              <a:t>Reads the web page you have open.</a:t>
            </a:r>
            <a:endParaRPr lang="en-US" sz="1600" dirty="0"/>
          </a:p>
        </p:txBody>
      </p:sp>
      <p:sp>
        <p:nvSpPr>
          <p:cNvPr id="15" name="Way in card"/>
          <p:cNvSpPr/>
          <p:nvPr/>
        </p:nvSpPr>
        <p:spPr>
          <a:xfrm>
            <a:off x="6181344" y="1783080"/>
            <a:ext cx="2633472" cy="3931920"/>
          </a:xfrm>
          <a:prstGeom prst="roundRect">
            <a:avLst>
              <a:gd name="adj" fmla="val 2778"/>
            </a:avLst>
          </a:prstGeom>
          <a:solidFill>
            <a:schemeClr val="bg2"/>
          </a:solidFill>
          <a:ln/>
        </p:spPr>
      </p:sp>
      <p:sp>
        <p:nvSpPr>
          <p:cNvPr id="16" name="Icon circle"/>
          <p:cNvSpPr/>
          <p:nvPr/>
        </p:nvSpPr>
        <p:spPr>
          <a:xfrm>
            <a:off x="6455664" y="2103120"/>
            <a:ext cx="822960" cy="822960"/>
          </a:xfrm>
          <a:prstGeom prst="ellipse">
            <a:avLst/>
          </a:prstGeom>
          <a:solidFill>
            <a:schemeClr val="tx2"/>
          </a:solidFill>
          <a:ln/>
        </p:spPr>
      </p:sp>
      <p:pic>
        <p:nvPicPr>
          <p:cNvPr id="17" name="Image 2" descr="preencoded.png">    </p:cNvPr>
          <p:cNvPicPr>
            <a:picLocks noChangeAspect="1"/>
          </p:cNvPicPr>
          <p:nvPr/>
        </p:nvPicPr>
        <p:blipFill>
          <a:blip r:embed="rId3"/>
          <a:stretch>
            <a:fillRect/>
          </a:stretch>
        </p:blipFill>
        <p:spPr>
          <a:xfrm>
            <a:off x="6661404" y="2308860"/>
            <a:ext cx="411480" cy="411480"/>
          </a:xfrm>
          <a:prstGeom prst="rect">
            <a:avLst/>
          </a:prstGeom>
        </p:spPr>
      </p:pic>
      <p:sp>
        <p:nvSpPr>
          <p:cNvPr id="18" name="Text 12"/>
          <p:cNvSpPr txBox="1"/>
          <p:nvPr/>
        </p:nvSpPr>
        <p:spPr>
          <a:xfrm>
            <a:off x="6455664" y="3154680"/>
            <a:ext cx="2194560" cy="457200"/>
          </a:xfrm>
          <a:prstGeom prst="rect">
            <a:avLst/>
          </a:prstGeom>
          <a:noFill/>
          <a:ln/>
        </p:spPr>
        <p:txBody>
          <a:bodyPr wrap="square" lIns="0" tIns="0" rIns="0" bIns="0" rtlCol="0" anchor="ctr"/>
          <a:lstStyle/>
          <a:p>
            <a:pPr indent="0" marL="0">
              <a:buNone/>
            </a:pPr>
            <a:r>
              <a:rPr lang="en-US" sz="2000" b="1" dirty="0">
                <a:solidFill>
                  <a:schemeClr val="tx2"/>
                </a:solidFill>
              </a:rPr>
              <a:t>Teams</a:t>
            </a:r>
            <a:endParaRPr lang="en-US" sz="2000" dirty="0"/>
          </a:p>
        </p:txBody>
      </p:sp>
      <p:sp>
        <p:nvSpPr>
          <p:cNvPr id="19" name="Text 13"/>
          <p:cNvSpPr txBox="1"/>
          <p:nvPr/>
        </p:nvSpPr>
        <p:spPr>
          <a:xfrm>
            <a:off x="6455664" y="3657600"/>
            <a:ext cx="2148840" cy="1828800"/>
          </a:xfrm>
          <a:prstGeom prst="rect">
            <a:avLst/>
          </a:prstGeom>
          <a:noFill/>
          <a:ln/>
        </p:spPr>
        <p:txBody>
          <a:bodyPr wrap="square" lIns="0" tIns="0" rIns="0" bIns="0" rtlCol="0" anchor="t"/>
          <a:lstStyle/>
          <a:p>
            <a:pPr indent="0" marL="0">
              <a:buNone/>
            </a:pPr>
            <a:r>
              <a:rPr lang="en-US" sz="1600" dirty="0">
                <a:solidFill>
                  <a:schemeClr val="tx1"/>
                </a:solidFill>
              </a:rPr>
              <a:t>Copilot in the left app rail. Same chat, same shield.</a:t>
            </a:r>
            <a:endParaRPr lang="en-US" sz="1600" dirty="0"/>
          </a:p>
        </p:txBody>
      </p:sp>
      <p:sp>
        <p:nvSpPr>
          <p:cNvPr id="20" name="Way in card"/>
          <p:cNvSpPr/>
          <p:nvPr/>
        </p:nvSpPr>
        <p:spPr>
          <a:xfrm>
            <a:off x="8997696" y="1783080"/>
            <a:ext cx="2633472" cy="3931920"/>
          </a:xfrm>
          <a:prstGeom prst="roundRect">
            <a:avLst>
              <a:gd name="adj" fmla="val 2778"/>
            </a:avLst>
          </a:prstGeom>
          <a:solidFill>
            <a:schemeClr val="bg2"/>
          </a:solidFill>
          <a:ln/>
        </p:spPr>
      </p:sp>
      <p:sp>
        <p:nvSpPr>
          <p:cNvPr id="21" name="Icon circle"/>
          <p:cNvSpPr/>
          <p:nvPr/>
        </p:nvSpPr>
        <p:spPr>
          <a:xfrm>
            <a:off x="9272016" y="2103120"/>
            <a:ext cx="822960" cy="822960"/>
          </a:xfrm>
          <a:prstGeom prst="ellipse">
            <a:avLst/>
          </a:prstGeom>
          <a:solidFill>
            <a:schemeClr val="tx2"/>
          </a:solidFill>
          <a:ln/>
        </p:spPr>
      </p:sp>
      <p:pic>
        <p:nvPicPr>
          <p:cNvPr id="22" name="Image 3" descr="preencoded.png">    </p:cNvPr>
          <p:cNvPicPr>
            <a:picLocks noChangeAspect="1"/>
          </p:cNvPicPr>
          <p:nvPr/>
        </p:nvPicPr>
        <p:blipFill>
          <a:blip r:embed="rId4"/>
          <a:stretch>
            <a:fillRect/>
          </a:stretch>
        </p:blipFill>
        <p:spPr>
          <a:xfrm>
            <a:off x="9477756" y="2308860"/>
            <a:ext cx="411480" cy="411480"/>
          </a:xfrm>
          <a:prstGeom prst="rect">
            <a:avLst/>
          </a:prstGeom>
        </p:spPr>
      </p:pic>
      <p:sp>
        <p:nvSpPr>
          <p:cNvPr id="23" name="Text 16"/>
          <p:cNvSpPr txBox="1"/>
          <p:nvPr/>
        </p:nvSpPr>
        <p:spPr>
          <a:xfrm>
            <a:off x="9272016" y="3154680"/>
            <a:ext cx="2194560" cy="457200"/>
          </a:xfrm>
          <a:prstGeom prst="rect">
            <a:avLst/>
          </a:prstGeom>
          <a:noFill/>
          <a:ln/>
        </p:spPr>
        <p:txBody>
          <a:bodyPr wrap="square" lIns="0" tIns="0" rIns="0" bIns="0" rtlCol="0" anchor="ctr"/>
          <a:lstStyle/>
          <a:p>
            <a:pPr indent="0" marL="0">
              <a:buNone/>
            </a:pPr>
            <a:r>
              <a:rPr lang="en-US" sz="2000" b="1" dirty="0">
                <a:solidFill>
                  <a:schemeClr val="tx2"/>
                </a:solidFill>
              </a:rPr>
              <a:t>Outlook</a:t>
            </a:r>
            <a:endParaRPr lang="en-US" sz="2000" dirty="0"/>
          </a:p>
        </p:txBody>
      </p:sp>
      <p:sp>
        <p:nvSpPr>
          <p:cNvPr id="24" name="Text 17"/>
          <p:cNvSpPr txBox="1"/>
          <p:nvPr/>
        </p:nvSpPr>
        <p:spPr>
          <a:xfrm>
            <a:off x="9272016" y="3657600"/>
            <a:ext cx="2148840" cy="1828800"/>
          </a:xfrm>
          <a:prstGeom prst="rect">
            <a:avLst/>
          </a:prstGeom>
          <a:noFill/>
          <a:ln/>
        </p:spPr>
        <p:txBody>
          <a:bodyPr wrap="square" lIns="0" tIns="0" rIns="0" bIns="0" rtlCol="0" anchor="t"/>
          <a:lstStyle/>
          <a:p>
            <a:pPr indent="0" marL="0">
              <a:buNone/>
            </a:pPr>
            <a:r>
              <a:rPr lang="en-US" sz="1600" dirty="0">
                <a:solidFill>
                  <a:schemeClr val="tx1"/>
                </a:solidFill>
              </a:rPr>
              <a:t>Summarise and draft about the open email. Chapter 5.</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CHAPTER 02</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The message box and your chats</a:t>
            </a:r>
            <a:endParaRPr lang="en-US" sz="3200" dirty="0"/>
          </a:p>
        </p:txBody>
      </p:sp>
      <p:sp>
        <p:nvSpPr>
          <p:cNvPr id="5" name="Screenshot frame"/>
          <p:cNvSpPr/>
          <p:nvPr/>
        </p:nvSpPr>
        <p:spPr>
          <a:xfrm>
            <a:off x="548640" y="1691640"/>
            <a:ext cx="6766560" cy="3806190"/>
          </a:xfrm>
          <a:prstGeom prst="rect">
            <a:avLst/>
          </a:prstGeom>
          <a:solidFill>
            <a:schemeClr val="bg1"/>
          </a:solidFill>
          <a:ln w="12700">
            <a:solidFill>
              <a:srgbClr val="F1F4F7"/>
            </a:solidFill>
            <a:prstDash val="solid"/>
          </a:ln>
          <a:effectLst>
            <a:outerShdw sx="100000" sy="100000" kx="0" ky="0" algn="bl" rotWithShape="0" blurRad="101600" dist="25400" dir="5400000">
              <a:srgbClr val="000000">
                <a:alpha val="18000"/>
              </a:srgbClr>
            </a:outerShdw>
          </a:effectLst>
        </p:spPr>
      </p:sp>
      <p:pic>
        <p:nvPicPr>
          <p:cNvPr id="6" name="Image 0" descr="The message box with the add button and Send highlighted, and Auto in the top bar">    </p:cNvPr>
          <p:cNvPicPr>
            <a:picLocks noChangeAspect="1"/>
          </p:cNvPicPr>
          <p:nvPr/>
        </p:nvPicPr>
        <p:blipFill>
          <a:blip r:embed="rId1"/>
          <a:stretch>
            <a:fillRect/>
          </a:stretch>
        </p:blipFill>
        <p:spPr>
          <a:xfrm>
            <a:off x="548640" y="1691640"/>
            <a:ext cx="6766560" cy="3806190"/>
          </a:xfrm>
          <a:prstGeom prst="rect">
            <a:avLst/>
          </a:prstGeom>
        </p:spPr>
      </p:pic>
      <p:sp>
        <p:nvSpPr>
          <p:cNvPr id="7" name="Text 3"/>
          <p:cNvSpPr txBox="1"/>
          <p:nvPr/>
        </p:nvSpPr>
        <p:spPr>
          <a:xfrm>
            <a:off x="7680960" y="1737360"/>
            <a:ext cx="3931920" cy="713232"/>
          </a:xfrm>
          <a:prstGeom prst="rect">
            <a:avLst/>
          </a:prstGeom>
          <a:noFill/>
          <a:ln/>
        </p:spPr>
        <p:txBody>
          <a:bodyPr wrap="square" lIns="0" tIns="0" rIns="0" bIns="0" rtlCol="0" anchor="t"/>
          <a:lstStyle/>
          <a:p>
            <a:pPr indent="0" marL="0">
              <a:buNone/>
            </a:pPr>
            <a:r>
              <a:rPr lang="en-US" sz="1600" b="1" dirty="0">
                <a:solidFill>
                  <a:schemeClr val="accent1"/>
                </a:solidFill>
              </a:rPr>
              <a:t>Add (+)</a:t>
            </a:r>
            <a:endParaRPr lang="en-US" sz="1600" dirty="0"/>
          </a:p>
          <a:p>
            <a:pPr indent="0" marL="0">
              <a:buNone/>
            </a:pPr>
            <a:r>
              <a:rPr lang="en-US" sz="1600" dirty="0">
                <a:solidFill>
                  <a:schemeClr val="tx1"/>
                </a:solidFill>
              </a:rPr>
              <a:t>Upload files and images</a:t>
            </a:r>
            <a:endParaRPr lang="en-US" sz="1600" dirty="0"/>
          </a:p>
        </p:txBody>
      </p:sp>
      <p:sp>
        <p:nvSpPr>
          <p:cNvPr id="8" name="Text 4"/>
          <p:cNvSpPr txBox="1"/>
          <p:nvPr/>
        </p:nvSpPr>
        <p:spPr>
          <a:xfrm>
            <a:off x="7680960" y="2523744"/>
            <a:ext cx="3931920" cy="713232"/>
          </a:xfrm>
          <a:prstGeom prst="rect">
            <a:avLst/>
          </a:prstGeom>
          <a:noFill/>
          <a:ln/>
        </p:spPr>
        <p:txBody>
          <a:bodyPr wrap="square" lIns="0" tIns="0" rIns="0" bIns="0" rtlCol="0" anchor="t"/>
          <a:lstStyle/>
          <a:p>
            <a:pPr indent="0" marL="0">
              <a:buNone/>
            </a:pPr>
            <a:r>
              <a:rPr lang="en-US" sz="1600" b="1" dirty="0">
                <a:solidFill>
                  <a:schemeClr val="accent1"/>
                </a:solidFill>
              </a:rPr>
              <a:t>Prompt Gallery</a:t>
            </a:r>
            <a:endParaRPr lang="en-US" sz="1600" dirty="0"/>
          </a:p>
          <a:p>
            <a:pPr indent="0" marL="0">
              <a:buNone/>
            </a:pPr>
            <a:r>
              <a:rPr lang="en-US" sz="1600" dirty="0">
                <a:solidFill>
                  <a:schemeClr val="tx1"/>
                </a:solidFill>
              </a:rPr>
              <a:t>Ready-made and saved prompts</a:t>
            </a:r>
            <a:endParaRPr lang="en-US" sz="1600" dirty="0"/>
          </a:p>
        </p:txBody>
      </p:sp>
      <p:sp>
        <p:nvSpPr>
          <p:cNvPr id="9" name="Text 5"/>
          <p:cNvSpPr txBox="1"/>
          <p:nvPr/>
        </p:nvSpPr>
        <p:spPr>
          <a:xfrm>
            <a:off x="7680960" y="3310128"/>
            <a:ext cx="3931920" cy="713232"/>
          </a:xfrm>
          <a:prstGeom prst="rect">
            <a:avLst/>
          </a:prstGeom>
          <a:noFill/>
          <a:ln/>
        </p:spPr>
        <p:txBody>
          <a:bodyPr wrap="square" lIns="0" tIns="0" rIns="0" bIns="0" rtlCol="0" anchor="t"/>
          <a:lstStyle/>
          <a:p>
            <a:pPr indent="0" marL="0">
              <a:buNone/>
            </a:pPr>
            <a:r>
              <a:rPr lang="en-US" sz="1600" b="1" dirty="0">
                <a:solidFill>
                  <a:schemeClr val="accent1"/>
                </a:solidFill>
              </a:rPr>
              <a:t>Auto</a:t>
            </a:r>
            <a:endParaRPr lang="en-US" sz="1600" dirty="0"/>
          </a:p>
          <a:p>
            <a:pPr indent="0" marL="0">
              <a:buNone/>
            </a:pPr>
            <a:r>
              <a:rPr lang="en-US" sz="1600" dirty="0">
                <a:solidFill>
                  <a:schemeClr val="tx1"/>
                </a:solidFill>
              </a:rPr>
              <a:t>Response mode, in the top bar</a:t>
            </a:r>
            <a:endParaRPr lang="en-US" sz="1600" dirty="0"/>
          </a:p>
        </p:txBody>
      </p:sp>
      <p:sp>
        <p:nvSpPr>
          <p:cNvPr id="10" name="Text 6"/>
          <p:cNvSpPr txBox="1"/>
          <p:nvPr/>
        </p:nvSpPr>
        <p:spPr>
          <a:xfrm>
            <a:off x="7680960" y="4096512"/>
            <a:ext cx="3931920" cy="713232"/>
          </a:xfrm>
          <a:prstGeom prst="rect">
            <a:avLst/>
          </a:prstGeom>
          <a:noFill/>
          <a:ln/>
        </p:spPr>
        <p:txBody>
          <a:bodyPr wrap="square" lIns="0" tIns="0" rIns="0" bIns="0" rtlCol="0" anchor="t"/>
          <a:lstStyle/>
          <a:p>
            <a:pPr indent="0" marL="0">
              <a:buNone/>
            </a:pPr>
            <a:r>
              <a:rPr lang="en-US" sz="1600" b="1" dirty="0">
                <a:solidFill>
                  <a:schemeClr val="accent1"/>
                </a:solidFill>
              </a:rPr>
              <a:t>Chat menu</a:t>
            </a:r>
            <a:endParaRPr lang="en-US" sz="1600" dirty="0"/>
          </a:p>
          <a:p>
            <a:pPr indent="0" marL="0">
              <a:buNone/>
            </a:pPr>
            <a:r>
              <a:rPr lang="en-US" sz="1600" dirty="0">
                <a:solidFill>
                  <a:schemeClr val="tx1"/>
                </a:solidFill>
              </a:rPr>
              <a:t>Rename, Move to notebook, Delete</a:t>
            </a:r>
            <a:endParaRPr lang="en-US" sz="1600" dirty="0"/>
          </a:p>
        </p:txBody>
      </p:sp>
      <p:sp>
        <p:nvSpPr>
          <p:cNvPr id="11" name="Text 7"/>
          <p:cNvSpPr txBox="1"/>
          <p:nvPr/>
        </p:nvSpPr>
        <p:spPr>
          <a:xfrm>
            <a:off x="7680960" y="4882896"/>
            <a:ext cx="3931920" cy="713232"/>
          </a:xfrm>
          <a:prstGeom prst="rect">
            <a:avLst/>
          </a:prstGeom>
          <a:noFill/>
          <a:ln/>
        </p:spPr>
        <p:txBody>
          <a:bodyPr wrap="square" lIns="0" tIns="0" rIns="0" bIns="0" rtlCol="0" anchor="t"/>
          <a:lstStyle/>
          <a:p>
            <a:pPr indent="0" marL="0">
              <a:buNone/>
            </a:pPr>
            <a:r>
              <a:rPr lang="en-US" sz="1600" b="1" dirty="0">
                <a:solidFill>
                  <a:schemeClr val="accent1"/>
                </a:solidFill>
              </a:rPr>
              <a:t>Copy</a:t>
            </a:r>
            <a:endParaRPr lang="en-US" sz="1600" dirty="0"/>
          </a:p>
          <a:p>
            <a:pPr indent="0" marL="0">
              <a:buNone/>
            </a:pPr>
            <a:r>
              <a:rPr lang="en-US" sz="1600" dirty="0">
                <a:solidFill>
                  <a:schemeClr val="tx1"/>
                </a:solidFill>
              </a:rPr>
              <a:t>The main way to share an answer</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YOUR TURN  ·  CHAPTER 02</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Run your first prompt and keep the chat</a:t>
            </a:r>
            <a:endParaRPr lang="en-US" sz="3200" dirty="0"/>
          </a:p>
        </p:txBody>
      </p:sp>
      <p:sp>
        <p:nvSpPr>
          <p:cNvPr id="5" name="Number 1"/>
          <p:cNvSpPr/>
          <p:nvPr/>
        </p:nvSpPr>
        <p:spPr>
          <a:xfrm>
            <a:off x="548640" y="1792224"/>
            <a:ext cx="457200" cy="457200"/>
          </a:xfrm>
          <a:prstGeom prst="ellipse">
            <a:avLst/>
          </a:prstGeom>
          <a:solidFill>
            <a:schemeClr val="accent1"/>
          </a:solidFill>
          <a:ln/>
        </p:spPr>
      </p:sp>
      <p:sp>
        <p:nvSpPr>
          <p:cNvPr id="6" name="Text 3"/>
          <p:cNvSpPr txBox="1"/>
          <p:nvPr/>
        </p:nvSpPr>
        <p:spPr>
          <a:xfrm>
            <a:off x="548640" y="179222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4"/>
          <p:cNvSpPr txBox="1"/>
          <p:nvPr/>
        </p:nvSpPr>
        <p:spPr>
          <a:xfrm>
            <a:off x="1188720" y="1691640"/>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2.1  </a:t>
            </a:r>
            <a:pPr indent="0" marL="0">
              <a:buNone/>
            </a:pPr>
            <a:r>
              <a:rPr lang="en-US" sz="1600" dirty="0">
                <a:solidFill>
                  <a:schemeClr val="tx1"/>
                </a:solidFill>
              </a:rPr>
              <a:t>Open the Copilot app and find New chat, Library and Agents</a:t>
            </a:r>
            <a:endParaRPr lang="en-US" sz="1600" dirty="0"/>
          </a:p>
        </p:txBody>
      </p:sp>
      <p:sp>
        <p:nvSpPr>
          <p:cNvPr id="8" name="Number 2"/>
          <p:cNvSpPr/>
          <p:nvPr/>
        </p:nvSpPr>
        <p:spPr>
          <a:xfrm>
            <a:off x="548640" y="2450592"/>
            <a:ext cx="457200" cy="457200"/>
          </a:xfrm>
          <a:prstGeom prst="ellipse">
            <a:avLst/>
          </a:prstGeom>
          <a:solidFill>
            <a:schemeClr val="accent1"/>
          </a:solidFill>
          <a:ln/>
        </p:spPr>
      </p:sp>
      <p:sp>
        <p:nvSpPr>
          <p:cNvPr id="9" name="Text 6"/>
          <p:cNvSpPr txBox="1"/>
          <p:nvPr/>
        </p:nvSpPr>
        <p:spPr>
          <a:xfrm>
            <a:off x="548640" y="24505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1188720" y="2350008"/>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2.4  </a:t>
            </a:r>
            <a:pPr indent="0" marL="0">
              <a:buNone/>
            </a:pPr>
            <a:r>
              <a:rPr lang="en-US" sz="1600" dirty="0">
                <a:solidFill>
                  <a:schemeClr val="tx1"/>
                </a:solidFill>
              </a:rPr>
              <a:t>Ask for a checklist to review a laptop quotation</a:t>
            </a:r>
            <a:endParaRPr lang="en-US" sz="1600" dirty="0"/>
          </a:p>
        </p:txBody>
      </p:sp>
      <p:sp>
        <p:nvSpPr>
          <p:cNvPr id="11" name="Number 3"/>
          <p:cNvSpPr/>
          <p:nvPr/>
        </p:nvSpPr>
        <p:spPr>
          <a:xfrm>
            <a:off x="548640" y="3108960"/>
            <a:ext cx="457200" cy="457200"/>
          </a:xfrm>
          <a:prstGeom prst="ellipse">
            <a:avLst/>
          </a:prstGeom>
          <a:solidFill>
            <a:schemeClr val="accent1"/>
          </a:solidFill>
          <a:ln/>
        </p:spPr>
      </p:sp>
      <p:sp>
        <p:nvSpPr>
          <p:cNvPr id="12" name="Text 9"/>
          <p:cNvSpPr txBox="1"/>
          <p:nvPr/>
        </p:nvSpPr>
        <p:spPr>
          <a:xfrm>
            <a:off x="548640" y="31089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0"/>
          <p:cNvSpPr txBox="1"/>
          <p:nvPr/>
        </p:nvSpPr>
        <p:spPr>
          <a:xfrm>
            <a:off x="1188720" y="3008376"/>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2.5  </a:t>
            </a:r>
            <a:pPr indent="0" marL="0">
              <a:buNone/>
            </a:pPr>
            <a:r>
              <a:rPr lang="en-US" sz="1600" dirty="0">
                <a:solidFill>
                  <a:schemeClr val="tx1"/>
                </a:solidFill>
              </a:rPr>
              <a:t>Rename the chat: Laptop purchase - quotation checklist</a:t>
            </a:r>
            <a:endParaRPr lang="en-US" sz="1600" dirty="0"/>
          </a:p>
        </p:txBody>
      </p:sp>
      <p:sp>
        <p:nvSpPr>
          <p:cNvPr id="14" name="Number 4"/>
          <p:cNvSpPr/>
          <p:nvPr/>
        </p:nvSpPr>
        <p:spPr>
          <a:xfrm>
            <a:off x="548640" y="3767328"/>
            <a:ext cx="457200" cy="457200"/>
          </a:xfrm>
          <a:prstGeom prst="ellipse">
            <a:avLst/>
          </a:prstGeom>
          <a:solidFill>
            <a:schemeClr val="accent1"/>
          </a:solidFill>
          <a:ln/>
        </p:spPr>
      </p:sp>
      <p:sp>
        <p:nvSpPr>
          <p:cNvPr id="15" name="Text 12"/>
          <p:cNvSpPr txBox="1"/>
          <p:nvPr/>
        </p:nvSpPr>
        <p:spPr>
          <a:xfrm>
            <a:off x="548640" y="3767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6" name="Text 13"/>
          <p:cNvSpPr txBox="1"/>
          <p:nvPr/>
        </p:nvSpPr>
        <p:spPr>
          <a:xfrm>
            <a:off x="1188720" y="3666744"/>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2.6  </a:t>
            </a:r>
            <a:pPr indent="0" marL="0">
              <a:buNone/>
            </a:pPr>
            <a:r>
              <a:rPr lang="en-US" sz="1600" dirty="0">
                <a:solidFill>
                  <a:schemeClr val="tx1"/>
                </a:solidFill>
              </a:rPr>
              <a:t>Copy one of Copilot's answers to share it</a:t>
            </a:r>
            <a:endParaRPr lang="en-US" sz="1600" dirty="0"/>
          </a:p>
        </p:txBody>
      </p:sp>
      <p:sp>
        <p:nvSpPr>
          <p:cNvPr id="17" name="Number 5"/>
          <p:cNvSpPr/>
          <p:nvPr/>
        </p:nvSpPr>
        <p:spPr>
          <a:xfrm>
            <a:off x="548640" y="4425696"/>
            <a:ext cx="457200" cy="457200"/>
          </a:xfrm>
          <a:prstGeom prst="ellipse">
            <a:avLst/>
          </a:prstGeom>
          <a:solidFill>
            <a:schemeClr val="accent1"/>
          </a:solidFill>
          <a:ln/>
        </p:spPr>
      </p:sp>
      <p:sp>
        <p:nvSpPr>
          <p:cNvPr id="18" name="Text 15"/>
          <p:cNvSpPr txBox="1"/>
          <p:nvPr/>
        </p:nvSpPr>
        <p:spPr>
          <a:xfrm>
            <a:off x="548640" y="44256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9" name="Text 16"/>
          <p:cNvSpPr txBox="1"/>
          <p:nvPr/>
        </p:nvSpPr>
        <p:spPr>
          <a:xfrm>
            <a:off x="1188720" y="4325112"/>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2.7  </a:t>
            </a:r>
            <a:pPr indent="0" marL="0">
              <a:buNone/>
            </a:pPr>
            <a:r>
              <a:rPr lang="en-US" sz="1600" dirty="0">
                <a:solidFill>
                  <a:schemeClr val="tx1"/>
                </a:solidFill>
              </a:rPr>
              <a:t>Windows app only: try the screenshot tool</a:t>
            </a:r>
            <a:endParaRPr lang="en-US" sz="1600" dirty="0"/>
          </a:p>
        </p:txBody>
      </p:sp>
      <p:sp>
        <p:nvSpPr>
          <p:cNvPr id="20" name="Checkpoint card"/>
          <p:cNvSpPr/>
          <p:nvPr/>
        </p:nvSpPr>
        <p:spPr>
          <a:xfrm>
            <a:off x="7680960" y="1691640"/>
            <a:ext cx="3959352" cy="2743200"/>
          </a:xfrm>
          <a:prstGeom prst="roundRect">
            <a:avLst>
              <a:gd name="adj" fmla="val 2667"/>
            </a:avLst>
          </a:prstGeom>
          <a:solidFill>
            <a:schemeClr val="accent1">
              <a:alpha val="12000"/>
            </a:schemeClr>
          </a:solidFill>
          <a:ln/>
        </p:spPr>
      </p:sp>
      <p:sp>
        <p:nvSpPr>
          <p:cNvPr id="21" name="Icon circle"/>
          <p:cNvSpPr/>
          <p:nvPr/>
        </p:nvSpPr>
        <p:spPr>
          <a:xfrm>
            <a:off x="7955280" y="1920240"/>
            <a:ext cx="548640" cy="548640"/>
          </a:xfrm>
          <a:prstGeom prst="ellipse">
            <a:avLst/>
          </a:prstGeom>
          <a:solidFill>
            <a:schemeClr val="accent1"/>
          </a:solidFill>
          <a:ln/>
        </p:spPr>
      </p:sp>
      <p:pic>
        <p:nvPicPr>
          <p:cNvPr id="22" name="Image 0" descr="preencoded.png">    </p:cNvPr>
          <p:cNvPicPr>
            <a:picLocks noChangeAspect="1"/>
          </p:cNvPicPr>
          <p:nvPr/>
        </p:nvPicPr>
        <p:blipFill>
          <a:blip r:embed="rId1"/>
          <a:stretch>
            <a:fillRect/>
          </a:stretch>
        </p:blipFill>
        <p:spPr>
          <a:xfrm>
            <a:off x="8092440" y="2057400"/>
            <a:ext cx="274320" cy="274320"/>
          </a:xfrm>
          <a:prstGeom prst="rect">
            <a:avLst/>
          </a:prstGeom>
        </p:spPr>
      </p:pic>
      <p:sp>
        <p:nvSpPr>
          <p:cNvPr id="23" name="Text 19"/>
          <p:cNvSpPr txBox="1"/>
          <p:nvPr/>
        </p:nvSpPr>
        <p:spPr>
          <a:xfrm>
            <a:off x="8641080" y="1920240"/>
            <a:ext cx="2834640" cy="548640"/>
          </a:xfrm>
          <a:prstGeom prst="rect">
            <a:avLst/>
          </a:prstGeom>
          <a:noFill/>
          <a:ln/>
        </p:spPr>
        <p:txBody>
          <a:bodyPr wrap="square" lIns="0" tIns="0" rIns="0" bIns="0" rtlCol="0" anchor="ctr"/>
          <a:lstStyle/>
          <a:p>
            <a:pPr indent="0" marL="0">
              <a:buNone/>
            </a:pPr>
            <a:r>
              <a:rPr lang="en-US" sz="1800" b="1" dirty="0">
                <a:solidFill>
                  <a:schemeClr val="tx2"/>
                </a:solidFill>
              </a:rPr>
              <a:t>Checkpoint</a:t>
            </a:r>
            <a:endParaRPr lang="en-US" sz="1800" dirty="0"/>
          </a:p>
        </p:txBody>
      </p:sp>
      <p:sp>
        <p:nvSpPr>
          <p:cNvPr id="24" name="Text 20"/>
          <p:cNvSpPr txBox="1"/>
          <p:nvPr/>
        </p:nvSpPr>
        <p:spPr>
          <a:xfrm>
            <a:off x="7955280" y="2606040"/>
            <a:ext cx="3474720" cy="1737360"/>
          </a:xfrm>
          <a:prstGeom prst="rect">
            <a:avLst/>
          </a:prstGeom>
          <a:noFill/>
          <a:ln/>
        </p:spPr>
        <p:txBody>
          <a:bodyPr wrap="square" lIns="0" tIns="0" rIns="0" bIns="0" rtlCol="0" anchor="t"/>
          <a:lstStyle/>
          <a:p>
            <a:pPr indent="0" marL="0">
              <a:buNone/>
            </a:pPr>
            <a:r>
              <a:rPr lang="en-US" sz="1500" dirty="0">
                <a:solidFill>
                  <a:schemeClr val="tx1"/>
                </a:solidFill>
              </a:rPr>
              <a:t>You can find the Laptop purchase - quotation checklist chat again from the left pane.</a:t>
            </a:r>
            <a:endParaRPr lang="en-US" sz="1500" dirty="0"/>
          </a:p>
        </p:txBody>
      </p:sp>
      <p:sp>
        <p:nvSpPr>
          <p:cNvPr id="25" name="Prompts card"/>
          <p:cNvSpPr/>
          <p:nvPr/>
        </p:nvSpPr>
        <p:spPr>
          <a:xfrm>
            <a:off x="7680960" y="4617720"/>
            <a:ext cx="3959352" cy="1234440"/>
          </a:xfrm>
          <a:prstGeom prst="roundRect">
            <a:avLst>
              <a:gd name="adj" fmla="val 5926"/>
            </a:avLst>
          </a:prstGeom>
          <a:solidFill>
            <a:schemeClr val="bg2"/>
          </a:solidFill>
          <a:ln/>
        </p:spPr>
      </p:sp>
      <p:sp>
        <p:nvSpPr>
          <p:cNvPr id="26" name="Icon circle"/>
          <p:cNvSpPr/>
          <p:nvPr/>
        </p:nvSpPr>
        <p:spPr>
          <a:xfrm>
            <a:off x="7955280" y="4892040"/>
            <a:ext cx="548640" cy="548640"/>
          </a:xfrm>
          <a:prstGeom prst="ellipse">
            <a:avLst/>
          </a:prstGeom>
          <a:solidFill>
            <a:schemeClr val="tx2"/>
          </a:solidFill>
          <a:ln/>
        </p:spPr>
      </p:sp>
      <p:pic>
        <p:nvPicPr>
          <p:cNvPr id="27" name="Image 1" descr="preencoded.png">    </p:cNvPr>
          <p:cNvPicPr>
            <a:picLocks noChangeAspect="1"/>
          </p:cNvPicPr>
          <p:nvPr/>
        </p:nvPicPr>
        <p:blipFill>
          <a:blip r:embed="rId2"/>
          <a:stretch>
            <a:fillRect/>
          </a:stretch>
        </p:blipFill>
        <p:spPr>
          <a:xfrm>
            <a:off x="8092440" y="5029200"/>
            <a:ext cx="274320" cy="274320"/>
          </a:xfrm>
          <a:prstGeom prst="rect">
            <a:avLst/>
          </a:prstGeom>
        </p:spPr>
      </p:pic>
      <p:sp>
        <p:nvSpPr>
          <p:cNvPr id="28" name="Text 23"/>
          <p:cNvSpPr txBox="1"/>
          <p:nvPr/>
        </p:nvSpPr>
        <p:spPr>
          <a:xfrm>
            <a:off x="8641080" y="4754880"/>
            <a:ext cx="2834640" cy="868680"/>
          </a:xfrm>
          <a:prstGeom prst="rect">
            <a:avLst/>
          </a:prstGeom>
          <a:noFill/>
          <a:ln/>
        </p:spPr>
        <p:txBody>
          <a:bodyPr wrap="square" lIns="0" tIns="0" rIns="0" bIns="0" rtlCol="0" anchor="ctr"/>
          <a:lstStyle/>
          <a:p>
            <a:pPr indent="0" marL="0">
              <a:buNone/>
            </a:pPr>
            <a:r>
              <a:rPr lang="en-US" sz="1600" b="1" dirty="0">
                <a:solidFill>
                  <a:schemeClr val="tx2"/>
                </a:solidFill>
              </a:rPr>
              <a:t>Prompts page</a:t>
            </a:r>
            <a:endParaRPr lang="en-US" sz="1600" dirty="0"/>
          </a:p>
          <a:p>
            <a:pPr indent="0" marL="0">
              <a:buNone/>
            </a:pPr>
            <a:r>
              <a:rPr lang="en-US" sz="1300" dirty="0">
                <a:solidFill>
                  <a:schemeClr val="accent4"/>
                </a:solidFill>
              </a:rPr>
              <a:t>Chapter 02: copy every prompt from there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731520" y="100584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03</a:t>
            </a:r>
            <a:endParaRPr lang="en-US" sz="9600" dirty="0"/>
          </a:p>
        </p:txBody>
      </p:sp>
      <p:sp>
        <p:nvSpPr>
          <p:cNvPr id="3" name="Text 0"/>
          <p:cNvSpPr/>
          <p:nvPr>
            <p:ph idx="101" type="title" hasCustomPrompt="1"/>
          </p:nvPr>
        </p:nvSpPr>
        <p:spPr>
          <a:xfrm>
            <a:off x="731520" y="256032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Write better prompts</a:t>
            </a:r>
            <a:endParaRPr lang="en-US" sz="4400" dirty="0"/>
          </a:p>
        </p:txBody>
      </p:sp>
      <p:sp>
        <p:nvSpPr>
          <p:cNvPr id="4" name="Text 0"/>
          <p:cNvSpPr/>
          <p:nvPr>
            <p:ph idx="102" type="body" hasCustomPrompt="1"/>
          </p:nvPr>
        </p:nvSpPr>
        <p:spPr>
          <a:xfrm>
            <a:off x="731520" y="3840480"/>
            <a:ext cx="9601200" cy="1463040"/>
          </a:xfrm>
          <a:prstGeom prst="rect">
            <a:avLst/>
          </a:prstGeom>
          <a:noFill/>
          <a:ln/>
        </p:spPr>
        <p:txBody>
          <a:bodyPr wrap="square" lIns="0" tIns="0" rIns="0" bIns="0" rtlCol="0" anchor="t"/>
          <a:lstStyle/>
          <a:p>
            <a:pPr indent="0" marL="0">
              <a:buNone/>
            </a:pPr>
            <a:r>
              <a:rPr lang="en-US" sz="1800" b="1" dirty="0">
                <a:solidFill>
                  <a:schemeClr val="bg1"/>
                </a:solidFill>
              </a:rPr>
              <a:t>Stage: Ask  ·  45 minutes</a:t>
            </a:r>
            <a:endParaRPr lang="en-US" sz="1800" dirty="0"/>
          </a:p>
          <a:p>
            <a:pPr indent="0" marL="0">
              <a:buNone/>
            </a:pPr>
            <a:r>
              <a:rPr lang="en-US" sz="800" dirty="0">
                <a:solidFill>
                  <a:schemeClr val="bg2"/>
                </a:solidFill>
              </a:rPr>
              <a:t> </a:t>
            </a:r>
            <a:endParaRPr lang="en-US" sz="1800" dirty="0"/>
          </a:p>
          <a:p>
            <a:pPr indent="0" marL="0">
              <a:buNone/>
            </a:pPr>
            <a:r>
              <a:rPr lang="en-US" sz="1800" b="1" dirty="0">
                <a:solidFill>
                  <a:schemeClr val="bg2"/>
                </a:solidFill>
              </a:rPr>
              <a:t>Your result: </a:t>
            </a:r>
            <a:pPr indent="0" marL="0">
              <a:buNone/>
            </a:pPr>
            <a:r>
              <a:rPr lang="en-US" sz="1800" dirty="0">
                <a:solidFill>
                  <a:schemeClr val="bg2"/>
                </a:solidFill>
              </a:rPr>
              <a:t>laptop requirements ready to send to vendors, a saved prompt, and your own custom instructions.</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CHAPTER 03</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GCSE: the four parts of a good prompt</a:t>
            </a:r>
            <a:endParaRPr lang="en-US" sz="3200" dirty="0"/>
          </a:p>
        </p:txBody>
      </p:sp>
      <p:sp>
        <p:nvSpPr>
          <p:cNvPr id="5" name="GCSE card"/>
          <p:cNvSpPr/>
          <p:nvPr/>
        </p:nvSpPr>
        <p:spPr>
          <a:xfrm>
            <a:off x="548640" y="1783080"/>
            <a:ext cx="2633472" cy="4114800"/>
          </a:xfrm>
          <a:prstGeom prst="roundRect">
            <a:avLst>
              <a:gd name="adj" fmla="val 2778"/>
            </a:avLst>
          </a:prstGeom>
          <a:solidFill>
            <a:schemeClr val="bg2"/>
          </a:solidFill>
          <a:ln/>
        </p:spPr>
      </p:sp>
      <p:sp>
        <p:nvSpPr>
          <p:cNvPr id="6" name="Number G"/>
          <p:cNvSpPr/>
          <p:nvPr/>
        </p:nvSpPr>
        <p:spPr>
          <a:xfrm>
            <a:off x="822960" y="2057400"/>
            <a:ext cx="822960" cy="822960"/>
          </a:xfrm>
          <a:prstGeom prst="ellipse">
            <a:avLst/>
          </a:prstGeom>
          <a:solidFill>
            <a:schemeClr val="tx2"/>
          </a:solidFill>
          <a:ln/>
        </p:spPr>
      </p:sp>
      <p:sp>
        <p:nvSpPr>
          <p:cNvPr id="7" name="Text 4"/>
          <p:cNvSpPr txBox="1"/>
          <p:nvPr/>
        </p:nvSpPr>
        <p:spPr>
          <a:xfrm>
            <a:off x="822960" y="2057400"/>
            <a:ext cx="822960" cy="822960"/>
          </a:xfrm>
          <a:prstGeom prst="rect">
            <a:avLst/>
          </a:prstGeom>
          <a:noFill/>
          <a:ln/>
        </p:spPr>
        <p:txBody>
          <a:bodyPr wrap="square" lIns="0" tIns="0" rIns="0" bIns="0" rtlCol="0" anchor="ctr"/>
          <a:lstStyle/>
          <a:p>
            <a:pPr algn="ctr" indent="0" marL="0">
              <a:buNone/>
            </a:pPr>
            <a:r>
              <a:rPr lang="en-US" sz="2200" b="1" dirty="0">
                <a:solidFill>
                  <a:schemeClr val="bg1"/>
                </a:solidFill>
              </a:rPr>
              <a:t>G</a:t>
            </a:r>
            <a:endParaRPr lang="en-US" sz="2200" dirty="0"/>
          </a:p>
        </p:txBody>
      </p:sp>
      <p:sp>
        <p:nvSpPr>
          <p:cNvPr id="8" name="Text 5"/>
          <p:cNvSpPr txBox="1"/>
          <p:nvPr/>
        </p:nvSpPr>
        <p:spPr>
          <a:xfrm>
            <a:off x="822960" y="3017520"/>
            <a:ext cx="2194560" cy="457200"/>
          </a:xfrm>
          <a:prstGeom prst="rect">
            <a:avLst/>
          </a:prstGeom>
          <a:noFill/>
          <a:ln/>
        </p:spPr>
        <p:txBody>
          <a:bodyPr wrap="square" lIns="0" tIns="0" rIns="0" bIns="0" rtlCol="0" anchor="ctr"/>
          <a:lstStyle/>
          <a:p>
            <a:pPr indent="0" marL="0">
              <a:buNone/>
            </a:pPr>
            <a:r>
              <a:rPr lang="en-US" sz="2200" b="1" dirty="0">
                <a:solidFill>
                  <a:schemeClr val="tx2"/>
                </a:solidFill>
              </a:rPr>
              <a:t>Goal</a:t>
            </a:r>
            <a:endParaRPr lang="en-US" sz="2200" dirty="0"/>
          </a:p>
        </p:txBody>
      </p:sp>
      <p:sp>
        <p:nvSpPr>
          <p:cNvPr id="9" name="Text 6"/>
          <p:cNvSpPr txBox="1"/>
          <p:nvPr/>
        </p:nvSpPr>
        <p:spPr>
          <a:xfrm>
            <a:off x="822960" y="3520440"/>
            <a:ext cx="2148840" cy="822960"/>
          </a:xfrm>
          <a:prstGeom prst="rect">
            <a:avLst/>
          </a:prstGeom>
          <a:noFill/>
          <a:ln/>
        </p:spPr>
        <p:txBody>
          <a:bodyPr wrap="square" lIns="0" tIns="0" rIns="0" bIns="0" rtlCol="0" anchor="t"/>
          <a:lstStyle/>
          <a:p>
            <a:pPr indent="0" marL="0">
              <a:buNone/>
            </a:pPr>
            <a:r>
              <a:rPr lang="en-US" sz="1600" b="1" dirty="0">
                <a:solidFill>
                  <a:schemeClr val="accent1"/>
                </a:solidFill>
              </a:rPr>
              <a:t>What do you want Copilot to do?</a:t>
            </a:r>
            <a:endParaRPr lang="en-US" sz="1600" dirty="0"/>
          </a:p>
        </p:txBody>
      </p:sp>
      <p:sp>
        <p:nvSpPr>
          <p:cNvPr id="10" name="Text 7"/>
          <p:cNvSpPr txBox="1"/>
          <p:nvPr/>
        </p:nvSpPr>
        <p:spPr>
          <a:xfrm>
            <a:off x="822960" y="4389120"/>
            <a:ext cx="2148840" cy="1280160"/>
          </a:xfrm>
          <a:prstGeom prst="rect">
            <a:avLst/>
          </a:prstGeom>
          <a:noFill/>
          <a:ln/>
        </p:spPr>
        <p:txBody>
          <a:bodyPr wrap="square" lIns="0" tIns="0" rIns="0" bIns="0" rtlCol="0" anchor="t"/>
          <a:lstStyle/>
          <a:p>
            <a:pPr indent="0" marL="0">
              <a:buNone/>
            </a:pPr>
            <a:r>
              <a:rPr lang="en-US" sz="1500" i="1" dirty="0">
                <a:solidFill>
                  <a:schemeClr val="tx1"/>
                </a:solidFill>
              </a:rPr>
              <a:t>"Draft the requirements for a laptop quotation request"</a:t>
            </a:r>
            <a:endParaRPr lang="en-US" sz="1500" dirty="0"/>
          </a:p>
        </p:txBody>
      </p:sp>
      <p:sp>
        <p:nvSpPr>
          <p:cNvPr id="11" name="GCSE card"/>
          <p:cNvSpPr/>
          <p:nvPr/>
        </p:nvSpPr>
        <p:spPr>
          <a:xfrm>
            <a:off x="3364992" y="1783080"/>
            <a:ext cx="2633472" cy="4114800"/>
          </a:xfrm>
          <a:prstGeom prst="roundRect">
            <a:avLst>
              <a:gd name="adj" fmla="val 2778"/>
            </a:avLst>
          </a:prstGeom>
          <a:solidFill>
            <a:schemeClr val="bg2"/>
          </a:solidFill>
          <a:ln/>
        </p:spPr>
      </p:sp>
      <p:sp>
        <p:nvSpPr>
          <p:cNvPr id="12" name="Number C"/>
          <p:cNvSpPr/>
          <p:nvPr/>
        </p:nvSpPr>
        <p:spPr>
          <a:xfrm>
            <a:off x="3639312" y="2057400"/>
            <a:ext cx="822960" cy="822960"/>
          </a:xfrm>
          <a:prstGeom prst="ellipse">
            <a:avLst/>
          </a:prstGeom>
          <a:solidFill>
            <a:schemeClr val="tx2"/>
          </a:solidFill>
          <a:ln/>
        </p:spPr>
      </p:sp>
      <p:sp>
        <p:nvSpPr>
          <p:cNvPr id="13" name="Text 10"/>
          <p:cNvSpPr txBox="1"/>
          <p:nvPr/>
        </p:nvSpPr>
        <p:spPr>
          <a:xfrm>
            <a:off x="3639312" y="2057400"/>
            <a:ext cx="822960" cy="822960"/>
          </a:xfrm>
          <a:prstGeom prst="rect">
            <a:avLst/>
          </a:prstGeom>
          <a:noFill/>
          <a:ln/>
        </p:spPr>
        <p:txBody>
          <a:bodyPr wrap="square" lIns="0" tIns="0" rIns="0" bIns="0" rtlCol="0" anchor="ctr"/>
          <a:lstStyle/>
          <a:p>
            <a:pPr algn="ctr" indent="0" marL="0">
              <a:buNone/>
            </a:pPr>
            <a:r>
              <a:rPr lang="en-US" sz="2200" b="1" dirty="0">
                <a:solidFill>
                  <a:schemeClr val="bg1"/>
                </a:solidFill>
              </a:rPr>
              <a:t>C</a:t>
            </a:r>
            <a:endParaRPr lang="en-US" sz="2200" dirty="0"/>
          </a:p>
        </p:txBody>
      </p:sp>
      <p:sp>
        <p:nvSpPr>
          <p:cNvPr id="14" name="Text 11"/>
          <p:cNvSpPr txBox="1"/>
          <p:nvPr/>
        </p:nvSpPr>
        <p:spPr>
          <a:xfrm>
            <a:off x="3639312" y="3017520"/>
            <a:ext cx="2194560" cy="457200"/>
          </a:xfrm>
          <a:prstGeom prst="rect">
            <a:avLst/>
          </a:prstGeom>
          <a:noFill/>
          <a:ln/>
        </p:spPr>
        <p:txBody>
          <a:bodyPr wrap="square" lIns="0" tIns="0" rIns="0" bIns="0" rtlCol="0" anchor="ctr"/>
          <a:lstStyle/>
          <a:p>
            <a:pPr indent="0" marL="0">
              <a:buNone/>
            </a:pPr>
            <a:r>
              <a:rPr lang="en-US" sz="2200" b="1" dirty="0">
                <a:solidFill>
                  <a:schemeClr val="tx2"/>
                </a:solidFill>
              </a:rPr>
              <a:t>Context</a:t>
            </a:r>
            <a:endParaRPr lang="en-US" sz="2200" dirty="0"/>
          </a:p>
        </p:txBody>
      </p:sp>
      <p:sp>
        <p:nvSpPr>
          <p:cNvPr id="15" name="Text 12"/>
          <p:cNvSpPr txBox="1"/>
          <p:nvPr/>
        </p:nvSpPr>
        <p:spPr>
          <a:xfrm>
            <a:off x="3639312" y="3520440"/>
            <a:ext cx="2148840" cy="822960"/>
          </a:xfrm>
          <a:prstGeom prst="rect">
            <a:avLst/>
          </a:prstGeom>
          <a:noFill/>
          <a:ln/>
        </p:spPr>
        <p:txBody>
          <a:bodyPr wrap="square" lIns="0" tIns="0" rIns="0" bIns="0" rtlCol="0" anchor="t"/>
          <a:lstStyle/>
          <a:p>
            <a:pPr indent="0" marL="0">
              <a:buNone/>
            </a:pPr>
            <a:r>
              <a:rPr lang="en-US" sz="1600" b="1" dirty="0">
                <a:solidFill>
                  <a:schemeClr val="accent1"/>
                </a:solidFill>
              </a:rPr>
              <a:t>Who are you, and what's the situation?</a:t>
            </a:r>
            <a:endParaRPr lang="en-US" sz="1600" dirty="0"/>
          </a:p>
        </p:txBody>
      </p:sp>
      <p:sp>
        <p:nvSpPr>
          <p:cNvPr id="16" name="Text 13"/>
          <p:cNvSpPr txBox="1"/>
          <p:nvPr/>
        </p:nvSpPr>
        <p:spPr>
          <a:xfrm>
            <a:off x="3639312" y="4389120"/>
            <a:ext cx="2148840" cy="1280160"/>
          </a:xfrm>
          <a:prstGeom prst="rect">
            <a:avLst/>
          </a:prstGeom>
          <a:noFill/>
          <a:ln/>
        </p:spPr>
        <p:txBody>
          <a:bodyPr wrap="square" lIns="0" tIns="0" rIns="0" bIns="0" rtlCol="0" anchor="t"/>
          <a:lstStyle/>
          <a:p>
            <a:pPr indent="0" marL="0">
              <a:buNone/>
            </a:pPr>
            <a:r>
              <a:rPr lang="en-US" sz="1500" i="1" dirty="0">
                <a:solidFill>
                  <a:schemeClr val="tx1"/>
                </a:solidFill>
              </a:rPr>
              <a:t>"For 25 new hires in Admin and Facilities, at a Malaysian company"</a:t>
            </a:r>
            <a:endParaRPr lang="en-US" sz="1500" dirty="0"/>
          </a:p>
        </p:txBody>
      </p:sp>
      <p:sp>
        <p:nvSpPr>
          <p:cNvPr id="17" name="GCSE card"/>
          <p:cNvSpPr/>
          <p:nvPr/>
        </p:nvSpPr>
        <p:spPr>
          <a:xfrm>
            <a:off x="6181344" y="1783080"/>
            <a:ext cx="2633472" cy="4114800"/>
          </a:xfrm>
          <a:prstGeom prst="roundRect">
            <a:avLst>
              <a:gd name="adj" fmla="val 2778"/>
            </a:avLst>
          </a:prstGeom>
          <a:solidFill>
            <a:schemeClr val="bg2"/>
          </a:solidFill>
          <a:ln/>
        </p:spPr>
      </p:sp>
      <p:sp>
        <p:nvSpPr>
          <p:cNvPr id="18" name="Number S"/>
          <p:cNvSpPr/>
          <p:nvPr/>
        </p:nvSpPr>
        <p:spPr>
          <a:xfrm>
            <a:off x="6455664" y="2057400"/>
            <a:ext cx="822960" cy="822960"/>
          </a:xfrm>
          <a:prstGeom prst="ellipse">
            <a:avLst/>
          </a:prstGeom>
          <a:solidFill>
            <a:schemeClr val="tx2"/>
          </a:solidFill>
          <a:ln/>
        </p:spPr>
      </p:sp>
      <p:sp>
        <p:nvSpPr>
          <p:cNvPr id="19" name="Text 16"/>
          <p:cNvSpPr txBox="1"/>
          <p:nvPr/>
        </p:nvSpPr>
        <p:spPr>
          <a:xfrm>
            <a:off x="6455664" y="2057400"/>
            <a:ext cx="822960" cy="822960"/>
          </a:xfrm>
          <a:prstGeom prst="rect">
            <a:avLst/>
          </a:prstGeom>
          <a:noFill/>
          <a:ln/>
        </p:spPr>
        <p:txBody>
          <a:bodyPr wrap="square" lIns="0" tIns="0" rIns="0" bIns="0" rtlCol="0" anchor="ctr"/>
          <a:lstStyle/>
          <a:p>
            <a:pPr algn="ctr" indent="0" marL="0">
              <a:buNone/>
            </a:pPr>
            <a:r>
              <a:rPr lang="en-US" sz="2200" b="1" dirty="0">
                <a:solidFill>
                  <a:schemeClr val="bg1"/>
                </a:solidFill>
              </a:rPr>
              <a:t>S</a:t>
            </a:r>
            <a:endParaRPr lang="en-US" sz="2200" dirty="0"/>
          </a:p>
        </p:txBody>
      </p:sp>
      <p:sp>
        <p:nvSpPr>
          <p:cNvPr id="20" name="Text 17"/>
          <p:cNvSpPr txBox="1"/>
          <p:nvPr/>
        </p:nvSpPr>
        <p:spPr>
          <a:xfrm>
            <a:off x="6455664" y="3017520"/>
            <a:ext cx="2194560" cy="457200"/>
          </a:xfrm>
          <a:prstGeom prst="rect">
            <a:avLst/>
          </a:prstGeom>
          <a:noFill/>
          <a:ln/>
        </p:spPr>
        <p:txBody>
          <a:bodyPr wrap="square" lIns="0" tIns="0" rIns="0" bIns="0" rtlCol="0" anchor="ctr"/>
          <a:lstStyle/>
          <a:p>
            <a:pPr indent="0" marL="0">
              <a:buNone/>
            </a:pPr>
            <a:r>
              <a:rPr lang="en-US" sz="2200" b="1" dirty="0">
                <a:solidFill>
                  <a:schemeClr val="tx2"/>
                </a:solidFill>
              </a:rPr>
              <a:t>Source</a:t>
            </a:r>
            <a:endParaRPr lang="en-US" sz="2200" dirty="0"/>
          </a:p>
        </p:txBody>
      </p:sp>
      <p:sp>
        <p:nvSpPr>
          <p:cNvPr id="21" name="Text 18"/>
          <p:cNvSpPr txBox="1"/>
          <p:nvPr/>
        </p:nvSpPr>
        <p:spPr>
          <a:xfrm>
            <a:off x="6455664" y="3520440"/>
            <a:ext cx="2148840" cy="822960"/>
          </a:xfrm>
          <a:prstGeom prst="rect">
            <a:avLst/>
          </a:prstGeom>
          <a:noFill/>
          <a:ln/>
        </p:spPr>
        <p:txBody>
          <a:bodyPr wrap="square" lIns="0" tIns="0" rIns="0" bIns="0" rtlCol="0" anchor="t"/>
          <a:lstStyle/>
          <a:p>
            <a:pPr indent="0" marL="0">
              <a:buNone/>
            </a:pPr>
            <a:r>
              <a:rPr lang="en-US" sz="1600" b="1" dirty="0">
                <a:solidFill>
                  <a:schemeClr val="accent1"/>
                </a:solidFill>
              </a:rPr>
              <a:t>What should Copilot use?</a:t>
            </a:r>
            <a:endParaRPr lang="en-US" sz="1600" dirty="0"/>
          </a:p>
        </p:txBody>
      </p:sp>
      <p:sp>
        <p:nvSpPr>
          <p:cNvPr id="22" name="Text 19"/>
          <p:cNvSpPr txBox="1"/>
          <p:nvPr/>
        </p:nvSpPr>
        <p:spPr>
          <a:xfrm>
            <a:off x="6455664" y="4389120"/>
            <a:ext cx="2148840" cy="1280160"/>
          </a:xfrm>
          <a:prstGeom prst="rect">
            <a:avLst/>
          </a:prstGeom>
          <a:noFill/>
          <a:ln/>
        </p:spPr>
        <p:txBody>
          <a:bodyPr wrap="square" lIns="0" tIns="0" rIns="0" bIns="0" rtlCol="0" anchor="t"/>
          <a:lstStyle/>
          <a:p>
            <a:pPr indent="0" marL="0">
              <a:buNone/>
            </a:pPr>
            <a:r>
              <a:rPr lang="en-US" sz="1500" i="1" dirty="0">
                <a:solidFill>
                  <a:schemeClr val="tx1"/>
                </a:solidFill>
              </a:rPr>
              <a:t>"Current business laptop guidance from reputable sources"</a:t>
            </a:r>
            <a:endParaRPr lang="en-US" sz="1500" dirty="0"/>
          </a:p>
        </p:txBody>
      </p:sp>
      <p:sp>
        <p:nvSpPr>
          <p:cNvPr id="23" name="GCSE card"/>
          <p:cNvSpPr/>
          <p:nvPr/>
        </p:nvSpPr>
        <p:spPr>
          <a:xfrm>
            <a:off x="8997696" y="1783080"/>
            <a:ext cx="2633472" cy="4114800"/>
          </a:xfrm>
          <a:prstGeom prst="roundRect">
            <a:avLst>
              <a:gd name="adj" fmla="val 2778"/>
            </a:avLst>
          </a:prstGeom>
          <a:solidFill>
            <a:schemeClr val="bg2"/>
          </a:solidFill>
          <a:ln/>
        </p:spPr>
      </p:sp>
      <p:sp>
        <p:nvSpPr>
          <p:cNvPr id="24" name="Number E"/>
          <p:cNvSpPr/>
          <p:nvPr/>
        </p:nvSpPr>
        <p:spPr>
          <a:xfrm>
            <a:off x="9272016" y="2057400"/>
            <a:ext cx="822960" cy="822960"/>
          </a:xfrm>
          <a:prstGeom prst="ellipse">
            <a:avLst/>
          </a:prstGeom>
          <a:solidFill>
            <a:schemeClr val="tx2"/>
          </a:solidFill>
          <a:ln/>
        </p:spPr>
      </p:sp>
      <p:sp>
        <p:nvSpPr>
          <p:cNvPr id="25" name="Text 22"/>
          <p:cNvSpPr txBox="1"/>
          <p:nvPr/>
        </p:nvSpPr>
        <p:spPr>
          <a:xfrm>
            <a:off x="9272016" y="2057400"/>
            <a:ext cx="822960" cy="822960"/>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6" name="Text 23"/>
          <p:cNvSpPr txBox="1"/>
          <p:nvPr/>
        </p:nvSpPr>
        <p:spPr>
          <a:xfrm>
            <a:off x="9272016" y="3017520"/>
            <a:ext cx="2194560" cy="457200"/>
          </a:xfrm>
          <a:prstGeom prst="rect">
            <a:avLst/>
          </a:prstGeom>
          <a:noFill/>
          <a:ln/>
        </p:spPr>
        <p:txBody>
          <a:bodyPr wrap="square" lIns="0" tIns="0" rIns="0" bIns="0" rtlCol="0" anchor="ctr"/>
          <a:lstStyle/>
          <a:p>
            <a:pPr indent="0" marL="0">
              <a:buNone/>
            </a:pPr>
            <a:r>
              <a:rPr lang="en-US" sz="2200" b="1" dirty="0">
                <a:solidFill>
                  <a:schemeClr val="tx2"/>
                </a:solidFill>
              </a:rPr>
              <a:t>Expectations</a:t>
            </a:r>
            <a:endParaRPr lang="en-US" sz="2200" dirty="0"/>
          </a:p>
        </p:txBody>
      </p:sp>
      <p:sp>
        <p:nvSpPr>
          <p:cNvPr id="27" name="Text 24"/>
          <p:cNvSpPr txBox="1"/>
          <p:nvPr/>
        </p:nvSpPr>
        <p:spPr>
          <a:xfrm>
            <a:off x="9272016" y="3520440"/>
            <a:ext cx="2148840" cy="822960"/>
          </a:xfrm>
          <a:prstGeom prst="rect">
            <a:avLst/>
          </a:prstGeom>
          <a:noFill/>
          <a:ln/>
        </p:spPr>
        <p:txBody>
          <a:bodyPr wrap="square" lIns="0" tIns="0" rIns="0" bIns="0" rtlCol="0" anchor="t"/>
          <a:lstStyle/>
          <a:p>
            <a:pPr indent="0" marL="0">
              <a:buNone/>
            </a:pPr>
            <a:r>
              <a:rPr lang="en-US" sz="1600" b="1" dirty="0">
                <a:solidFill>
                  <a:schemeClr val="accent1"/>
                </a:solidFill>
              </a:rPr>
              <a:t>What should the result look like?</a:t>
            </a:r>
            <a:endParaRPr lang="en-US" sz="1600" dirty="0"/>
          </a:p>
        </p:txBody>
      </p:sp>
      <p:sp>
        <p:nvSpPr>
          <p:cNvPr id="28" name="Text 25"/>
          <p:cNvSpPr txBox="1"/>
          <p:nvPr/>
        </p:nvSpPr>
        <p:spPr>
          <a:xfrm>
            <a:off x="9272016" y="4389120"/>
            <a:ext cx="2148840" cy="1280160"/>
          </a:xfrm>
          <a:prstGeom prst="rect">
            <a:avLst/>
          </a:prstGeom>
          <a:noFill/>
          <a:ln/>
        </p:spPr>
        <p:txBody>
          <a:bodyPr wrap="square" lIns="0" tIns="0" rIns="0" bIns="0" rtlCol="0" anchor="t"/>
          <a:lstStyle/>
          <a:p>
            <a:pPr indent="0" marL="0">
              <a:buNone/>
            </a:pPr>
            <a:r>
              <a:rPr lang="en-US" sz="1500" i="1" dirty="0">
                <a:solidFill>
                  <a:schemeClr val="tx1"/>
                </a:solidFill>
              </a:rPr>
              <a:t>"A numbered list under 200 words, in plain English"</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1097280" y="2103120"/>
            <a:ext cx="9966960" cy="1828800"/>
          </a:xfrm>
          <a:prstGeom prst="rect">
            <a:avLst/>
          </a:prstGeom>
          <a:noFill/>
          <a:ln/>
        </p:spPr>
        <p:txBody>
          <a:bodyPr wrap="square" rtlCol="0" anchor="ctr"/>
          <a:lstStyle/>
          <a:p>
            <a:pPr algn="ctr" indent="0" marL="0">
              <a:buNone/>
            </a:pPr>
            <a:r>
              <a:rPr lang="en-US" sz="4000" b="1" dirty="0">
                <a:solidFill>
                  <a:schemeClr val="bg1"/>
                </a:solidFill>
              </a:rPr>
              <a:t>A source makes an answer easier to check. It doesn't make it correct.</a:t>
            </a:r>
            <a:endParaRPr lang="en-US" sz="4000" dirty="0"/>
          </a:p>
        </p:txBody>
      </p:sp>
      <p:sp>
        <p:nvSpPr>
          <p:cNvPr id="3" name="Text 0"/>
          <p:cNvSpPr/>
          <p:nvPr>
            <p:ph idx="101" type="body" hasCustomPrompt="1"/>
          </p:nvPr>
        </p:nvSpPr>
        <p:spPr>
          <a:xfrm>
            <a:off x="1097280" y="4114800"/>
            <a:ext cx="9966960" cy="731520"/>
          </a:xfrm>
          <a:prstGeom prst="rect">
            <a:avLst/>
          </a:prstGeom>
          <a:noFill/>
          <a:ln/>
        </p:spPr>
        <p:txBody>
          <a:bodyPr wrap="square" rtlCol="0" anchor="t"/>
          <a:lstStyle/>
          <a:p>
            <a:pPr algn="ctr" indent="0" marL="0">
              <a:buNone/>
            </a:pPr>
            <a:r>
              <a:rPr lang="en-US" sz="1800" i="1" dirty="0">
                <a:solidFill>
                  <a:schemeClr val="bg1"/>
                </a:solidFill>
              </a:rPr>
              <a:t>You're responsible for anything you send to a supplier or your HOD.</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CHAPTER 03</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Make Copilot work your way</a:t>
            </a:r>
            <a:endParaRPr lang="en-US" sz="3200" dirty="0"/>
          </a:p>
        </p:txBody>
      </p:sp>
      <p:sp>
        <p:nvSpPr>
          <p:cNvPr id="5" name="Feature card"/>
          <p:cNvSpPr/>
          <p:nvPr/>
        </p:nvSpPr>
        <p:spPr>
          <a:xfrm>
            <a:off x="548640" y="1783080"/>
            <a:ext cx="3566160" cy="4114800"/>
          </a:xfrm>
          <a:prstGeom prst="roundRect">
            <a:avLst>
              <a:gd name="adj" fmla="val 2051"/>
            </a:avLst>
          </a:prstGeom>
          <a:solidFill>
            <a:schemeClr val="bg2"/>
          </a:solidFill>
          <a:ln/>
        </p:spPr>
      </p:sp>
      <p:sp>
        <p:nvSpPr>
          <p:cNvPr id="6" name="Icon circle"/>
          <p:cNvSpPr/>
          <p:nvPr/>
        </p:nvSpPr>
        <p:spPr>
          <a:xfrm>
            <a:off x="868680" y="2103120"/>
            <a:ext cx="822960" cy="822960"/>
          </a:xfrm>
          <a:prstGeom prst="ellipse">
            <a:avLst/>
          </a:prstGeom>
          <a:solidFill>
            <a:schemeClr val="accent1"/>
          </a:solidFill>
          <a:ln/>
        </p:spPr>
      </p:sp>
      <p:pic>
        <p:nvPicPr>
          <p:cNvPr id="7" name="Image 0" descr="preencoded.png">    </p:cNvPr>
          <p:cNvPicPr>
            <a:picLocks noChangeAspect="1"/>
          </p:cNvPicPr>
          <p:nvPr/>
        </p:nvPicPr>
        <p:blipFill>
          <a:blip r:embed="rId1"/>
          <a:stretch>
            <a:fillRect/>
          </a:stretch>
        </p:blipFill>
        <p:spPr>
          <a:xfrm>
            <a:off x="1074420" y="2308860"/>
            <a:ext cx="411480" cy="411480"/>
          </a:xfrm>
          <a:prstGeom prst="rect">
            <a:avLst/>
          </a:prstGeom>
        </p:spPr>
      </p:pic>
      <p:sp>
        <p:nvSpPr>
          <p:cNvPr id="8" name="Text 4"/>
          <p:cNvSpPr txBox="1"/>
          <p:nvPr/>
        </p:nvSpPr>
        <p:spPr>
          <a:xfrm>
            <a:off x="868680" y="3108960"/>
            <a:ext cx="3017520" cy="457200"/>
          </a:xfrm>
          <a:prstGeom prst="rect">
            <a:avLst/>
          </a:prstGeom>
          <a:noFill/>
          <a:ln/>
        </p:spPr>
        <p:txBody>
          <a:bodyPr wrap="square" lIns="0" tIns="0" rIns="0" bIns="0" rtlCol="0" anchor="ctr"/>
          <a:lstStyle/>
          <a:p>
            <a:pPr indent="0" marL="0">
              <a:buNone/>
            </a:pPr>
            <a:r>
              <a:rPr lang="en-US" sz="2200" b="1" dirty="0">
                <a:solidFill>
                  <a:schemeClr val="tx2"/>
                </a:solidFill>
              </a:rPr>
              <a:t>Prompt Gallery</a:t>
            </a:r>
            <a:endParaRPr lang="en-US" sz="2200" dirty="0"/>
          </a:p>
        </p:txBody>
      </p:sp>
      <p:sp>
        <p:nvSpPr>
          <p:cNvPr id="9" name="Text 5"/>
          <p:cNvSpPr txBox="1"/>
          <p:nvPr/>
        </p:nvSpPr>
        <p:spPr>
          <a:xfrm>
            <a:off x="868680" y="3611880"/>
            <a:ext cx="2971800" cy="1188720"/>
          </a:xfrm>
          <a:prstGeom prst="rect">
            <a:avLst/>
          </a:prstGeom>
          <a:noFill/>
          <a:ln/>
        </p:spPr>
        <p:txBody>
          <a:bodyPr wrap="square" lIns="0" tIns="0" rIns="0" bIns="0" rtlCol="0" anchor="t"/>
          <a:lstStyle/>
          <a:p>
            <a:pPr indent="0" marL="0">
              <a:buNone/>
            </a:pPr>
            <a:r>
              <a:rPr lang="en-US" sz="1600" dirty="0">
                <a:solidFill>
                  <a:schemeClr val="tx1"/>
                </a:solidFill>
              </a:rPr>
              <a:t>Save a prompt that worked, so you never write it twice.</a:t>
            </a:r>
            <a:endParaRPr lang="en-US" sz="1600" dirty="0"/>
          </a:p>
        </p:txBody>
      </p:sp>
      <p:sp>
        <p:nvSpPr>
          <p:cNvPr id="10" name="Text 6"/>
          <p:cNvSpPr txBox="1"/>
          <p:nvPr/>
        </p:nvSpPr>
        <p:spPr>
          <a:xfrm>
            <a:off x="868680" y="4983480"/>
            <a:ext cx="2971800" cy="640080"/>
          </a:xfrm>
          <a:prstGeom prst="rect">
            <a:avLst/>
          </a:prstGeom>
          <a:noFill/>
          <a:ln/>
        </p:spPr>
        <p:txBody>
          <a:bodyPr wrap="square" lIns="0" tIns="0" rIns="0" bIns="0" rtlCol="0" anchor="t"/>
          <a:lstStyle/>
          <a:p>
            <a:pPr indent="0" marL="0">
              <a:buNone/>
            </a:pPr>
            <a:r>
              <a:rPr lang="en-US" sz="1400" b="1" dirty="0">
                <a:solidFill>
                  <a:schemeClr val="accent1"/>
                </a:solidFill>
              </a:rPr>
              <a:t>Hover a prompt &gt; Save prompt</a:t>
            </a:r>
            <a:endParaRPr lang="en-US" sz="1400" dirty="0"/>
          </a:p>
        </p:txBody>
      </p:sp>
      <p:sp>
        <p:nvSpPr>
          <p:cNvPr id="11" name="Feature card"/>
          <p:cNvSpPr/>
          <p:nvPr/>
        </p:nvSpPr>
        <p:spPr>
          <a:xfrm>
            <a:off x="4297680" y="1783080"/>
            <a:ext cx="3566160" cy="4114800"/>
          </a:xfrm>
          <a:prstGeom prst="roundRect">
            <a:avLst>
              <a:gd name="adj" fmla="val 2051"/>
            </a:avLst>
          </a:prstGeom>
          <a:solidFill>
            <a:schemeClr val="bg2"/>
          </a:solidFill>
          <a:ln/>
        </p:spPr>
      </p:sp>
      <p:sp>
        <p:nvSpPr>
          <p:cNvPr id="12" name="Icon circle"/>
          <p:cNvSpPr/>
          <p:nvPr/>
        </p:nvSpPr>
        <p:spPr>
          <a:xfrm>
            <a:off x="4617720" y="2103120"/>
            <a:ext cx="822960" cy="822960"/>
          </a:xfrm>
          <a:prstGeom prst="ellipse">
            <a:avLst/>
          </a:prstGeom>
          <a:solidFill>
            <a:schemeClr val="accent1"/>
          </a:solidFill>
          <a:ln/>
        </p:spPr>
      </p:sp>
      <p:pic>
        <p:nvPicPr>
          <p:cNvPr id="13" name="Image 1" descr="preencoded.png">    </p:cNvPr>
          <p:cNvPicPr>
            <a:picLocks noChangeAspect="1"/>
          </p:cNvPicPr>
          <p:nvPr/>
        </p:nvPicPr>
        <p:blipFill>
          <a:blip r:embed="rId2"/>
          <a:stretch>
            <a:fillRect/>
          </a:stretch>
        </p:blipFill>
        <p:spPr>
          <a:xfrm>
            <a:off x="4823460" y="2308860"/>
            <a:ext cx="411480" cy="411480"/>
          </a:xfrm>
          <a:prstGeom prst="rect">
            <a:avLst/>
          </a:prstGeom>
        </p:spPr>
      </p:pic>
      <p:sp>
        <p:nvSpPr>
          <p:cNvPr id="14" name="Text 9"/>
          <p:cNvSpPr txBox="1"/>
          <p:nvPr/>
        </p:nvSpPr>
        <p:spPr>
          <a:xfrm>
            <a:off x="4617720" y="3108960"/>
            <a:ext cx="3017520" cy="457200"/>
          </a:xfrm>
          <a:prstGeom prst="rect">
            <a:avLst/>
          </a:prstGeom>
          <a:noFill/>
          <a:ln/>
        </p:spPr>
        <p:txBody>
          <a:bodyPr wrap="square" lIns="0" tIns="0" rIns="0" bIns="0" rtlCol="0" anchor="ctr"/>
          <a:lstStyle/>
          <a:p>
            <a:pPr indent="0" marL="0">
              <a:buNone/>
            </a:pPr>
            <a:r>
              <a:rPr lang="en-US" sz="2200" b="1" dirty="0">
                <a:solidFill>
                  <a:schemeClr val="tx2"/>
                </a:solidFill>
              </a:rPr>
              <a:t>Custom instructions</a:t>
            </a:r>
            <a:endParaRPr lang="en-US" sz="2200" dirty="0"/>
          </a:p>
        </p:txBody>
      </p:sp>
      <p:sp>
        <p:nvSpPr>
          <p:cNvPr id="15" name="Text 10"/>
          <p:cNvSpPr txBox="1"/>
          <p:nvPr/>
        </p:nvSpPr>
        <p:spPr>
          <a:xfrm>
            <a:off x="4617720" y="3611880"/>
            <a:ext cx="2971800" cy="1188720"/>
          </a:xfrm>
          <a:prstGeom prst="rect">
            <a:avLst/>
          </a:prstGeom>
          <a:noFill/>
          <a:ln/>
        </p:spPr>
        <p:txBody>
          <a:bodyPr wrap="square" lIns="0" tIns="0" rIns="0" bIns="0" rtlCol="0" anchor="t"/>
          <a:lstStyle/>
          <a:p>
            <a:pPr indent="0" marL="0">
              <a:buNone/>
            </a:pPr>
            <a:r>
              <a:rPr lang="en-US" sz="1600" dirty="0">
                <a:solidFill>
                  <a:schemeClr val="tx1"/>
                </a:solidFill>
              </a:rPr>
              <a:t>Tell Copilot your role and how you like answers written.</a:t>
            </a:r>
            <a:endParaRPr lang="en-US" sz="1600" dirty="0"/>
          </a:p>
        </p:txBody>
      </p:sp>
      <p:sp>
        <p:nvSpPr>
          <p:cNvPr id="16" name="Text 11"/>
          <p:cNvSpPr txBox="1"/>
          <p:nvPr/>
        </p:nvSpPr>
        <p:spPr>
          <a:xfrm>
            <a:off x="4617720" y="4983480"/>
            <a:ext cx="2971800" cy="640080"/>
          </a:xfrm>
          <a:prstGeom prst="rect">
            <a:avLst/>
          </a:prstGeom>
          <a:noFill/>
          <a:ln/>
        </p:spPr>
        <p:txBody>
          <a:bodyPr wrap="square" lIns="0" tIns="0" rIns="0" bIns="0" rtlCol="0" anchor="t"/>
          <a:lstStyle/>
          <a:p>
            <a:pPr indent="0" marL="0">
              <a:buNone/>
            </a:pPr>
            <a:r>
              <a:rPr lang="en-US" sz="1400" b="1" dirty="0">
                <a:solidFill>
                  <a:schemeClr val="accent1"/>
                </a:solidFill>
              </a:rPr>
              <a:t>Settings &gt; Personalization</a:t>
            </a:r>
            <a:endParaRPr lang="en-US" sz="1400" dirty="0"/>
          </a:p>
        </p:txBody>
      </p:sp>
      <p:sp>
        <p:nvSpPr>
          <p:cNvPr id="17" name="Feature card"/>
          <p:cNvSpPr/>
          <p:nvPr/>
        </p:nvSpPr>
        <p:spPr>
          <a:xfrm>
            <a:off x="8046720" y="1783080"/>
            <a:ext cx="3566160" cy="4114800"/>
          </a:xfrm>
          <a:prstGeom prst="roundRect">
            <a:avLst>
              <a:gd name="adj" fmla="val 2051"/>
            </a:avLst>
          </a:prstGeom>
          <a:solidFill>
            <a:schemeClr val="bg2"/>
          </a:solidFill>
          <a:ln/>
        </p:spPr>
      </p:sp>
      <p:sp>
        <p:nvSpPr>
          <p:cNvPr id="18" name="Icon circle"/>
          <p:cNvSpPr/>
          <p:nvPr/>
        </p:nvSpPr>
        <p:spPr>
          <a:xfrm>
            <a:off x="8366760" y="2103120"/>
            <a:ext cx="822960" cy="822960"/>
          </a:xfrm>
          <a:prstGeom prst="ellipse">
            <a:avLst/>
          </a:prstGeom>
          <a:solidFill>
            <a:schemeClr val="accent1"/>
          </a:solidFill>
          <a:ln/>
        </p:spPr>
      </p:sp>
      <p:pic>
        <p:nvPicPr>
          <p:cNvPr id="19" name="Image 2" descr="preencoded.png">    </p:cNvPr>
          <p:cNvPicPr>
            <a:picLocks noChangeAspect="1"/>
          </p:cNvPicPr>
          <p:nvPr/>
        </p:nvPicPr>
        <p:blipFill>
          <a:blip r:embed="rId3"/>
          <a:stretch>
            <a:fillRect/>
          </a:stretch>
        </p:blipFill>
        <p:spPr>
          <a:xfrm>
            <a:off x="8572500" y="2308860"/>
            <a:ext cx="411480" cy="411480"/>
          </a:xfrm>
          <a:prstGeom prst="rect">
            <a:avLst/>
          </a:prstGeom>
        </p:spPr>
      </p:pic>
      <p:sp>
        <p:nvSpPr>
          <p:cNvPr id="20" name="Text 14"/>
          <p:cNvSpPr txBox="1"/>
          <p:nvPr/>
        </p:nvSpPr>
        <p:spPr>
          <a:xfrm>
            <a:off x="8366760" y="3108960"/>
            <a:ext cx="3017520" cy="457200"/>
          </a:xfrm>
          <a:prstGeom prst="rect">
            <a:avLst/>
          </a:prstGeom>
          <a:noFill/>
          <a:ln/>
        </p:spPr>
        <p:txBody>
          <a:bodyPr wrap="square" lIns="0" tIns="0" rIns="0" bIns="0" rtlCol="0" anchor="ctr"/>
          <a:lstStyle/>
          <a:p>
            <a:pPr indent="0" marL="0">
              <a:buNone/>
            </a:pPr>
            <a:r>
              <a:rPr lang="en-US" sz="2200" b="1" dirty="0">
                <a:solidFill>
                  <a:schemeClr val="tx2"/>
                </a:solidFill>
              </a:rPr>
              <a:t>Memory</a:t>
            </a:r>
            <a:endParaRPr lang="en-US" sz="2200" dirty="0"/>
          </a:p>
        </p:txBody>
      </p:sp>
      <p:sp>
        <p:nvSpPr>
          <p:cNvPr id="21" name="Text 15"/>
          <p:cNvSpPr txBox="1"/>
          <p:nvPr/>
        </p:nvSpPr>
        <p:spPr>
          <a:xfrm>
            <a:off x="8366760" y="3611880"/>
            <a:ext cx="2971800" cy="1188720"/>
          </a:xfrm>
          <a:prstGeom prst="rect">
            <a:avLst/>
          </a:prstGeom>
          <a:noFill/>
          <a:ln/>
        </p:spPr>
        <p:txBody>
          <a:bodyPr wrap="square" lIns="0" tIns="0" rIns="0" bIns="0" rtlCol="0" anchor="t"/>
          <a:lstStyle/>
          <a:p>
            <a:pPr indent="0" marL="0">
              <a:buNone/>
            </a:pPr>
            <a:r>
              <a:rPr lang="en-US" sz="1600" dirty="0">
                <a:solidFill>
                  <a:schemeClr val="tx1"/>
                </a:solidFill>
              </a:rPr>
              <a:t>Copilot remembers preferences across chats. You can delete them.</a:t>
            </a:r>
            <a:endParaRPr lang="en-US" sz="1600" dirty="0"/>
          </a:p>
        </p:txBody>
      </p:sp>
      <p:sp>
        <p:nvSpPr>
          <p:cNvPr id="22" name="Text 16"/>
          <p:cNvSpPr txBox="1"/>
          <p:nvPr/>
        </p:nvSpPr>
        <p:spPr>
          <a:xfrm>
            <a:off x="8366760" y="4983480"/>
            <a:ext cx="2971800" cy="640080"/>
          </a:xfrm>
          <a:prstGeom prst="rect">
            <a:avLst/>
          </a:prstGeom>
          <a:noFill/>
          <a:ln/>
        </p:spPr>
        <p:txBody>
          <a:bodyPr wrap="square" lIns="0" tIns="0" rIns="0" bIns="0" rtlCol="0" anchor="t"/>
          <a:lstStyle/>
          <a:p>
            <a:pPr indent="0" marL="0">
              <a:buNone/>
            </a:pPr>
            <a:r>
              <a:rPr lang="en-US" sz="1400" b="1" dirty="0">
                <a:solidFill>
                  <a:schemeClr val="accent1"/>
                </a:solidFill>
              </a:rPr>
              <a:t>Never budgets, names or passwords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YOUR TURN  ·  CHAPTER 03</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Write the vendor requirements with GCSE</a:t>
            </a:r>
            <a:endParaRPr lang="en-US" sz="3200" dirty="0"/>
          </a:p>
        </p:txBody>
      </p:sp>
      <p:sp>
        <p:nvSpPr>
          <p:cNvPr id="5" name="Number 1"/>
          <p:cNvSpPr/>
          <p:nvPr/>
        </p:nvSpPr>
        <p:spPr>
          <a:xfrm>
            <a:off x="548640" y="1792224"/>
            <a:ext cx="457200" cy="457200"/>
          </a:xfrm>
          <a:prstGeom prst="ellipse">
            <a:avLst/>
          </a:prstGeom>
          <a:solidFill>
            <a:schemeClr val="accent1"/>
          </a:solidFill>
          <a:ln/>
        </p:spPr>
      </p:sp>
      <p:sp>
        <p:nvSpPr>
          <p:cNvPr id="6" name="Text 3"/>
          <p:cNvSpPr txBox="1"/>
          <p:nvPr/>
        </p:nvSpPr>
        <p:spPr>
          <a:xfrm>
            <a:off x="548640" y="179222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4"/>
          <p:cNvSpPr txBox="1"/>
          <p:nvPr/>
        </p:nvSpPr>
        <p:spPr>
          <a:xfrm>
            <a:off x="1188720" y="1691640"/>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3.2  </a:t>
            </a:r>
            <a:pPr indent="0" marL="0">
              <a:buNone/>
            </a:pPr>
            <a:r>
              <a:rPr lang="en-US" sz="1600" dirty="0">
                <a:solidFill>
                  <a:schemeClr val="tx1"/>
                </a:solidFill>
              </a:rPr>
              <a:t>Build the requirements in four prompts, one GCSE part at a time</a:t>
            </a:r>
            <a:endParaRPr lang="en-US" sz="1600" dirty="0"/>
          </a:p>
        </p:txBody>
      </p:sp>
      <p:sp>
        <p:nvSpPr>
          <p:cNvPr id="8" name="Number 2"/>
          <p:cNvSpPr/>
          <p:nvPr/>
        </p:nvSpPr>
        <p:spPr>
          <a:xfrm>
            <a:off x="548640" y="2450592"/>
            <a:ext cx="457200" cy="457200"/>
          </a:xfrm>
          <a:prstGeom prst="ellipse">
            <a:avLst/>
          </a:prstGeom>
          <a:solidFill>
            <a:schemeClr val="accent1"/>
          </a:solidFill>
          <a:ln/>
        </p:spPr>
      </p:sp>
      <p:sp>
        <p:nvSpPr>
          <p:cNvPr id="9" name="Text 6"/>
          <p:cNvSpPr txBox="1"/>
          <p:nvPr/>
        </p:nvSpPr>
        <p:spPr>
          <a:xfrm>
            <a:off x="548640" y="24505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1188720" y="2350008"/>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3.3  </a:t>
            </a:r>
            <a:pPr indent="0" marL="0">
              <a:buNone/>
            </a:pPr>
            <a:r>
              <a:rPr lang="en-US" sz="1600" dirty="0">
                <a:solidFill>
                  <a:schemeClr val="tx1"/>
                </a:solidFill>
              </a:rPr>
              <a:t>Improve the answer with a follow-up</a:t>
            </a:r>
            <a:endParaRPr lang="en-US" sz="1600" dirty="0"/>
          </a:p>
        </p:txBody>
      </p:sp>
      <p:sp>
        <p:nvSpPr>
          <p:cNvPr id="11" name="Number 3"/>
          <p:cNvSpPr/>
          <p:nvPr/>
        </p:nvSpPr>
        <p:spPr>
          <a:xfrm>
            <a:off x="548640" y="3108960"/>
            <a:ext cx="457200" cy="457200"/>
          </a:xfrm>
          <a:prstGeom prst="ellipse">
            <a:avLst/>
          </a:prstGeom>
          <a:solidFill>
            <a:schemeClr val="accent1"/>
          </a:solidFill>
          <a:ln/>
        </p:spPr>
      </p:sp>
      <p:sp>
        <p:nvSpPr>
          <p:cNvPr id="12" name="Text 9"/>
          <p:cNvSpPr txBox="1"/>
          <p:nvPr/>
        </p:nvSpPr>
        <p:spPr>
          <a:xfrm>
            <a:off x="548640" y="31089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0"/>
          <p:cNvSpPr txBox="1"/>
          <p:nvPr/>
        </p:nvSpPr>
        <p:spPr>
          <a:xfrm>
            <a:off x="1188720" y="3008376"/>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3.4  </a:t>
            </a:r>
            <a:pPr indent="0" marL="0">
              <a:buNone/>
            </a:pPr>
            <a:r>
              <a:rPr lang="en-US" sz="1600" dirty="0">
                <a:solidFill>
                  <a:schemeClr val="tx1"/>
                </a:solidFill>
              </a:rPr>
              <a:t>Open the sources and check one claim</a:t>
            </a:r>
            <a:endParaRPr lang="en-US" sz="1600" dirty="0"/>
          </a:p>
        </p:txBody>
      </p:sp>
      <p:sp>
        <p:nvSpPr>
          <p:cNvPr id="14" name="Number 4"/>
          <p:cNvSpPr/>
          <p:nvPr/>
        </p:nvSpPr>
        <p:spPr>
          <a:xfrm>
            <a:off x="548640" y="3767328"/>
            <a:ext cx="457200" cy="457200"/>
          </a:xfrm>
          <a:prstGeom prst="ellipse">
            <a:avLst/>
          </a:prstGeom>
          <a:solidFill>
            <a:schemeClr val="accent1"/>
          </a:solidFill>
          <a:ln/>
        </p:spPr>
      </p:sp>
      <p:sp>
        <p:nvSpPr>
          <p:cNvPr id="15" name="Text 12"/>
          <p:cNvSpPr txBox="1"/>
          <p:nvPr/>
        </p:nvSpPr>
        <p:spPr>
          <a:xfrm>
            <a:off x="548640" y="3767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6" name="Text 13"/>
          <p:cNvSpPr txBox="1"/>
          <p:nvPr/>
        </p:nvSpPr>
        <p:spPr>
          <a:xfrm>
            <a:off x="1188720" y="3666744"/>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3.5  </a:t>
            </a:r>
            <a:pPr indent="0" marL="0">
              <a:buNone/>
            </a:pPr>
            <a:r>
              <a:rPr lang="en-US" sz="1600" dirty="0">
                <a:solidFill>
                  <a:schemeClr val="tx1"/>
                </a:solidFill>
              </a:rPr>
              <a:t>Save your best prompt in Prompt Gallery</a:t>
            </a:r>
            <a:endParaRPr lang="en-US" sz="1600" dirty="0"/>
          </a:p>
        </p:txBody>
      </p:sp>
      <p:sp>
        <p:nvSpPr>
          <p:cNvPr id="17" name="Number 5"/>
          <p:cNvSpPr/>
          <p:nvPr/>
        </p:nvSpPr>
        <p:spPr>
          <a:xfrm>
            <a:off x="548640" y="4425696"/>
            <a:ext cx="457200" cy="457200"/>
          </a:xfrm>
          <a:prstGeom prst="ellipse">
            <a:avLst/>
          </a:prstGeom>
          <a:solidFill>
            <a:schemeClr val="accent1"/>
          </a:solidFill>
          <a:ln/>
        </p:spPr>
      </p:sp>
      <p:sp>
        <p:nvSpPr>
          <p:cNvPr id="18" name="Text 15"/>
          <p:cNvSpPr txBox="1"/>
          <p:nvPr/>
        </p:nvSpPr>
        <p:spPr>
          <a:xfrm>
            <a:off x="548640" y="44256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9" name="Text 16"/>
          <p:cNvSpPr txBox="1"/>
          <p:nvPr/>
        </p:nvSpPr>
        <p:spPr>
          <a:xfrm>
            <a:off x="1188720" y="4325112"/>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3.6  </a:t>
            </a:r>
            <a:pPr indent="0" marL="0">
              <a:buNone/>
            </a:pPr>
            <a:r>
              <a:rPr lang="en-US" sz="1600" dirty="0">
                <a:solidFill>
                  <a:schemeClr val="tx1"/>
                </a:solidFill>
              </a:rPr>
              <a:t>Add custom instructions and look at your memories</a:t>
            </a:r>
            <a:endParaRPr lang="en-US" sz="1600" dirty="0"/>
          </a:p>
        </p:txBody>
      </p:sp>
      <p:sp>
        <p:nvSpPr>
          <p:cNvPr id="20" name="Checkpoint card"/>
          <p:cNvSpPr/>
          <p:nvPr/>
        </p:nvSpPr>
        <p:spPr>
          <a:xfrm>
            <a:off x="7680960" y="1691640"/>
            <a:ext cx="3959352" cy="2743200"/>
          </a:xfrm>
          <a:prstGeom prst="roundRect">
            <a:avLst>
              <a:gd name="adj" fmla="val 2667"/>
            </a:avLst>
          </a:prstGeom>
          <a:solidFill>
            <a:schemeClr val="accent1">
              <a:alpha val="12000"/>
            </a:schemeClr>
          </a:solidFill>
          <a:ln/>
        </p:spPr>
      </p:sp>
      <p:sp>
        <p:nvSpPr>
          <p:cNvPr id="21" name="Icon circle"/>
          <p:cNvSpPr/>
          <p:nvPr/>
        </p:nvSpPr>
        <p:spPr>
          <a:xfrm>
            <a:off x="7955280" y="1920240"/>
            <a:ext cx="548640" cy="548640"/>
          </a:xfrm>
          <a:prstGeom prst="ellipse">
            <a:avLst/>
          </a:prstGeom>
          <a:solidFill>
            <a:schemeClr val="accent1"/>
          </a:solidFill>
          <a:ln/>
        </p:spPr>
      </p:sp>
      <p:pic>
        <p:nvPicPr>
          <p:cNvPr id="22" name="Image 0" descr="preencoded.png">    </p:cNvPr>
          <p:cNvPicPr>
            <a:picLocks noChangeAspect="1"/>
          </p:cNvPicPr>
          <p:nvPr/>
        </p:nvPicPr>
        <p:blipFill>
          <a:blip r:embed="rId1"/>
          <a:stretch>
            <a:fillRect/>
          </a:stretch>
        </p:blipFill>
        <p:spPr>
          <a:xfrm>
            <a:off x="8092440" y="2057400"/>
            <a:ext cx="274320" cy="274320"/>
          </a:xfrm>
          <a:prstGeom prst="rect">
            <a:avLst/>
          </a:prstGeom>
        </p:spPr>
      </p:pic>
      <p:sp>
        <p:nvSpPr>
          <p:cNvPr id="23" name="Text 19"/>
          <p:cNvSpPr txBox="1"/>
          <p:nvPr/>
        </p:nvSpPr>
        <p:spPr>
          <a:xfrm>
            <a:off x="8641080" y="1920240"/>
            <a:ext cx="2834640" cy="548640"/>
          </a:xfrm>
          <a:prstGeom prst="rect">
            <a:avLst/>
          </a:prstGeom>
          <a:noFill/>
          <a:ln/>
        </p:spPr>
        <p:txBody>
          <a:bodyPr wrap="square" lIns="0" tIns="0" rIns="0" bIns="0" rtlCol="0" anchor="ctr"/>
          <a:lstStyle/>
          <a:p>
            <a:pPr indent="0" marL="0">
              <a:buNone/>
            </a:pPr>
            <a:r>
              <a:rPr lang="en-US" sz="1800" b="1" dirty="0">
                <a:solidFill>
                  <a:schemeClr val="tx2"/>
                </a:solidFill>
              </a:rPr>
              <a:t>Checkpoint</a:t>
            </a:r>
            <a:endParaRPr lang="en-US" sz="1800" dirty="0"/>
          </a:p>
        </p:txBody>
      </p:sp>
      <p:sp>
        <p:nvSpPr>
          <p:cNvPr id="24" name="Text 20"/>
          <p:cNvSpPr txBox="1"/>
          <p:nvPr/>
        </p:nvSpPr>
        <p:spPr>
          <a:xfrm>
            <a:off x="7955280" y="2606040"/>
            <a:ext cx="3474720" cy="1737360"/>
          </a:xfrm>
          <a:prstGeom prst="rect">
            <a:avLst/>
          </a:prstGeom>
          <a:noFill/>
          <a:ln/>
        </p:spPr>
        <p:txBody>
          <a:bodyPr wrap="square" lIns="0" tIns="0" rIns="0" bIns="0" rtlCol="0" anchor="t"/>
          <a:lstStyle/>
          <a:p>
            <a:pPr indent="0" marL="0">
              <a:buNone/>
            </a:pPr>
            <a:r>
              <a:rPr lang="en-US" sz="1500" dirty="0">
                <a:solidFill>
                  <a:schemeClr val="tx1"/>
                </a:solidFill>
              </a:rPr>
              <a:t>Your requirements are a numbered list you'd be happy to send to a vendor, and your prompt is saved.</a:t>
            </a:r>
            <a:endParaRPr lang="en-US" sz="1500" dirty="0"/>
          </a:p>
        </p:txBody>
      </p:sp>
      <p:sp>
        <p:nvSpPr>
          <p:cNvPr id="25" name="Prompts card"/>
          <p:cNvSpPr/>
          <p:nvPr/>
        </p:nvSpPr>
        <p:spPr>
          <a:xfrm>
            <a:off x="7680960" y="4617720"/>
            <a:ext cx="3959352" cy="1234440"/>
          </a:xfrm>
          <a:prstGeom prst="roundRect">
            <a:avLst>
              <a:gd name="adj" fmla="val 5926"/>
            </a:avLst>
          </a:prstGeom>
          <a:solidFill>
            <a:schemeClr val="bg2"/>
          </a:solidFill>
          <a:ln/>
        </p:spPr>
      </p:sp>
      <p:sp>
        <p:nvSpPr>
          <p:cNvPr id="26" name="Icon circle"/>
          <p:cNvSpPr/>
          <p:nvPr/>
        </p:nvSpPr>
        <p:spPr>
          <a:xfrm>
            <a:off x="7955280" y="4892040"/>
            <a:ext cx="548640" cy="548640"/>
          </a:xfrm>
          <a:prstGeom prst="ellipse">
            <a:avLst/>
          </a:prstGeom>
          <a:solidFill>
            <a:schemeClr val="tx2"/>
          </a:solidFill>
          <a:ln/>
        </p:spPr>
      </p:sp>
      <p:pic>
        <p:nvPicPr>
          <p:cNvPr id="27" name="Image 1" descr="preencoded.png">    </p:cNvPr>
          <p:cNvPicPr>
            <a:picLocks noChangeAspect="1"/>
          </p:cNvPicPr>
          <p:nvPr/>
        </p:nvPicPr>
        <p:blipFill>
          <a:blip r:embed="rId2"/>
          <a:stretch>
            <a:fillRect/>
          </a:stretch>
        </p:blipFill>
        <p:spPr>
          <a:xfrm>
            <a:off x="8092440" y="5029200"/>
            <a:ext cx="274320" cy="274320"/>
          </a:xfrm>
          <a:prstGeom prst="rect">
            <a:avLst/>
          </a:prstGeom>
        </p:spPr>
      </p:pic>
      <p:sp>
        <p:nvSpPr>
          <p:cNvPr id="28" name="Text 23"/>
          <p:cNvSpPr txBox="1"/>
          <p:nvPr/>
        </p:nvSpPr>
        <p:spPr>
          <a:xfrm>
            <a:off x="8641080" y="4754880"/>
            <a:ext cx="2834640" cy="868680"/>
          </a:xfrm>
          <a:prstGeom prst="rect">
            <a:avLst/>
          </a:prstGeom>
          <a:noFill/>
          <a:ln/>
        </p:spPr>
        <p:txBody>
          <a:bodyPr wrap="square" lIns="0" tIns="0" rIns="0" bIns="0" rtlCol="0" anchor="ctr"/>
          <a:lstStyle/>
          <a:p>
            <a:pPr indent="0" marL="0">
              <a:buNone/>
            </a:pPr>
            <a:r>
              <a:rPr lang="en-US" sz="1600" b="1" dirty="0">
                <a:solidFill>
                  <a:schemeClr val="tx2"/>
                </a:solidFill>
              </a:rPr>
              <a:t>Prompts page</a:t>
            </a:r>
            <a:endParaRPr lang="en-US" sz="1600" dirty="0"/>
          </a:p>
          <a:p>
            <a:pPr indent="0" marL="0">
              <a:buNone/>
            </a:pPr>
            <a:r>
              <a:rPr lang="en-US" sz="1300" dirty="0">
                <a:solidFill>
                  <a:schemeClr val="accent4"/>
                </a:solidFill>
              </a:rPr>
              <a:t>Chapter 03: copy every prompt from there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731520" y="100584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04</a:t>
            </a:r>
            <a:endParaRPr lang="en-US" sz="9600" dirty="0"/>
          </a:p>
        </p:txBody>
      </p:sp>
      <p:sp>
        <p:nvSpPr>
          <p:cNvPr id="3" name="Text 0"/>
          <p:cNvSpPr/>
          <p:nvPr>
            <p:ph idx="101" type="title" hasCustomPrompt="1"/>
          </p:nvPr>
        </p:nvSpPr>
        <p:spPr>
          <a:xfrm>
            <a:off x="731520" y="256032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Compare the quotations</a:t>
            </a:r>
            <a:endParaRPr lang="en-US" sz="4400" dirty="0"/>
          </a:p>
        </p:txBody>
      </p:sp>
      <p:sp>
        <p:nvSpPr>
          <p:cNvPr id="4" name="Text 0"/>
          <p:cNvSpPr/>
          <p:nvPr>
            <p:ph idx="102" type="body" hasCustomPrompt="1"/>
          </p:nvPr>
        </p:nvSpPr>
        <p:spPr>
          <a:xfrm>
            <a:off x="731520" y="3840480"/>
            <a:ext cx="9601200" cy="1463040"/>
          </a:xfrm>
          <a:prstGeom prst="rect">
            <a:avLst/>
          </a:prstGeom>
          <a:noFill/>
          <a:ln/>
        </p:spPr>
        <p:txBody>
          <a:bodyPr wrap="square" lIns="0" tIns="0" rIns="0" bIns="0" rtlCol="0" anchor="t"/>
          <a:lstStyle/>
          <a:p>
            <a:pPr indent="0" marL="0">
              <a:buNone/>
            </a:pPr>
            <a:r>
              <a:rPr lang="en-US" sz="1800" b="1" dirty="0">
                <a:solidFill>
                  <a:schemeClr val="bg1"/>
                </a:solidFill>
              </a:rPr>
              <a:t>Stage: Compare  ·  60 minutes</a:t>
            </a:r>
            <a:endParaRPr lang="en-US" sz="1800" dirty="0"/>
          </a:p>
          <a:p>
            <a:pPr indent="0" marL="0">
              <a:buNone/>
            </a:pPr>
            <a:r>
              <a:rPr lang="en-US" sz="800" dirty="0">
                <a:solidFill>
                  <a:schemeClr val="bg2"/>
                </a:solidFill>
              </a:rPr>
              <a:t> </a:t>
            </a:r>
            <a:endParaRPr lang="en-US" sz="1800" dirty="0"/>
          </a:p>
          <a:p>
            <a:pPr indent="0" marL="0">
              <a:buNone/>
            </a:pPr>
            <a:r>
              <a:rPr lang="en-US" sz="1800" b="1" dirty="0">
                <a:solidFill>
                  <a:schemeClr val="bg2"/>
                </a:solidFill>
              </a:rPr>
              <a:t>Your result: </a:t>
            </a:r>
            <a:pPr indent="0" marL="0">
              <a:buNone/>
            </a:pPr>
            <a:r>
              <a:rPr lang="en-US" sz="1800" dirty="0">
                <a:solidFill>
                  <a:schemeClr val="bg2"/>
                </a:solidFill>
              </a:rPr>
              <a:t>a checked comparison table of the three quotations, a list of problems to chase, and a recommendation you can defend.</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CHAPTER 04</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Four files, one chat</a:t>
            </a:r>
            <a:endParaRPr lang="en-US" sz="3200" dirty="0"/>
          </a:p>
        </p:txBody>
      </p:sp>
      <p:sp>
        <p:nvSpPr>
          <p:cNvPr id="5" name="File card"/>
          <p:cNvSpPr/>
          <p:nvPr/>
        </p:nvSpPr>
        <p:spPr>
          <a:xfrm>
            <a:off x="548640" y="1783080"/>
            <a:ext cx="2633472" cy="2103120"/>
          </a:xfrm>
          <a:prstGeom prst="roundRect">
            <a:avLst>
              <a:gd name="adj" fmla="val 3478"/>
            </a:avLst>
          </a:prstGeom>
          <a:solidFill>
            <a:schemeClr val="bg2"/>
          </a:solidFill>
          <a:ln/>
        </p:spPr>
      </p:sp>
      <p:sp>
        <p:nvSpPr>
          <p:cNvPr id="6" name="Icon circle"/>
          <p:cNvSpPr/>
          <p:nvPr/>
        </p:nvSpPr>
        <p:spPr>
          <a:xfrm>
            <a:off x="822960" y="2011680"/>
            <a:ext cx="685800" cy="685800"/>
          </a:xfrm>
          <a:prstGeom prst="ellipse">
            <a:avLst/>
          </a:prstGeom>
          <a:solidFill>
            <a:schemeClr val="tx2"/>
          </a:solidFill>
          <a:ln/>
        </p:spPr>
      </p:sp>
      <p:pic>
        <p:nvPicPr>
          <p:cNvPr id="7" name="Image 0" descr="preencoded.png">    </p:cNvPr>
          <p:cNvPicPr>
            <a:picLocks noChangeAspect="1"/>
          </p:cNvPicPr>
          <p:nvPr/>
        </p:nvPicPr>
        <p:blipFill>
          <a:blip r:embed="rId1"/>
          <a:stretch>
            <a:fillRect/>
          </a:stretch>
        </p:blipFill>
        <p:spPr>
          <a:xfrm>
            <a:off x="994410" y="2183130"/>
            <a:ext cx="342900" cy="342900"/>
          </a:xfrm>
          <a:prstGeom prst="rect">
            <a:avLst/>
          </a:prstGeom>
        </p:spPr>
      </p:pic>
      <p:sp>
        <p:nvSpPr>
          <p:cNvPr id="8" name="Text 4"/>
          <p:cNvSpPr txBox="1"/>
          <p:nvPr/>
        </p:nvSpPr>
        <p:spPr>
          <a:xfrm>
            <a:off x="822960" y="2788920"/>
            <a:ext cx="2194560" cy="594360"/>
          </a:xfrm>
          <a:prstGeom prst="rect">
            <a:avLst/>
          </a:prstGeom>
          <a:noFill/>
          <a:ln/>
        </p:spPr>
        <p:txBody>
          <a:bodyPr wrap="square" lIns="0" tIns="0" rIns="0" bIns="0" rtlCol="0" anchor="t"/>
          <a:lstStyle/>
          <a:p>
            <a:pPr indent="0" marL="0">
              <a:buNone/>
            </a:pPr>
            <a:r>
              <a:rPr lang="en-US" sz="1600" b="1" dirty="0">
                <a:solidFill>
                  <a:schemeClr val="tx2"/>
                </a:solidFill>
              </a:rPr>
              <a:t>Pinnacle Komputer</a:t>
            </a:r>
            <a:endParaRPr lang="en-US" sz="1600" dirty="0"/>
          </a:p>
        </p:txBody>
      </p:sp>
      <p:sp>
        <p:nvSpPr>
          <p:cNvPr id="9" name="Text 5"/>
          <p:cNvSpPr txBox="1"/>
          <p:nvPr/>
        </p:nvSpPr>
        <p:spPr>
          <a:xfrm>
            <a:off x="822960" y="3383280"/>
            <a:ext cx="2194560" cy="365760"/>
          </a:xfrm>
          <a:prstGeom prst="rect">
            <a:avLst/>
          </a:prstGeom>
          <a:noFill/>
          <a:ln/>
        </p:spPr>
        <p:txBody>
          <a:bodyPr wrap="square" lIns="0" tIns="0" rIns="0" bIns="0" rtlCol="0" anchor="ctr"/>
          <a:lstStyle/>
          <a:p>
            <a:pPr indent="0" marL="0">
              <a:buNone/>
            </a:pPr>
            <a:r>
              <a:rPr lang="en-US" sz="1400" dirty="0">
                <a:solidFill>
                  <a:schemeClr val="accent4"/>
                </a:solidFill>
              </a:rPr>
              <a:t>Quotation A</a:t>
            </a:r>
            <a:endParaRPr lang="en-US" sz="1400" dirty="0"/>
          </a:p>
        </p:txBody>
      </p:sp>
      <p:sp>
        <p:nvSpPr>
          <p:cNvPr id="10" name="File card"/>
          <p:cNvSpPr/>
          <p:nvPr/>
        </p:nvSpPr>
        <p:spPr>
          <a:xfrm>
            <a:off x="3364992" y="1783080"/>
            <a:ext cx="2633472" cy="2103120"/>
          </a:xfrm>
          <a:prstGeom prst="roundRect">
            <a:avLst>
              <a:gd name="adj" fmla="val 3478"/>
            </a:avLst>
          </a:prstGeom>
          <a:solidFill>
            <a:schemeClr val="bg2"/>
          </a:solidFill>
          <a:ln/>
        </p:spPr>
      </p:sp>
      <p:sp>
        <p:nvSpPr>
          <p:cNvPr id="11" name="Icon circle"/>
          <p:cNvSpPr/>
          <p:nvPr/>
        </p:nvSpPr>
        <p:spPr>
          <a:xfrm>
            <a:off x="3639312" y="2011680"/>
            <a:ext cx="685800" cy="685800"/>
          </a:xfrm>
          <a:prstGeom prst="ellipse">
            <a:avLst/>
          </a:prstGeom>
          <a:solidFill>
            <a:schemeClr val="tx2"/>
          </a:solidFill>
          <a:ln/>
        </p:spPr>
      </p:sp>
      <p:pic>
        <p:nvPicPr>
          <p:cNvPr id="12" name="Image 1" descr="preencoded.png">    </p:cNvPr>
          <p:cNvPicPr>
            <a:picLocks noChangeAspect="1"/>
          </p:cNvPicPr>
          <p:nvPr/>
        </p:nvPicPr>
        <p:blipFill>
          <a:blip r:embed="rId2"/>
          <a:stretch>
            <a:fillRect/>
          </a:stretch>
        </p:blipFill>
        <p:spPr>
          <a:xfrm>
            <a:off x="3810762" y="2183130"/>
            <a:ext cx="342900" cy="342900"/>
          </a:xfrm>
          <a:prstGeom prst="rect">
            <a:avLst/>
          </a:prstGeom>
        </p:spPr>
      </p:pic>
      <p:sp>
        <p:nvSpPr>
          <p:cNvPr id="13" name="Text 8"/>
          <p:cNvSpPr txBox="1"/>
          <p:nvPr/>
        </p:nvSpPr>
        <p:spPr>
          <a:xfrm>
            <a:off x="3639312" y="2788920"/>
            <a:ext cx="2194560" cy="594360"/>
          </a:xfrm>
          <a:prstGeom prst="rect">
            <a:avLst/>
          </a:prstGeom>
          <a:noFill/>
          <a:ln/>
        </p:spPr>
        <p:txBody>
          <a:bodyPr wrap="square" lIns="0" tIns="0" rIns="0" bIns="0" rtlCol="0" anchor="t"/>
          <a:lstStyle/>
          <a:p>
            <a:pPr indent="0" marL="0">
              <a:buNone/>
            </a:pPr>
            <a:r>
              <a:rPr lang="en-US" sz="1600" b="1" dirty="0">
                <a:solidFill>
                  <a:schemeClr val="tx2"/>
                </a:solidFill>
              </a:rPr>
              <a:t>Seri Mutiara Technology</a:t>
            </a:r>
            <a:endParaRPr lang="en-US" sz="1600" dirty="0"/>
          </a:p>
        </p:txBody>
      </p:sp>
      <p:sp>
        <p:nvSpPr>
          <p:cNvPr id="14" name="Text 9"/>
          <p:cNvSpPr txBox="1"/>
          <p:nvPr/>
        </p:nvSpPr>
        <p:spPr>
          <a:xfrm>
            <a:off x="3639312" y="3383280"/>
            <a:ext cx="2194560" cy="365760"/>
          </a:xfrm>
          <a:prstGeom prst="rect">
            <a:avLst/>
          </a:prstGeom>
          <a:noFill/>
          <a:ln/>
        </p:spPr>
        <p:txBody>
          <a:bodyPr wrap="square" lIns="0" tIns="0" rIns="0" bIns="0" rtlCol="0" anchor="ctr"/>
          <a:lstStyle/>
          <a:p>
            <a:pPr indent="0" marL="0">
              <a:buNone/>
            </a:pPr>
            <a:r>
              <a:rPr lang="en-US" sz="1400" dirty="0">
                <a:solidFill>
                  <a:schemeClr val="accent4"/>
                </a:solidFill>
              </a:rPr>
              <a:t>Quotation B</a:t>
            </a:r>
            <a:endParaRPr lang="en-US" sz="1400" dirty="0"/>
          </a:p>
        </p:txBody>
      </p:sp>
      <p:sp>
        <p:nvSpPr>
          <p:cNvPr id="15" name="File card"/>
          <p:cNvSpPr/>
          <p:nvPr/>
        </p:nvSpPr>
        <p:spPr>
          <a:xfrm>
            <a:off x="6181344" y="1783080"/>
            <a:ext cx="2633472" cy="2103120"/>
          </a:xfrm>
          <a:prstGeom prst="roundRect">
            <a:avLst>
              <a:gd name="adj" fmla="val 3478"/>
            </a:avLst>
          </a:prstGeom>
          <a:solidFill>
            <a:schemeClr val="bg2"/>
          </a:solidFill>
          <a:ln/>
        </p:spPr>
      </p:sp>
      <p:sp>
        <p:nvSpPr>
          <p:cNvPr id="16" name="Icon circle"/>
          <p:cNvSpPr/>
          <p:nvPr/>
        </p:nvSpPr>
        <p:spPr>
          <a:xfrm>
            <a:off x="6455664" y="2011680"/>
            <a:ext cx="685800" cy="685800"/>
          </a:xfrm>
          <a:prstGeom prst="ellipse">
            <a:avLst/>
          </a:prstGeom>
          <a:solidFill>
            <a:schemeClr val="tx2"/>
          </a:solidFill>
          <a:ln/>
        </p:spPr>
      </p:sp>
      <p:pic>
        <p:nvPicPr>
          <p:cNvPr id="17" name="Image 2" descr="preencoded.png">    </p:cNvPr>
          <p:cNvPicPr>
            <a:picLocks noChangeAspect="1"/>
          </p:cNvPicPr>
          <p:nvPr/>
        </p:nvPicPr>
        <p:blipFill>
          <a:blip r:embed="rId3"/>
          <a:stretch>
            <a:fillRect/>
          </a:stretch>
        </p:blipFill>
        <p:spPr>
          <a:xfrm>
            <a:off x="6627114" y="2183130"/>
            <a:ext cx="342900" cy="342900"/>
          </a:xfrm>
          <a:prstGeom prst="rect">
            <a:avLst/>
          </a:prstGeom>
        </p:spPr>
      </p:pic>
      <p:sp>
        <p:nvSpPr>
          <p:cNvPr id="18" name="Text 12"/>
          <p:cNvSpPr txBox="1"/>
          <p:nvPr/>
        </p:nvSpPr>
        <p:spPr>
          <a:xfrm>
            <a:off x="6455664" y="2788920"/>
            <a:ext cx="2194560" cy="594360"/>
          </a:xfrm>
          <a:prstGeom prst="rect">
            <a:avLst/>
          </a:prstGeom>
          <a:noFill/>
          <a:ln/>
        </p:spPr>
        <p:txBody>
          <a:bodyPr wrap="square" lIns="0" tIns="0" rIns="0" bIns="0" rtlCol="0" anchor="t"/>
          <a:lstStyle/>
          <a:p>
            <a:pPr indent="0" marL="0">
              <a:buNone/>
            </a:pPr>
            <a:r>
              <a:rPr lang="en-US" sz="1600" b="1" dirty="0">
                <a:solidFill>
                  <a:schemeClr val="tx2"/>
                </a:solidFill>
              </a:rPr>
              <a:t>Cyberjaya Digital Supplies</a:t>
            </a:r>
            <a:endParaRPr lang="en-US" sz="1600" dirty="0"/>
          </a:p>
        </p:txBody>
      </p:sp>
      <p:sp>
        <p:nvSpPr>
          <p:cNvPr id="19" name="Text 13"/>
          <p:cNvSpPr txBox="1"/>
          <p:nvPr/>
        </p:nvSpPr>
        <p:spPr>
          <a:xfrm>
            <a:off x="6455664" y="3383280"/>
            <a:ext cx="2194560" cy="365760"/>
          </a:xfrm>
          <a:prstGeom prst="rect">
            <a:avLst/>
          </a:prstGeom>
          <a:noFill/>
          <a:ln/>
        </p:spPr>
        <p:txBody>
          <a:bodyPr wrap="square" lIns="0" tIns="0" rIns="0" bIns="0" rtlCol="0" anchor="ctr"/>
          <a:lstStyle/>
          <a:p>
            <a:pPr indent="0" marL="0">
              <a:buNone/>
            </a:pPr>
            <a:r>
              <a:rPr lang="en-US" sz="1400" dirty="0">
                <a:solidFill>
                  <a:schemeClr val="accent4"/>
                </a:solidFill>
              </a:rPr>
              <a:t>Quotation C</a:t>
            </a:r>
            <a:endParaRPr lang="en-US" sz="1400" dirty="0"/>
          </a:p>
        </p:txBody>
      </p:sp>
      <p:sp>
        <p:nvSpPr>
          <p:cNvPr id="20" name="File card"/>
          <p:cNvSpPr/>
          <p:nvPr/>
        </p:nvSpPr>
        <p:spPr>
          <a:xfrm>
            <a:off x="8997696" y="1783080"/>
            <a:ext cx="2633472" cy="2103120"/>
          </a:xfrm>
          <a:prstGeom prst="roundRect">
            <a:avLst>
              <a:gd name="adj" fmla="val 3478"/>
            </a:avLst>
          </a:prstGeom>
          <a:solidFill>
            <a:schemeClr val="tx2"/>
          </a:solidFill>
          <a:ln/>
        </p:spPr>
      </p:sp>
      <p:sp>
        <p:nvSpPr>
          <p:cNvPr id="21" name="Icon circle"/>
          <p:cNvSpPr/>
          <p:nvPr/>
        </p:nvSpPr>
        <p:spPr>
          <a:xfrm>
            <a:off x="9272016" y="2011680"/>
            <a:ext cx="685800" cy="685800"/>
          </a:xfrm>
          <a:prstGeom prst="ellipse">
            <a:avLst/>
          </a:prstGeom>
          <a:solidFill>
            <a:schemeClr val="accent1"/>
          </a:solidFill>
          <a:ln/>
        </p:spPr>
      </p:sp>
      <p:pic>
        <p:nvPicPr>
          <p:cNvPr id="22" name="Image 3" descr="preencoded.png">    </p:cNvPr>
          <p:cNvPicPr>
            <a:picLocks noChangeAspect="1"/>
          </p:cNvPicPr>
          <p:nvPr/>
        </p:nvPicPr>
        <p:blipFill>
          <a:blip r:embed="rId4"/>
          <a:stretch>
            <a:fillRect/>
          </a:stretch>
        </p:blipFill>
        <p:spPr>
          <a:xfrm>
            <a:off x="9443466" y="2183130"/>
            <a:ext cx="342900" cy="342900"/>
          </a:xfrm>
          <a:prstGeom prst="rect">
            <a:avLst/>
          </a:prstGeom>
        </p:spPr>
      </p:pic>
      <p:sp>
        <p:nvSpPr>
          <p:cNvPr id="23" name="Text 16"/>
          <p:cNvSpPr txBox="1"/>
          <p:nvPr/>
        </p:nvSpPr>
        <p:spPr>
          <a:xfrm>
            <a:off x="9272016" y="2788920"/>
            <a:ext cx="2194560" cy="594360"/>
          </a:xfrm>
          <a:prstGeom prst="rect">
            <a:avLst/>
          </a:prstGeom>
          <a:noFill/>
          <a:ln/>
        </p:spPr>
        <p:txBody>
          <a:bodyPr wrap="square" lIns="0" tIns="0" rIns="0" bIns="0" rtlCol="0" anchor="t"/>
          <a:lstStyle/>
          <a:p>
            <a:pPr indent="0" marL="0">
              <a:buNone/>
            </a:pPr>
            <a:r>
              <a:rPr lang="en-US" sz="1600" b="1" dirty="0">
                <a:solidFill>
                  <a:schemeClr val="bg1"/>
                </a:solidFill>
              </a:rPr>
              <a:t>procurement-policy.pdf</a:t>
            </a:r>
            <a:endParaRPr lang="en-US" sz="1600" dirty="0"/>
          </a:p>
        </p:txBody>
      </p:sp>
      <p:sp>
        <p:nvSpPr>
          <p:cNvPr id="24" name="Text 17"/>
          <p:cNvSpPr txBox="1"/>
          <p:nvPr/>
        </p:nvSpPr>
        <p:spPr>
          <a:xfrm>
            <a:off x="9272016" y="3383280"/>
            <a:ext cx="2194560" cy="365760"/>
          </a:xfrm>
          <a:prstGeom prst="rect">
            <a:avLst/>
          </a:prstGeom>
          <a:noFill/>
          <a:ln/>
        </p:spPr>
        <p:txBody>
          <a:bodyPr wrap="square" lIns="0" tIns="0" rIns="0" bIns="0" rtlCol="0" anchor="ctr"/>
          <a:lstStyle/>
          <a:p>
            <a:pPr indent="0" marL="0">
              <a:buNone/>
            </a:pPr>
            <a:r>
              <a:rPr lang="en-US" sz="1400" dirty="0">
                <a:solidFill>
                  <a:schemeClr val="bg2"/>
                </a:solidFill>
              </a:rPr>
              <a:t>The company's rules</a:t>
            </a:r>
            <a:endParaRPr lang="en-US" sz="1400" dirty="0"/>
          </a:p>
        </p:txBody>
      </p:sp>
      <p:sp>
        <p:nvSpPr>
          <p:cNvPr id="25" name="Upload order card"/>
          <p:cNvSpPr/>
          <p:nvPr/>
        </p:nvSpPr>
        <p:spPr>
          <a:xfrm>
            <a:off x="548640" y="4206240"/>
            <a:ext cx="11064240" cy="1691640"/>
          </a:xfrm>
          <a:prstGeom prst="roundRect">
            <a:avLst>
              <a:gd name="adj" fmla="val 4324"/>
            </a:avLst>
          </a:prstGeom>
          <a:solidFill>
            <a:schemeClr val="accent3">
              <a:alpha val="12000"/>
            </a:schemeClr>
          </a:solidFill>
          <a:ln/>
        </p:spPr>
      </p:sp>
      <p:sp>
        <p:nvSpPr>
          <p:cNvPr id="26" name="Icon circle"/>
          <p:cNvSpPr/>
          <p:nvPr/>
        </p:nvSpPr>
        <p:spPr>
          <a:xfrm>
            <a:off x="822960" y="4617720"/>
            <a:ext cx="822960" cy="822960"/>
          </a:xfrm>
          <a:prstGeom prst="ellipse">
            <a:avLst/>
          </a:prstGeom>
          <a:solidFill>
            <a:schemeClr val="accent3"/>
          </a:solidFill>
          <a:ln/>
        </p:spPr>
      </p:sp>
      <p:pic>
        <p:nvPicPr>
          <p:cNvPr id="27" name="Image 4" descr="preencoded.png">    </p:cNvPr>
          <p:cNvPicPr>
            <a:picLocks noChangeAspect="1"/>
          </p:cNvPicPr>
          <p:nvPr/>
        </p:nvPicPr>
        <p:blipFill>
          <a:blip r:embed="rId5"/>
          <a:stretch>
            <a:fillRect/>
          </a:stretch>
        </p:blipFill>
        <p:spPr>
          <a:xfrm>
            <a:off x="1028700" y="4823460"/>
            <a:ext cx="411480" cy="411480"/>
          </a:xfrm>
          <a:prstGeom prst="rect">
            <a:avLst/>
          </a:prstGeom>
        </p:spPr>
      </p:pic>
      <p:sp>
        <p:nvSpPr>
          <p:cNvPr id="28" name="Text 20"/>
          <p:cNvSpPr txBox="1"/>
          <p:nvPr/>
        </p:nvSpPr>
        <p:spPr>
          <a:xfrm>
            <a:off x="1874520" y="4297680"/>
            <a:ext cx="9509760" cy="1508760"/>
          </a:xfrm>
          <a:prstGeom prst="rect">
            <a:avLst/>
          </a:prstGeom>
          <a:noFill/>
          <a:ln/>
        </p:spPr>
        <p:txBody>
          <a:bodyPr wrap="square" lIns="0" tIns="0" rIns="0" bIns="0" rtlCol="0" anchor="ctr"/>
          <a:lstStyle/>
          <a:p>
            <a:pPr indent="0" marL="0">
              <a:buNone/>
            </a:pPr>
            <a:r>
              <a:rPr lang="en-US" sz="1800" b="1" dirty="0">
                <a:solidFill>
                  <a:schemeClr val="tx2"/>
                </a:solidFill>
              </a:rPr>
              <a:t>Copilot takes at most three files per message.</a:t>
            </a:r>
            <a:endParaRPr lang="en-US" sz="1800" dirty="0"/>
          </a:p>
          <a:p>
            <a:pPr indent="0" marL="0">
              <a:buNone/>
            </a:pPr>
            <a:r>
              <a:rPr lang="en-US" sz="1800" dirty="0">
                <a:solidFill>
                  <a:schemeClr val="tx1"/>
                </a:solidFill>
              </a:rPr>
              <a:t>Send the policy first, in its own message. Then send the three quotations together, in the same chat.</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CHAPTER 04</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Six checks, in order</a:t>
            </a:r>
            <a:endParaRPr lang="en-US" sz="3200" dirty="0"/>
          </a:p>
        </p:txBody>
      </p:sp>
      <p:sp>
        <p:nvSpPr>
          <p:cNvPr id="5" name="Check step card"/>
          <p:cNvSpPr/>
          <p:nvPr/>
        </p:nvSpPr>
        <p:spPr>
          <a:xfrm>
            <a:off x="548640" y="2103120"/>
            <a:ext cx="1691640" cy="3108960"/>
          </a:xfrm>
          <a:prstGeom prst="roundRect">
            <a:avLst>
              <a:gd name="adj" fmla="val 4324"/>
            </a:avLst>
          </a:prstGeom>
          <a:solidFill>
            <a:schemeClr val="bg2"/>
          </a:solidFill>
          <a:ln/>
        </p:spPr>
      </p:sp>
      <p:sp>
        <p:nvSpPr>
          <p:cNvPr id="6" name="Number 1"/>
          <p:cNvSpPr/>
          <p:nvPr/>
        </p:nvSpPr>
        <p:spPr>
          <a:xfrm>
            <a:off x="1051560" y="2377440"/>
            <a:ext cx="685800" cy="685800"/>
          </a:xfrm>
          <a:prstGeom prst="ellipse">
            <a:avLst/>
          </a:prstGeom>
          <a:solidFill>
            <a:schemeClr val="accent1"/>
          </a:solidFill>
          <a:ln/>
        </p:spPr>
      </p:sp>
      <p:sp>
        <p:nvSpPr>
          <p:cNvPr id="7" name="Text 4"/>
          <p:cNvSpPr txBox="1"/>
          <p:nvPr/>
        </p:nvSpPr>
        <p:spPr>
          <a:xfrm>
            <a:off x="1051560" y="2377440"/>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Text 5"/>
          <p:cNvSpPr txBox="1"/>
          <p:nvPr/>
        </p:nvSpPr>
        <p:spPr>
          <a:xfrm>
            <a:off x="640080" y="3200400"/>
            <a:ext cx="1508760" cy="320040"/>
          </a:xfrm>
          <a:prstGeom prst="rect">
            <a:avLst/>
          </a:prstGeom>
          <a:noFill/>
          <a:ln/>
        </p:spPr>
        <p:txBody>
          <a:bodyPr wrap="square" lIns="0" tIns="0" rIns="0" bIns="0" rtlCol="0" anchor="ctr"/>
          <a:lstStyle/>
          <a:p>
            <a:pPr algn="ctr" indent="0" marL="0">
              <a:buNone/>
            </a:pPr>
            <a:r>
              <a:rPr lang="en-US" sz="1400" b="1" dirty="0">
                <a:solidFill>
                  <a:schemeClr val="accent1"/>
                </a:solidFill>
              </a:rPr>
              <a:t>4.3</a:t>
            </a:r>
            <a:endParaRPr lang="en-US" sz="1400" dirty="0"/>
          </a:p>
        </p:txBody>
      </p:sp>
      <p:sp>
        <p:nvSpPr>
          <p:cNvPr id="9" name="Text 6"/>
          <p:cNvSpPr txBox="1"/>
          <p:nvPr/>
        </p:nvSpPr>
        <p:spPr>
          <a:xfrm>
            <a:off x="640080" y="3566160"/>
            <a:ext cx="1508760" cy="457200"/>
          </a:xfrm>
          <a:prstGeom prst="rect">
            <a:avLst/>
          </a:prstGeom>
          <a:noFill/>
          <a:ln/>
        </p:spPr>
        <p:txBody>
          <a:bodyPr wrap="square" lIns="0" tIns="0" rIns="0" bIns="0" rtlCol="0" anchor="ctr"/>
          <a:lstStyle/>
          <a:p>
            <a:pPr algn="ctr" indent="0" marL="0">
              <a:buNone/>
            </a:pPr>
            <a:r>
              <a:rPr lang="en-US" sz="1800" b="1" dirty="0">
                <a:solidFill>
                  <a:schemeClr val="tx2"/>
                </a:solidFill>
              </a:rPr>
              <a:t>Summarise</a:t>
            </a:r>
            <a:endParaRPr lang="en-US" sz="1800" dirty="0"/>
          </a:p>
        </p:txBody>
      </p:sp>
      <p:sp>
        <p:nvSpPr>
          <p:cNvPr id="10" name="Text 7"/>
          <p:cNvSpPr txBox="1"/>
          <p:nvPr/>
        </p:nvSpPr>
        <p:spPr>
          <a:xfrm>
            <a:off x="685800" y="4069080"/>
            <a:ext cx="1417320" cy="914400"/>
          </a:xfrm>
          <a:prstGeom prst="rect">
            <a:avLst/>
          </a:prstGeom>
          <a:noFill/>
          <a:ln/>
        </p:spPr>
        <p:txBody>
          <a:bodyPr wrap="square" lIns="0" tIns="0" rIns="0" bIns="0" rtlCol="0" anchor="t"/>
          <a:lstStyle/>
          <a:p>
            <a:pPr algn="ctr" indent="0" marL="0">
              <a:buNone/>
            </a:pPr>
            <a:r>
              <a:rPr lang="en-US" sz="1400" dirty="0">
                <a:solidFill>
                  <a:schemeClr val="tx1"/>
                </a:solidFill>
              </a:rPr>
              <a:t>each quotation</a:t>
            </a:r>
            <a:endParaRPr lang="en-US" sz="1400" dirty="0"/>
          </a:p>
        </p:txBody>
      </p:sp>
      <p:sp>
        <p:nvSpPr>
          <p:cNvPr id="11" name="Check step card"/>
          <p:cNvSpPr/>
          <p:nvPr/>
        </p:nvSpPr>
        <p:spPr>
          <a:xfrm>
            <a:off x="2423160" y="2103120"/>
            <a:ext cx="1691640" cy="3108960"/>
          </a:xfrm>
          <a:prstGeom prst="roundRect">
            <a:avLst>
              <a:gd name="adj" fmla="val 4324"/>
            </a:avLst>
          </a:prstGeom>
          <a:solidFill>
            <a:schemeClr val="bg2"/>
          </a:solidFill>
          <a:ln/>
        </p:spPr>
      </p:sp>
      <p:sp>
        <p:nvSpPr>
          <p:cNvPr id="12" name="Number 2"/>
          <p:cNvSpPr/>
          <p:nvPr/>
        </p:nvSpPr>
        <p:spPr>
          <a:xfrm>
            <a:off x="2926080" y="2377440"/>
            <a:ext cx="685800" cy="685800"/>
          </a:xfrm>
          <a:prstGeom prst="ellipse">
            <a:avLst/>
          </a:prstGeom>
          <a:solidFill>
            <a:schemeClr val="accent1"/>
          </a:solidFill>
          <a:ln/>
        </p:spPr>
      </p:sp>
      <p:sp>
        <p:nvSpPr>
          <p:cNvPr id="13" name="Text 10"/>
          <p:cNvSpPr txBox="1"/>
          <p:nvPr/>
        </p:nvSpPr>
        <p:spPr>
          <a:xfrm>
            <a:off x="2926080" y="2377440"/>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4" name="Text 11"/>
          <p:cNvSpPr txBox="1"/>
          <p:nvPr/>
        </p:nvSpPr>
        <p:spPr>
          <a:xfrm>
            <a:off x="2514600" y="3200400"/>
            <a:ext cx="1508760" cy="320040"/>
          </a:xfrm>
          <a:prstGeom prst="rect">
            <a:avLst/>
          </a:prstGeom>
          <a:noFill/>
          <a:ln/>
        </p:spPr>
        <p:txBody>
          <a:bodyPr wrap="square" lIns="0" tIns="0" rIns="0" bIns="0" rtlCol="0" anchor="ctr"/>
          <a:lstStyle/>
          <a:p>
            <a:pPr algn="ctr" indent="0" marL="0">
              <a:buNone/>
            </a:pPr>
            <a:r>
              <a:rPr lang="en-US" sz="1400" b="1" dirty="0">
                <a:solidFill>
                  <a:schemeClr val="accent1"/>
                </a:solidFill>
              </a:rPr>
              <a:t>4.4</a:t>
            </a:r>
            <a:endParaRPr lang="en-US" sz="1400" dirty="0"/>
          </a:p>
        </p:txBody>
      </p:sp>
      <p:sp>
        <p:nvSpPr>
          <p:cNvPr id="15" name="Text 12"/>
          <p:cNvSpPr txBox="1"/>
          <p:nvPr/>
        </p:nvSpPr>
        <p:spPr>
          <a:xfrm>
            <a:off x="2514600" y="3566160"/>
            <a:ext cx="1508760" cy="457200"/>
          </a:xfrm>
          <a:prstGeom prst="rect">
            <a:avLst/>
          </a:prstGeom>
          <a:noFill/>
          <a:ln/>
        </p:spPr>
        <p:txBody>
          <a:bodyPr wrap="square" lIns="0" tIns="0" rIns="0" bIns="0" rtlCol="0" anchor="ctr"/>
          <a:lstStyle/>
          <a:p>
            <a:pPr algn="ctr" indent="0" marL="0">
              <a:buNone/>
            </a:pPr>
            <a:r>
              <a:rPr lang="en-US" sz="1800" b="1" dirty="0">
                <a:solidFill>
                  <a:schemeClr val="tx2"/>
                </a:solidFill>
              </a:rPr>
              <a:t>Compare</a:t>
            </a:r>
            <a:endParaRPr lang="en-US" sz="1800" dirty="0"/>
          </a:p>
        </p:txBody>
      </p:sp>
      <p:sp>
        <p:nvSpPr>
          <p:cNvPr id="16" name="Text 13"/>
          <p:cNvSpPr txBox="1"/>
          <p:nvPr/>
        </p:nvSpPr>
        <p:spPr>
          <a:xfrm>
            <a:off x="2560320" y="4069080"/>
            <a:ext cx="1417320" cy="914400"/>
          </a:xfrm>
          <a:prstGeom prst="rect">
            <a:avLst/>
          </a:prstGeom>
          <a:noFill/>
          <a:ln/>
        </p:spPr>
        <p:txBody>
          <a:bodyPr wrap="square" lIns="0" tIns="0" rIns="0" bIns="0" rtlCol="0" anchor="t"/>
          <a:lstStyle/>
          <a:p>
            <a:pPr algn="ctr" indent="0" marL="0">
              <a:buNone/>
            </a:pPr>
            <a:r>
              <a:rPr lang="en-US" sz="1400" dirty="0">
                <a:solidFill>
                  <a:schemeClr val="tx1"/>
                </a:solidFill>
              </a:rPr>
              <a:t>figures exactly as printed</a:t>
            </a:r>
            <a:endParaRPr lang="en-US" sz="1400" dirty="0"/>
          </a:p>
        </p:txBody>
      </p:sp>
      <p:sp>
        <p:nvSpPr>
          <p:cNvPr id="17" name="Check step card"/>
          <p:cNvSpPr/>
          <p:nvPr/>
        </p:nvSpPr>
        <p:spPr>
          <a:xfrm>
            <a:off x="4297680" y="2103120"/>
            <a:ext cx="1691640" cy="3108960"/>
          </a:xfrm>
          <a:prstGeom prst="roundRect">
            <a:avLst>
              <a:gd name="adj" fmla="val 4324"/>
            </a:avLst>
          </a:prstGeom>
          <a:solidFill>
            <a:schemeClr val="bg2"/>
          </a:solidFill>
          <a:ln/>
        </p:spPr>
      </p:sp>
      <p:sp>
        <p:nvSpPr>
          <p:cNvPr id="18" name="Number 3"/>
          <p:cNvSpPr/>
          <p:nvPr/>
        </p:nvSpPr>
        <p:spPr>
          <a:xfrm>
            <a:off x="4800600" y="2377440"/>
            <a:ext cx="685800" cy="685800"/>
          </a:xfrm>
          <a:prstGeom prst="ellipse">
            <a:avLst/>
          </a:prstGeom>
          <a:solidFill>
            <a:schemeClr val="accent1"/>
          </a:solidFill>
          <a:ln/>
        </p:spPr>
      </p:sp>
      <p:sp>
        <p:nvSpPr>
          <p:cNvPr id="19" name="Text 16"/>
          <p:cNvSpPr txBox="1"/>
          <p:nvPr/>
        </p:nvSpPr>
        <p:spPr>
          <a:xfrm>
            <a:off x="4800600" y="2377440"/>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20" name="Text 17"/>
          <p:cNvSpPr txBox="1"/>
          <p:nvPr/>
        </p:nvSpPr>
        <p:spPr>
          <a:xfrm>
            <a:off x="4389120" y="3200400"/>
            <a:ext cx="1508760" cy="320040"/>
          </a:xfrm>
          <a:prstGeom prst="rect">
            <a:avLst/>
          </a:prstGeom>
          <a:noFill/>
          <a:ln/>
        </p:spPr>
        <p:txBody>
          <a:bodyPr wrap="square" lIns="0" tIns="0" rIns="0" bIns="0" rtlCol="0" anchor="ctr"/>
          <a:lstStyle/>
          <a:p>
            <a:pPr algn="ctr" indent="0" marL="0">
              <a:buNone/>
            </a:pPr>
            <a:r>
              <a:rPr lang="en-US" sz="1400" b="1" dirty="0">
                <a:solidFill>
                  <a:schemeClr val="accent1"/>
                </a:solidFill>
              </a:rPr>
              <a:t>4.5</a:t>
            </a:r>
            <a:endParaRPr lang="en-US" sz="1400" dirty="0"/>
          </a:p>
        </p:txBody>
      </p:sp>
      <p:sp>
        <p:nvSpPr>
          <p:cNvPr id="21" name="Text 18"/>
          <p:cNvSpPr txBox="1"/>
          <p:nvPr/>
        </p:nvSpPr>
        <p:spPr>
          <a:xfrm>
            <a:off x="4389120" y="3566160"/>
            <a:ext cx="1508760" cy="457200"/>
          </a:xfrm>
          <a:prstGeom prst="rect">
            <a:avLst/>
          </a:prstGeom>
          <a:noFill/>
          <a:ln/>
        </p:spPr>
        <p:txBody>
          <a:bodyPr wrap="square" lIns="0" tIns="0" rIns="0" bIns="0" rtlCol="0" anchor="ctr"/>
          <a:lstStyle/>
          <a:p>
            <a:pPr algn="ctr" indent="0" marL="0">
              <a:buNone/>
            </a:pPr>
            <a:r>
              <a:rPr lang="en-US" sz="1800" b="1" dirty="0">
                <a:solidFill>
                  <a:schemeClr val="tx2"/>
                </a:solidFill>
              </a:rPr>
              <a:t>Recalculate</a:t>
            </a:r>
            <a:endParaRPr lang="en-US" sz="1800" dirty="0"/>
          </a:p>
        </p:txBody>
      </p:sp>
      <p:sp>
        <p:nvSpPr>
          <p:cNvPr id="22" name="Text 19"/>
          <p:cNvSpPr txBox="1"/>
          <p:nvPr/>
        </p:nvSpPr>
        <p:spPr>
          <a:xfrm>
            <a:off x="4434840" y="4069080"/>
            <a:ext cx="1417320" cy="914400"/>
          </a:xfrm>
          <a:prstGeom prst="rect">
            <a:avLst/>
          </a:prstGeom>
          <a:noFill/>
          <a:ln/>
        </p:spPr>
        <p:txBody>
          <a:bodyPr wrap="square" lIns="0" tIns="0" rIns="0" bIns="0" rtlCol="0" anchor="t"/>
          <a:lstStyle/>
          <a:p>
            <a:pPr algn="ctr" indent="0" marL="0">
              <a:buNone/>
            </a:pPr>
            <a:r>
              <a:rPr lang="en-US" sz="1400" dirty="0">
                <a:solidFill>
                  <a:schemeClr val="tx1"/>
                </a:solidFill>
              </a:rPr>
              <a:t>every total</a:t>
            </a:r>
            <a:endParaRPr lang="en-US" sz="1400" dirty="0"/>
          </a:p>
        </p:txBody>
      </p:sp>
      <p:sp>
        <p:nvSpPr>
          <p:cNvPr id="23" name="Check step card"/>
          <p:cNvSpPr/>
          <p:nvPr/>
        </p:nvSpPr>
        <p:spPr>
          <a:xfrm>
            <a:off x="6172200" y="2103120"/>
            <a:ext cx="1691640" cy="3108960"/>
          </a:xfrm>
          <a:prstGeom prst="roundRect">
            <a:avLst>
              <a:gd name="adj" fmla="val 4324"/>
            </a:avLst>
          </a:prstGeom>
          <a:solidFill>
            <a:schemeClr val="bg2"/>
          </a:solidFill>
          <a:ln/>
        </p:spPr>
      </p:sp>
      <p:sp>
        <p:nvSpPr>
          <p:cNvPr id="24" name="Number 4"/>
          <p:cNvSpPr/>
          <p:nvPr/>
        </p:nvSpPr>
        <p:spPr>
          <a:xfrm>
            <a:off x="6675120" y="2377440"/>
            <a:ext cx="685800" cy="685800"/>
          </a:xfrm>
          <a:prstGeom prst="ellipse">
            <a:avLst/>
          </a:prstGeom>
          <a:solidFill>
            <a:schemeClr val="accent1"/>
          </a:solidFill>
          <a:ln/>
        </p:spPr>
      </p:sp>
      <p:sp>
        <p:nvSpPr>
          <p:cNvPr id="25" name="Text 22"/>
          <p:cNvSpPr txBox="1"/>
          <p:nvPr/>
        </p:nvSpPr>
        <p:spPr>
          <a:xfrm>
            <a:off x="6675120" y="2377440"/>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6" name="Text 23"/>
          <p:cNvSpPr txBox="1"/>
          <p:nvPr/>
        </p:nvSpPr>
        <p:spPr>
          <a:xfrm>
            <a:off x="6263640" y="3200400"/>
            <a:ext cx="1508760" cy="320040"/>
          </a:xfrm>
          <a:prstGeom prst="rect">
            <a:avLst/>
          </a:prstGeom>
          <a:noFill/>
          <a:ln/>
        </p:spPr>
        <p:txBody>
          <a:bodyPr wrap="square" lIns="0" tIns="0" rIns="0" bIns="0" rtlCol="0" anchor="ctr"/>
          <a:lstStyle/>
          <a:p>
            <a:pPr algn="ctr" indent="0" marL="0">
              <a:buNone/>
            </a:pPr>
            <a:r>
              <a:rPr lang="en-US" sz="1400" b="1" dirty="0">
                <a:solidFill>
                  <a:schemeClr val="accent1"/>
                </a:solidFill>
              </a:rPr>
              <a:t>4.6</a:t>
            </a:r>
            <a:endParaRPr lang="en-US" sz="1400" dirty="0"/>
          </a:p>
        </p:txBody>
      </p:sp>
      <p:sp>
        <p:nvSpPr>
          <p:cNvPr id="27" name="Text 24"/>
          <p:cNvSpPr txBox="1"/>
          <p:nvPr/>
        </p:nvSpPr>
        <p:spPr>
          <a:xfrm>
            <a:off x="6263640" y="3566160"/>
            <a:ext cx="1508760" cy="457200"/>
          </a:xfrm>
          <a:prstGeom prst="rect">
            <a:avLst/>
          </a:prstGeom>
          <a:noFill/>
          <a:ln/>
        </p:spPr>
        <p:txBody>
          <a:bodyPr wrap="square" lIns="0" tIns="0" rIns="0" bIns="0" rtlCol="0" anchor="ctr"/>
          <a:lstStyle/>
          <a:p>
            <a:pPr algn="ctr" indent="0" marL="0">
              <a:buNone/>
            </a:pPr>
            <a:r>
              <a:rPr lang="en-US" sz="1800" b="1" dirty="0">
                <a:solidFill>
                  <a:schemeClr val="tx2"/>
                </a:solidFill>
              </a:rPr>
              <a:t>Policy</a:t>
            </a:r>
            <a:endParaRPr lang="en-US" sz="1800" dirty="0"/>
          </a:p>
        </p:txBody>
      </p:sp>
      <p:sp>
        <p:nvSpPr>
          <p:cNvPr id="28" name="Text 25"/>
          <p:cNvSpPr txBox="1"/>
          <p:nvPr/>
        </p:nvSpPr>
        <p:spPr>
          <a:xfrm>
            <a:off x="6309360" y="4069080"/>
            <a:ext cx="1417320" cy="914400"/>
          </a:xfrm>
          <a:prstGeom prst="rect">
            <a:avLst/>
          </a:prstGeom>
          <a:noFill/>
          <a:ln/>
        </p:spPr>
        <p:txBody>
          <a:bodyPr wrap="square" lIns="0" tIns="0" rIns="0" bIns="0" rtlCol="0" anchor="t"/>
          <a:lstStyle/>
          <a:p>
            <a:pPr algn="ctr" indent="0" marL="0">
              <a:buNone/>
            </a:pPr>
            <a:r>
              <a:rPr lang="en-US" sz="1400" dirty="0">
                <a:solidFill>
                  <a:schemeClr val="tx1"/>
                </a:solidFill>
              </a:rPr>
              <a:t>check each clause</a:t>
            </a:r>
            <a:endParaRPr lang="en-US" sz="1400" dirty="0"/>
          </a:p>
        </p:txBody>
      </p:sp>
      <p:sp>
        <p:nvSpPr>
          <p:cNvPr id="29" name="Check step card"/>
          <p:cNvSpPr/>
          <p:nvPr/>
        </p:nvSpPr>
        <p:spPr>
          <a:xfrm>
            <a:off x="8046720" y="2103120"/>
            <a:ext cx="1691640" cy="3108960"/>
          </a:xfrm>
          <a:prstGeom prst="roundRect">
            <a:avLst>
              <a:gd name="adj" fmla="val 4324"/>
            </a:avLst>
          </a:prstGeom>
          <a:solidFill>
            <a:schemeClr val="bg2"/>
          </a:solidFill>
          <a:ln/>
        </p:spPr>
      </p:sp>
      <p:sp>
        <p:nvSpPr>
          <p:cNvPr id="30" name="Number 5"/>
          <p:cNvSpPr/>
          <p:nvPr/>
        </p:nvSpPr>
        <p:spPr>
          <a:xfrm>
            <a:off x="8549640" y="2377440"/>
            <a:ext cx="685800" cy="685800"/>
          </a:xfrm>
          <a:prstGeom prst="ellipse">
            <a:avLst/>
          </a:prstGeom>
          <a:solidFill>
            <a:schemeClr val="accent1"/>
          </a:solidFill>
          <a:ln/>
        </p:spPr>
      </p:sp>
      <p:sp>
        <p:nvSpPr>
          <p:cNvPr id="31" name="Text 28"/>
          <p:cNvSpPr txBox="1"/>
          <p:nvPr/>
        </p:nvSpPr>
        <p:spPr>
          <a:xfrm>
            <a:off x="8549640" y="2377440"/>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32" name="Text 29"/>
          <p:cNvSpPr txBox="1"/>
          <p:nvPr/>
        </p:nvSpPr>
        <p:spPr>
          <a:xfrm>
            <a:off x="8138160" y="3200400"/>
            <a:ext cx="1508760" cy="320040"/>
          </a:xfrm>
          <a:prstGeom prst="rect">
            <a:avLst/>
          </a:prstGeom>
          <a:noFill/>
          <a:ln/>
        </p:spPr>
        <p:txBody>
          <a:bodyPr wrap="square" lIns="0" tIns="0" rIns="0" bIns="0" rtlCol="0" anchor="ctr"/>
          <a:lstStyle/>
          <a:p>
            <a:pPr algn="ctr" indent="0" marL="0">
              <a:buNone/>
            </a:pPr>
            <a:r>
              <a:rPr lang="en-US" sz="1400" b="1" dirty="0">
                <a:solidFill>
                  <a:schemeClr val="accent1"/>
                </a:solidFill>
              </a:rPr>
              <a:t>4.7</a:t>
            </a:r>
            <a:endParaRPr lang="en-US" sz="1400" dirty="0"/>
          </a:p>
        </p:txBody>
      </p:sp>
      <p:sp>
        <p:nvSpPr>
          <p:cNvPr id="33" name="Text 30"/>
          <p:cNvSpPr txBox="1"/>
          <p:nvPr/>
        </p:nvSpPr>
        <p:spPr>
          <a:xfrm>
            <a:off x="8138160" y="3566160"/>
            <a:ext cx="1508760" cy="457200"/>
          </a:xfrm>
          <a:prstGeom prst="rect">
            <a:avLst/>
          </a:prstGeom>
          <a:noFill/>
          <a:ln/>
        </p:spPr>
        <p:txBody>
          <a:bodyPr wrap="square" lIns="0" tIns="0" rIns="0" bIns="0" rtlCol="0" anchor="ctr"/>
          <a:lstStyle/>
          <a:p>
            <a:pPr algn="ctr" indent="0" marL="0">
              <a:buNone/>
            </a:pPr>
            <a:r>
              <a:rPr lang="en-US" sz="1800" b="1" dirty="0">
                <a:solidFill>
                  <a:schemeClr val="tx2"/>
                </a:solidFill>
              </a:rPr>
              <a:t>Like-for-like</a:t>
            </a:r>
            <a:endParaRPr lang="en-US" sz="1800" dirty="0"/>
          </a:p>
        </p:txBody>
      </p:sp>
      <p:sp>
        <p:nvSpPr>
          <p:cNvPr id="34" name="Text 31"/>
          <p:cNvSpPr txBox="1"/>
          <p:nvPr/>
        </p:nvSpPr>
        <p:spPr>
          <a:xfrm>
            <a:off x="8183880" y="4069080"/>
            <a:ext cx="1417320" cy="914400"/>
          </a:xfrm>
          <a:prstGeom prst="rect">
            <a:avLst/>
          </a:prstGeom>
          <a:noFill/>
          <a:ln/>
        </p:spPr>
        <p:txBody>
          <a:bodyPr wrap="square" lIns="0" tIns="0" rIns="0" bIns="0" rtlCol="0" anchor="t"/>
          <a:lstStyle/>
          <a:p>
            <a:pPr algn="ctr" indent="0" marL="0">
              <a:buNone/>
            </a:pPr>
            <a:r>
              <a:rPr lang="en-US" sz="1400" dirty="0">
                <a:solidFill>
                  <a:schemeClr val="tx1"/>
                </a:solidFill>
              </a:rPr>
              <a:t>same thing quoted?</a:t>
            </a:r>
            <a:endParaRPr lang="en-US" sz="1400" dirty="0"/>
          </a:p>
        </p:txBody>
      </p:sp>
      <p:sp>
        <p:nvSpPr>
          <p:cNvPr id="35" name="Check step card"/>
          <p:cNvSpPr/>
          <p:nvPr/>
        </p:nvSpPr>
        <p:spPr>
          <a:xfrm>
            <a:off x="9921240" y="2103120"/>
            <a:ext cx="1691640" cy="3108960"/>
          </a:xfrm>
          <a:prstGeom prst="roundRect">
            <a:avLst>
              <a:gd name="adj" fmla="val 4324"/>
            </a:avLst>
          </a:prstGeom>
          <a:solidFill>
            <a:schemeClr val="bg2"/>
          </a:solidFill>
          <a:ln/>
        </p:spPr>
      </p:sp>
      <p:sp>
        <p:nvSpPr>
          <p:cNvPr id="36" name="Number 6"/>
          <p:cNvSpPr/>
          <p:nvPr/>
        </p:nvSpPr>
        <p:spPr>
          <a:xfrm>
            <a:off x="10424160" y="2377440"/>
            <a:ext cx="685800" cy="685800"/>
          </a:xfrm>
          <a:prstGeom prst="ellipse">
            <a:avLst/>
          </a:prstGeom>
          <a:solidFill>
            <a:schemeClr val="accent1"/>
          </a:solidFill>
          <a:ln/>
        </p:spPr>
      </p:sp>
      <p:sp>
        <p:nvSpPr>
          <p:cNvPr id="37" name="Text 34"/>
          <p:cNvSpPr txBox="1"/>
          <p:nvPr/>
        </p:nvSpPr>
        <p:spPr>
          <a:xfrm>
            <a:off x="10424160" y="2377440"/>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6</a:t>
            </a:r>
            <a:endParaRPr lang="en-US" sz="2200" dirty="0"/>
          </a:p>
        </p:txBody>
      </p:sp>
      <p:sp>
        <p:nvSpPr>
          <p:cNvPr id="38" name="Text 35"/>
          <p:cNvSpPr txBox="1"/>
          <p:nvPr/>
        </p:nvSpPr>
        <p:spPr>
          <a:xfrm>
            <a:off x="10012680" y="3200400"/>
            <a:ext cx="1508760" cy="320040"/>
          </a:xfrm>
          <a:prstGeom prst="rect">
            <a:avLst/>
          </a:prstGeom>
          <a:noFill/>
          <a:ln/>
        </p:spPr>
        <p:txBody>
          <a:bodyPr wrap="square" lIns="0" tIns="0" rIns="0" bIns="0" rtlCol="0" anchor="ctr"/>
          <a:lstStyle/>
          <a:p>
            <a:pPr algn="ctr" indent="0" marL="0">
              <a:buNone/>
            </a:pPr>
            <a:r>
              <a:rPr lang="en-US" sz="1400" b="1" dirty="0">
                <a:solidFill>
                  <a:schemeClr val="accent1"/>
                </a:solidFill>
              </a:rPr>
              <a:t>4.8</a:t>
            </a:r>
            <a:endParaRPr lang="en-US" sz="1400" dirty="0"/>
          </a:p>
        </p:txBody>
      </p:sp>
      <p:sp>
        <p:nvSpPr>
          <p:cNvPr id="39" name="Text 36"/>
          <p:cNvSpPr txBox="1"/>
          <p:nvPr/>
        </p:nvSpPr>
        <p:spPr>
          <a:xfrm>
            <a:off x="10012680" y="3566160"/>
            <a:ext cx="1508760" cy="457200"/>
          </a:xfrm>
          <a:prstGeom prst="rect">
            <a:avLst/>
          </a:prstGeom>
          <a:noFill/>
          <a:ln/>
        </p:spPr>
        <p:txBody>
          <a:bodyPr wrap="square" lIns="0" tIns="0" rIns="0" bIns="0" rtlCol="0" anchor="ctr"/>
          <a:lstStyle/>
          <a:p>
            <a:pPr algn="ctr" indent="0" marL="0">
              <a:buNone/>
            </a:pPr>
            <a:r>
              <a:rPr lang="en-US" sz="1800" b="1" dirty="0">
                <a:solidFill>
                  <a:schemeClr val="tx2"/>
                </a:solidFill>
              </a:rPr>
              <a:t>Recommend</a:t>
            </a:r>
            <a:endParaRPr lang="en-US" sz="1800" dirty="0"/>
          </a:p>
        </p:txBody>
      </p:sp>
      <p:sp>
        <p:nvSpPr>
          <p:cNvPr id="40" name="Text 37"/>
          <p:cNvSpPr txBox="1"/>
          <p:nvPr/>
        </p:nvSpPr>
        <p:spPr>
          <a:xfrm>
            <a:off x="10058400" y="4069080"/>
            <a:ext cx="1417320" cy="914400"/>
          </a:xfrm>
          <a:prstGeom prst="rect">
            <a:avLst/>
          </a:prstGeom>
          <a:noFill/>
          <a:ln/>
        </p:spPr>
        <p:txBody>
          <a:bodyPr wrap="square" lIns="0" tIns="0" rIns="0" bIns="0" rtlCol="0" anchor="t"/>
          <a:lstStyle/>
          <a:p>
            <a:pPr algn="ctr" indent="0" marL="0">
              <a:buNone/>
            </a:pPr>
            <a:r>
              <a:rPr lang="en-US" sz="1400" dirty="0">
                <a:solidFill>
                  <a:schemeClr val="tx1"/>
                </a:solidFill>
              </a:rPr>
              <a:t>then you decide</a:t>
            </a:r>
            <a:endParaRPr lang="en-US" sz="1400" dirty="0"/>
          </a:p>
        </p:txBody>
      </p:sp>
      <p:sp>
        <p:nvSpPr>
          <p:cNvPr id="41" name="Text 38"/>
          <p:cNvSpPr txBox="1"/>
          <p:nvPr/>
        </p:nvSpPr>
        <p:spPr>
          <a:xfrm>
            <a:off x="548640" y="5532120"/>
            <a:ext cx="11064240" cy="411480"/>
          </a:xfrm>
          <a:prstGeom prst="rect">
            <a:avLst/>
          </a:prstGeom>
          <a:noFill/>
          <a:ln/>
        </p:spPr>
        <p:txBody>
          <a:bodyPr wrap="square" lIns="0" tIns="0" rIns="0" bIns="0" rtlCol="0" anchor="ctr"/>
          <a:lstStyle/>
          <a:p>
            <a:pPr indent="0" marL="0">
              <a:buNone/>
            </a:pPr>
            <a:r>
              <a:rPr lang="en-US" sz="1600" i="1" dirty="0">
                <a:solidFill>
                  <a:schemeClr val="accent4"/>
                </a:solidFill>
              </a:rPr>
              <a:t>Copilot does the reading and the layout. You check every number.</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1097280" y="2103120"/>
            <a:ext cx="9966960" cy="1828800"/>
          </a:xfrm>
          <a:prstGeom prst="rect">
            <a:avLst/>
          </a:prstGeom>
          <a:noFill/>
          <a:ln/>
        </p:spPr>
        <p:txBody>
          <a:bodyPr wrap="square" rtlCol="0" anchor="ctr"/>
          <a:lstStyle/>
          <a:p>
            <a:pPr algn="ctr" indent="0" marL="0">
              <a:buNone/>
            </a:pPr>
            <a:r>
              <a:rPr lang="en-US" sz="4000" b="1" dirty="0">
                <a:solidFill>
                  <a:schemeClr val="bg1"/>
                </a:solidFill>
              </a:rPr>
              <a:t>Copilot recommends. You decide.</a:t>
            </a:r>
            <a:endParaRPr lang="en-US" sz="4000" dirty="0"/>
          </a:p>
        </p:txBody>
      </p:sp>
      <p:sp>
        <p:nvSpPr>
          <p:cNvPr id="3" name="Text 0"/>
          <p:cNvSpPr/>
          <p:nvPr>
            <p:ph idx="101" type="body" hasCustomPrompt="1"/>
          </p:nvPr>
        </p:nvSpPr>
        <p:spPr>
          <a:xfrm>
            <a:off x="1097280" y="4114800"/>
            <a:ext cx="9966960" cy="731520"/>
          </a:xfrm>
          <a:prstGeom prst="rect">
            <a:avLst/>
          </a:prstGeom>
          <a:noFill/>
          <a:ln/>
        </p:spPr>
        <p:txBody>
          <a:bodyPr wrap="square" rtlCol="0" anchor="t"/>
          <a:lstStyle/>
          <a:p>
            <a:pPr algn="ctr" indent="0" marL="0">
              <a:buNone/>
            </a:pPr>
            <a:r>
              <a:rPr lang="en-US" sz="1800" i="1" dirty="0">
                <a:solidFill>
                  <a:schemeClr val="bg1"/>
                </a:solidFill>
              </a:rPr>
              <a:t>Your name goes on the memo. You need to explain every number in it without Copilot.</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YOUR TURN  ·  CHAPTER 04</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Compare the three quotations</a:t>
            </a:r>
            <a:endParaRPr lang="en-US" sz="3200" dirty="0"/>
          </a:p>
        </p:txBody>
      </p:sp>
      <p:sp>
        <p:nvSpPr>
          <p:cNvPr id="5" name="Number 1"/>
          <p:cNvSpPr/>
          <p:nvPr/>
        </p:nvSpPr>
        <p:spPr>
          <a:xfrm>
            <a:off x="548640" y="1708785"/>
            <a:ext cx="457200" cy="457200"/>
          </a:xfrm>
          <a:prstGeom prst="ellipse">
            <a:avLst/>
          </a:prstGeom>
          <a:solidFill>
            <a:schemeClr val="accent1"/>
          </a:solidFill>
          <a:ln/>
        </p:spPr>
      </p:sp>
      <p:sp>
        <p:nvSpPr>
          <p:cNvPr id="6" name="Text 3"/>
          <p:cNvSpPr txBox="1"/>
          <p:nvPr/>
        </p:nvSpPr>
        <p:spPr>
          <a:xfrm>
            <a:off x="548640" y="1708785"/>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4"/>
          <p:cNvSpPr txBox="1"/>
          <p:nvPr/>
        </p:nvSpPr>
        <p:spPr>
          <a:xfrm>
            <a:off x="1188720" y="1691640"/>
            <a:ext cx="6035040" cy="491490"/>
          </a:xfrm>
          <a:prstGeom prst="rect">
            <a:avLst/>
          </a:prstGeom>
          <a:noFill/>
          <a:ln/>
        </p:spPr>
        <p:txBody>
          <a:bodyPr wrap="square" lIns="0" tIns="0" rIns="0" bIns="0" rtlCol="0" anchor="ctr"/>
          <a:lstStyle/>
          <a:p>
            <a:pPr indent="0" marL="0">
              <a:buNone/>
            </a:pPr>
            <a:r>
              <a:rPr lang="en-US" sz="1600" b="1" dirty="0">
                <a:solidFill>
                  <a:schemeClr val="accent1"/>
                </a:solidFill>
              </a:rPr>
              <a:t>4.1  </a:t>
            </a:r>
            <a:pPr indent="0" marL="0">
              <a:buNone/>
            </a:pPr>
            <a:r>
              <a:rPr lang="en-US" sz="1600" dirty="0">
                <a:solidFill>
                  <a:schemeClr val="tx1"/>
                </a:solidFill>
              </a:rPr>
              <a:t>Download sample-files.zip and extract it</a:t>
            </a:r>
            <a:endParaRPr lang="en-US" sz="1600" dirty="0"/>
          </a:p>
        </p:txBody>
      </p:sp>
      <p:sp>
        <p:nvSpPr>
          <p:cNvPr id="8" name="Number 2"/>
          <p:cNvSpPr/>
          <p:nvPr/>
        </p:nvSpPr>
        <p:spPr>
          <a:xfrm>
            <a:off x="548640" y="2200275"/>
            <a:ext cx="457200" cy="457200"/>
          </a:xfrm>
          <a:prstGeom prst="ellipse">
            <a:avLst/>
          </a:prstGeom>
          <a:solidFill>
            <a:schemeClr val="accent1"/>
          </a:solidFill>
          <a:ln/>
        </p:spPr>
      </p:sp>
      <p:sp>
        <p:nvSpPr>
          <p:cNvPr id="9" name="Text 6"/>
          <p:cNvSpPr txBox="1"/>
          <p:nvPr/>
        </p:nvSpPr>
        <p:spPr>
          <a:xfrm>
            <a:off x="548640" y="2200275"/>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1188720" y="2183130"/>
            <a:ext cx="6035040" cy="491490"/>
          </a:xfrm>
          <a:prstGeom prst="rect">
            <a:avLst/>
          </a:prstGeom>
          <a:noFill/>
          <a:ln/>
        </p:spPr>
        <p:txBody>
          <a:bodyPr wrap="square" lIns="0" tIns="0" rIns="0" bIns="0" rtlCol="0" anchor="ctr"/>
          <a:lstStyle/>
          <a:p>
            <a:pPr indent="0" marL="0">
              <a:buNone/>
            </a:pPr>
            <a:r>
              <a:rPr lang="en-US" sz="1600" b="1" dirty="0">
                <a:solidFill>
                  <a:schemeClr val="accent1"/>
                </a:solidFill>
              </a:rPr>
              <a:t>4.2  </a:t>
            </a:r>
            <a:pPr indent="0" marL="0">
              <a:buNone/>
            </a:pPr>
            <a:r>
              <a:rPr lang="en-US" sz="1600" dirty="0">
                <a:solidFill>
                  <a:schemeClr val="tx1"/>
                </a:solidFill>
              </a:rPr>
              <a:t>New chat: policy first, then the three quotations</a:t>
            </a:r>
            <a:endParaRPr lang="en-US" sz="1600" dirty="0"/>
          </a:p>
        </p:txBody>
      </p:sp>
      <p:sp>
        <p:nvSpPr>
          <p:cNvPr id="11" name="Number 3"/>
          <p:cNvSpPr/>
          <p:nvPr/>
        </p:nvSpPr>
        <p:spPr>
          <a:xfrm>
            <a:off x="548640" y="2691765"/>
            <a:ext cx="457200" cy="457200"/>
          </a:xfrm>
          <a:prstGeom prst="ellipse">
            <a:avLst/>
          </a:prstGeom>
          <a:solidFill>
            <a:schemeClr val="accent1"/>
          </a:solidFill>
          <a:ln/>
        </p:spPr>
      </p:sp>
      <p:sp>
        <p:nvSpPr>
          <p:cNvPr id="12" name="Text 9"/>
          <p:cNvSpPr txBox="1"/>
          <p:nvPr/>
        </p:nvSpPr>
        <p:spPr>
          <a:xfrm>
            <a:off x="548640" y="2691765"/>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0"/>
          <p:cNvSpPr txBox="1"/>
          <p:nvPr/>
        </p:nvSpPr>
        <p:spPr>
          <a:xfrm>
            <a:off x="1188720" y="2674620"/>
            <a:ext cx="6035040" cy="491490"/>
          </a:xfrm>
          <a:prstGeom prst="rect">
            <a:avLst/>
          </a:prstGeom>
          <a:noFill/>
          <a:ln/>
        </p:spPr>
        <p:txBody>
          <a:bodyPr wrap="square" lIns="0" tIns="0" rIns="0" bIns="0" rtlCol="0" anchor="ctr"/>
          <a:lstStyle/>
          <a:p>
            <a:pPr indent="0" marL="0">
              <a:buNone/>
            </a:pPr>
            <a:r>
              <a:rPr lang="en-US" sz="1600" b="1" dirty="0">
                <a:solidFill>
                  <a:schemeClr val="accent1"/>
                </a:solidFill>
              </a:rPr>
              <a:t>4.3  </a:t>
            </a:r>
            <a:pPr indent="0" marL="0">
              <a:buNone/>
            </a:pPr>
            <a:r>
              <a:rPr lang="en-US" sz="1600" dirty="0">
                <a:solidFill>
                  <a:schemeClr val="tx1"/>
                </a:solidFill>
              </a:rPr>
              <a:t>Summarise each quotation</a:t>
            </a:r>
            <a:endParaRPr lang="en-US" sz="1600" dirty="0"/>
          </a:p>
        </p:txBody>
      </p:sp>
      <p:sp>
        <p:nvSpPr>
          <p:cNvPr id="14" name="Number 4"/>
          <p:cNvSpPr/>
          <p:nvPr/>
        </p:nvSpPr>
        <p:spPr>
          <a:xfrm>
            <a:off x="548640" y="3183255"/>
            <a:ext cx="457200" cy="457200"/>
          </a:xfrm>
          <a:prstGeom prst="ellipse">
            <a:avLst/>
          </a:prstGeom>
          <a:solidFill>
            <a:schemeClr val="accent1"/>
          </a:solidFill>
          <a:ln/>
        </p:spPr>
      </p:sp>
      <p:sp>
        <p:nvSpPr>
          <p:cNvPr id="15" name="Text 12"/>
          <p:cNvSpPr txBox="1"/>
          <p:nvPr/>
        </p:nvSpPr>
        <p:spPr>
          <a:xfrm>
            <a:off x="548640" y="3183255"/>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6" name="Text 13"/>
          <p:cNvSpPr txBox="1"/>
          <p:nvPr/>
        </p:nvSpPr>
        <p:spPr>
          <a:xfrm>
            <a:off x="1188720" y="3166110"/>
            <a:ext cx="6035040" cy="491490"/>
          </a:xfrm>
          <a:prstGeom prst="rect">
            <a:avLst/>
          </a:prstGeom>
          <a:noFill/>
          <a:ln/>
        </p:spPr>
        <p:txBody>
          <a:bodyPr wrap="square" lIns="0" tIns="0" rIns="0" bIns="0" rtlCol="0" anchor="ctr"/>
          <a:lstStyle/>
          <a:p>
            <a:pPr indent="0" marL="0">
              <a:buNone/>
            </a:pPr>
            <a:r>
              <a:rPr lang="en-US" sz="1600" b="1" dirty="0">
                <a:solidFill>
                  <a:schemeClr val="accent1"/>
                </a:solidFill>
              </a:rPr>
              <a:t>4.4  </a:t>
            </a:r>
            <a:pPr indent="0" marL="0">
              <a:buNone/>
            </a:pPr>
            <a:r>
              <a:rPr lang="en-US" sz="1600" dirty="0">
                <a:solidFill>
                  <a:schemeClr val="tx1"/>
                </a:solidFill>
              </a:rPr>
              <a:t>Build the comparison table, figures as printed</a:t>
            </a:r>
            <a:endParaRPr lang="en-US" sz="1600" dirty="0"/>
          </a:p>
        </p:txBody>
      </p:sp>
      <p:sp>
        <p:nvSpPr>
          <p:cNvPr id="17" name="Number 5"/>
          <p:cNvSpPr/>
          <p:nvPr/>
        </p:nvSpPr>
        <p:spPr>
          <a:xfrm>
            <a:off x="548640" y="3674745"/>
            <a:ext cx="457200" cy="457200"/>
          </a:xfrm>
          <a:prstGeom prst="ellipse">
            <a:avLst/>
          </a:prstGeom>
          <a:solidFill>
            <a:schemeClr val="accent1"/>
          </a:solidFill>
          <a:ln/>
        </p:spPr>
      </p:sp>
      <p:sp>
        <p:nvSpPr>
          <p:cNvPr id="18" name="Text 15"/>
          <p:cNvSpPr txBox="1"/>
          <p:nvPr/>
        </p:nvSpPr>
        <p:spPr>
          <a:xfrm>
            <a:off x="548640" y="3674745"/>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9" name="Text 16"/>
          <p:cNvSpPr txBox="1"/>
          <p:nvPr/>
        </p:nvSpPr>
        <p:spPr>
          <a:xfrm>
            <a:off x="1188720" y="3657600"/>
            <a:ext cx="6035040" cy="491490"/>
          </a:xfrm>
          <a:prstGeom prst="rect">
            <a:avLst/>
          </a:prstGeom>
          <a:noFill/>
          <a:ln/>
        </p:spPr>
        <p:txBody>
          <a:bodyPr wrap="square" lIns="0" tIns="0" rIns="0" bIns="0" rtlCol="0" anchor="ctr"/>
          <a:lstStyle/>
          <a:p>
            <a:pPr indent="0" marL="0">
              <a:buNone/>
            </a:pPr>
            <a:r>
              <a:rPr lang="en-US" sz="1600" b="1" dirty="0">
                <a:solidFill>
                  <a:schemeClr val="accent1"/>
                </a:solidFill>
              </a:rPr>
              <a:t>4.5  </a:t>
            </a:r>
            <a:pPr indent="0" marL="0">
              <a:buNone/>
            </a:pPr>
            <a:r>
              <a:rPr lang="en-US" sz="1600" dirty="0">
                <a:solidFill>
                  <a:schemeClr val="tx1"/>
                </a:solidFill>
              </a:rPr>
              <a:t>Check the arithmetic, with your own calculator too</a:t>
            </a:r>
            <a:endParaRPr lang="en-US" sz="1600" dirty="0"/>
          </a:p>
        </p:txBody>
      </p:sp>
      <p:sp>
        <p:nvSpPr>
          <p:cNvPr id="20" name="Number 6"/>
          <p:cNvSpPr/>
          <p:nvPr/>
        </p:nvSpPr>
        <p:spPr>
          <a:xfrm>
            <a:off x="548640" y="4166235"/>
            <a:ext cx="457200" cy="457200"/>
          </a:xfrm>
          <a:prstGeom prst="ellipse">
            <a:avLst/>
          </a:prstGeom>
          <a:solidFill>
            <a:schemeClr val="accent1"/>
          </a:solidFill>
          <a:ln/>
        </p:spPr>
      </p:sp>
      <p:sp>
        <p:nvSpPr>
          <p:cNvPr id="21" name="Text 18"/>
          <p:cNvSpPr txBox="1"/>
          <p:nvPr/>
        </p:nvSpPr>
        <p:spPr>
          <a:xfrm>
            <a:off x="548640" y="4166235"/>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2" name="Text 19"/>
          <p:cNvSpPr txBox="1"/>
          <p:nvPr/>
        </p:nvSpPr>
        <p:spPr>
          <a:xfrm>
            <a:off x="1188720" y="4149090"/>
            <a:ext cx="6035040" cy="491490"/>
          </a:xfrm>
          <a:prstGeom prst="rect">
            <a:avLst/>
          </a:prstGeom>
          <a:noFill/>
          <a:ln/>
        </p:spPr>
        <p:txBody>
          <a:bodyPr wrap="square" lIns="0" tIns="0" rIns="0" bIns="0" rtlCol="0" anchor="ctr"/>
          <a:lstStyle/>
          <a:p>
            <a:pPr indent="0" marL="0">
              <a:buNone/>
            </a:pPr>
            <a:r>
              <a:rPr lang="en-US" sz="1600" b="1" dirty="0">
                <a:solidFill>
                  <a:schemeClr val="accent1"/>
                </a:solidFill>
              </a:rPr>
              <a:t>4.6  </a:t>
            </a:r>
            <a:pPr indent="0" marL="0">
              <a:buNone/>
            </a:pPr>
            <a:r>
              <a:rPr lang="en-US" sz="1600" dirty="0">
                <a:solidFill>
                  <a:schemeClr val="tx1"/>
                </a:solidFill>
              </a:rPr>
              <a:t>Check each quotation against the policy</a:t>
            </a:r>
            <a:endParaRPr lang="en-US" sz="1600" dirty="0"/>
          </a:p>
        </p:txBody>
      </p:sp>
      <p:sp>
        <p:nvSpPr>
          <p:cNvPr id="23" name="Number 7"/>
          <p:cNvSpPr/>
          <p:nvPr/>
        </p:nvSpPr>
        <p:spPr>
          <a:xfrm>
            <a:off x="548640" y="4657725"/>
            <a:ext cx="457200" cy="457200"/>
          </a:xfrm>
          <a:prstGeom prst="ellipse">
            <a:avLst/>
          </a:prstGeom>
          <a:solidFill>
            <a:schemeClr val="accent1"/>
          </a:solidFill>
          <a:ln/>
        </p:spPr>
      </p:sp>
      <p:sp>
        <p:nvSpPr>
          <p:cNvPr id="24" name="Text 21"/>
          <p:cNvSpPr txBox="1"/>
          <p:nvPr/>
        </p:nvSpPr>
        <p:spPr>
          <a:xfrm>
            <a:off x="548640" y="4657725"/>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5" name="Text 22"/>
          <p:cNvSpPr txBox="1"/>
          <p:nvPr/>
        </p:nvSpPr>
        <p:spPr>
          <a:xfrm>
            <a:off x="1188720" y="4640580"/>
            <a:ext cx="6035040" cy="491490"/>
          </a:xfrm>
          <a:prstGeom prst="rect">
            <a:avLst/>
          </a:prstGeom>
          <a:noFill/>
          <a:ln/>
        </p:spPr>
        <p:txBody>
          <a:bodyPr wrap="square" lIns="0" tIns="0" rIns="0" bIns="0" rtlCol="0" anchor="ctr"/>
          <a:lstStyle/>
          <a:p>
            <a:pPr indent="0" marL="0">
              <a:buNone/>
            </a:pPr>
            <a:r>
              <a:rPr lang="en-US" sz="1600" b="1" dirty="0">
                <a:solidFill>
                  <a:schemeClr val="accent1"/>
                </a:solidFill>
              </a:rPr>
              <a:t>4.7  </a:t>
            </a:r>
            <a:pPr indent="0" marL="0">
              <a:buNone/>
            </a:pPr>
            <a:r>
              <a:rPr lang="en-US" sz="1600" dirty="0">
                <a:solidFill>
                  <a:schemeClr val="tx1"/>
                </a:solidFill>
              </a:rPr>
              <a:t>Ask whether the comparison is like-for-like</a:t>
            </a:r>
            <a:endParaRPr lang="en-US" sz="1600" dirty="0"/>
          </a:p>
        </p:txBody>
      </p:sp>
      <p:sp>
        <p:nvSpPr>
          <p:cNvPr id="26" name="Number 8"/>
          <p:cNvSpPr/>
          <p:nvPr/>
        </p:nvSpPr>
        <p:spPr>
          <a:xfrm>
            <a:off x="548640" y="5149215"/>
            <a:ext cx="457200" cy="457200"/>
          </a:xfrm>
          <a:prstGeom prst="ellipse">
            <a:avLst/>
          </a:prstGeom>
          <a:solidFill>
            <a:schemeClr val="accent1"/>
          </a:solidFill>
          <a:ln/>
        </p:spPr>
      </p:sp>
      <p:sp>
        <p:nvSpPr>
          <p:cNvPr id="27" name="Text 24"/>
          <p:cNvSpPr txBox="1"/>
          <p:nvPr/>
        </p:nvSpPr>
        <p:spPr>
          <a:xfrm>
            <a:off x="548640" y="5149215"/>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sp>
        <p:nvSpPr>
          <p:cNvPr id="28" name="Text 25"/>
          <p:cNvSpPr txBox="1"/>
          <p:nvPr/>
        </p:nvSpPr>
        <p:spPr>
          <a:xfrm>
            <a:off x="1188720" y="5132070"/>
            <a:ext cx="6035040" cy="491490"/>
          </a:xfrm>
          <a:prstGeom prst="rect">
            <a:avLst/>
          </a:prstGeom>
          <a:noFill/>
          <a:ln/>
        </p:spPr>
        <p:txBody>
          <a:bodyPr wrap="square" lIns="0" tIns="0" rIns="0" bIns="0" rtlCol="0" anchor="ctr"/>
          <a:lstStyle/>
          <a:p>
            <a:pPr indent="0" marL="0">
              <a:buNone/>
            </a:pPr>
            <a:r>
              <a:rPr lang="en-US" sz="1600" b="1" dirty="0">
                <a:solidFill>
                  <a:schemeClr val="accent1"/>
                </a:solidFill>
              </a:rPr>
              <a:t>4.8  </a:t>
            </a:r>
            <a:pPr indent="0" marL="0">
              <a:buNone/>
            </a:pPr>
            <a:r>
              <a:rPr lang="en-US" sz="1600" dirty="0">
                <a:solidFill>
                  <a:schemeClr val="tx1"/>
                </a:solidFill>
              </a:rPr>
              <a:t>Ask for a recommendation, then decide</a:t>
            </a:r>
            <a:endParaRPr lang="en-US" sz="1600" dirty="0"/>
          </a:p>
        </p:txBody>
      </p:sp>
      <p:sp>
        <p:nvSpPr>
          <p:cNvPr id="29" name="Checkpoint card"/>
          <p:cNvSpPr/>
          <p:nvPr/>
        </p:nvSpPr>
        <p:spPr>
          <a:xfrm>
            <a:off x="7680960" y="1691640"/>
            <a:ext cx="3959352" cy="2743200"/>
          </a:xfrm>
          <a:prstGeom prst="roundRect">
            <a:avLst>
              <a:gd name="adj" fmla="val 2667"/>
            </a:avLst>
          </a:prstGeom>
          <a:solidFill>
            <a:schemeClr val="accent1">
              <a:alpha val="12000"/>
            </a:schemeClr>
          </a:solidFill>
          <a:ln/>
        </p:spPr>
      </p:sp>
      <p:sp>
        <p:nvSpPr>
          <p:cNvPr id="30" name="Icon circle"/>
          <p:cNvSpPr/>
          <p:nvPr/>
        </p:nvSpPr>
        <p:spPr>
          <a:xfrm>
            <a:off x="7955280" y="1920240"/>
            <a:ext cx="548640" cy="548640"/>
          </a:xfrm>
          <a:prstGeom prst="ellipse">
            <a:avLst/>
          </a:prstGeom>
          <a:solidFill>
            <a:schemeClr val="accent1"/>
          </a:solidFill>
          <a:ln/>
        </p:spPr>
      </p:sp>
      <p:pic>
        <p:nvPicPr>
          <p:cNvPr id="31" name="Image 0" descr="preencoded.png">    </p:cNvPr>
          <p:cNvPicPr>
            <a:picLocks noChangeAspect="1"/>
          </p:cNvPicPr>
          <p:nvPr/>
        </p:nvPicPr>
        <p:blipFill>
          <a:blip r:embed="rId1"/>
          <a:stretch>
            <a:fillRect/>
          </a:stretch>
        </p:blipFill>
        <p:spPr>
          <a:xfrm>
            <a:off x="8092440" y="2057400"/>
            <a:ext cx="274320" cy="274320"/>
          </a:xfrm>
          <a:prstGeom prst="rect">
            <a:avLst/>
          </a:prstGeom>
        </p:spPr>
      </p:pic>
      <p:sp>
        <p:nvSpPr>
          <p:cNvPr id="32" name="Text 28"/>
          <p:cNvSpPr txBox="1"/>
          <p:nvPr/>
        </p:nvSpPr>
        <p:spPr>
          <a:xfrm>
            <a:off x="8641080" y="1920240"/>
            <a:ext cx="2834640" cy="548640"/>
          </a:xfrm>
          <a:prstGeom prst="rect">
            <a:avLst/>
          </a:prstGeom>
          <a:noFill/>
          <a:ln/>
        </p:spPr>
        <p:txBody>
          <a:bodyPr wrap="square" lIns="0" tIns="0" rIns="0" bIns="0" rtlCol="0" anchor="ctr"/>
          <a:lstStyle/>
          <a:p>
            <a:pPr indent="0" marL="0">
              <a:buNone/>
            </a:pPr>
            <a:r>
              <a:rPr lang="en-US" sz="1800" b="1" dirty="0">
                <a:solidFill>
                  <a:schemeClr val="tx2"/>
                </a:solidFill>
              </a:rPr>
              <a:t>Checkpoint</a:t>
            </a:r>
            <a:endParaRPr lang="en-US" sz="1800" dirty="0"/>
          </a:p>
        </p:txBody>
      </p:sp>
      <p:sp>
        <p:nvSpPr>
          <p:cNvPr id="33" name="Text 29"/>
          <p:cNvSpPr txBox="1"/>
          <p:nvPr/>
        </p:nvSpPr>
        <p:spPr>
          <a:xfrm>
            <a:off x="7955280" y="2606040"/>
            <a:ext cx="3474720" cy="1737360"/>
          </a:xfrm>
          <a:prstGeom prst="rect">
            <a:avLst/>
          </a:prstGeom>
          <a:noFill/>
          <a:ln/>
        </p:spPr>
        <p:txBody>
          <a:bodyPr wrap="square" lIns="0" tIns="0" rIns="0" bIns="0" rtlCol="0" anchor="t"/>
          <a:lstStyle/>
          <a:p>
            <a:pPr indent="0" marL="0">
              <a:buNone/>
            </a:pPr>
            <a:r>
              <a:rPr lang="en-US" sz="1500" dirty="0">
                <a:solidFill>
                  <a:schemeClr val="tx1"/>
                </a:solidFill>
              </a:rPr>
              <a:t>You've found three problems, one per vendor, and can name the policy section for each.</a:t>
            </a:r>
            <a:endParaRPr lang="en-US" sz="1500" dirty="0"/>
          </a:p>
        </p:txBody>
      </p:sp>
      <p:sp>
        <p:nvSpPr>
          <p:cNvPr id="34" name="Prompts card"/>
          <p:cNvSpPr/>
          <p:nvPr/>
        </p:nvSpPr>
        <p:spPr>
          <a:xfrm>
            <a:off x="7680960" y="4617720"/>
            <a:ext cx="3959352" cy="1234440"/>
          </a:xfrm>
          <a:prstGeom prst="roundRect">
            <a:avLst>
              <a:gd name="adj" fmla="val 5926"/>
            </a:avLst>
          </a:prstGeom>
          <a:solidFill>
            <a:schemeClr val="bg2"/>
          </a:solidFill>
          <a:ln/>
        </p:spPr>
      </p:sp>
      <p:sp>
        <p:nvSpPr>
          <p:cNvPr id="35" name="Icon circle"/>
          <p:cNvSpPr/>
          <p:nvPr/>
        </p:nvSpPr>
        <p:spPr>
          <a:xfrm>
            <a:off x="7955280" y="4892040"/>
            <a:ext cx="548640" cy="548640"/>
          </a:xfrm>
          <a:prstGeom prst="ellipse">
            <a:avLst/>
          </a:prstGeom>
          <a:solidFill>
            <a:schemeClr val="tx2"/>
          </a:solidFill>
          <a:ln/>
        </p:spPr>
      </p:sp>
      <p:pic>
        <p:nvPicPr>
          <p:cNvPr id="36" name="Image 1" descr="preencoded.png">    </p:cNvPr>
          <p:cNvPicPr>
            <a:picLocks noChangeAspect="1"/>
          </p:cNvPicPr>
          <p:nvPr/>
        </p:nvPicPr>
        <p:blipFill>
          <a:blip r:embed="rId2"/>
          <a:stretch>
            <a:fillRect/>
          </a:stretch>
        </p:blipFill>
        <p:spPr>
          <a:xfrm>
            <a:off x="8092440" y="5029200"/>
            <a:ext cx="274320" cy="274320"/>
          </a:xfrm>
          <a:prstGeom prst="rect">
            <a:avLst/>
          </a:prstGeom>
        </p:spPr>
      </p:pic>
      <p:sp>
        <p:nvSpPr>
          <p:cNvPr id="37" name="Text 32"/>
          <p:cNvSpPr txBox="1"/>
          <p:nvPr/>
        </p:nvSpPr>
        <p:spPr>
          <a:xfrm>
            <a:off x="8641080" y="4754880"/>
            <a:ext cx="2834640" cy="868680"/>
          </a:xfrm>
          <a:prstGeom prst="rect">
            <a:avLst/>
          </a:prstGeom>
          <a:noFill/>
          <a:ln/>
        </p:spPr>
        <p:txBody>
          <a:bodyPr wrap="square" lIns="0" tIns="0" rIns="0" bIns="0" rtlCol="0" anchor="ctr"/>
          <a:lstStyle/>
          <a:p>
            <a:pPr indent="0" marL="0">
              <a:buNone/>
            </a:pPr>
            <a:r>
              <a:rPr lang="en-US" sz="1600" b="1" dirty="0">
                <a:solidFill>
                  <a:schemeClr val="tx2"/>
                </a:solidFill>
              </a:rPr>
              <a:t>Prompts page</a:t>
            </a:r>
            <a:endParaRPr lang="en-US" sz="1600" dirty="0"/>
          </a:p>
          <a:p>
            <a:pPr indent="0" marL="0">
              <a:buNone/>
            </a:pPr>
            <a:r>
              <a:rPr lang="en-US" sz="1300" dirty="0">
                <a:solidFill>
                  <a:schemeClr val="accent4"/>
                </a:solidFill>
              </a:rPr>
              <a:t>Chapter 04: copy every prompt from there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DEBRIEF  ·  CHAPTER 04</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Check your findings</a:t>
            </a:r>
            <a:endParaRPr lang="en-US" sz="3200" dirty="0"/>
          </a:p>
        </p:txBody>
      </p:sp>
      <p:sp>
        <p:nvSpPr>
          <p:cNvPr id="5" name="Debrief card"/>
          <p:cNvSpPr/>
          <p:nvPr/>
        </p:nvSpPr>
        <p:spPr>
          <a:xfrm>
            <a:off x="548640" y="1783080"/>
            <a:ext cx="3566160" cy="2651760"/>
          </a:xfrm>
          <a:prstGeom prst="roundRect">
            <a:avLst>
              <a:gd name="adj" fmla="val 2759"/>
            </a:avLst>
          </a:prstGeom>
          <a:solidFill>
            <a:schemeClr val="bg2"/>
          </a:solidFill>
          <a:ln/>
        </p:spPr>
      </p:sp>
      <p:sp>
        <p:nvSpPr>
          <p:cNvPr id="6" name="Icon circle"/>
          <p:cNvSpPr/>
          <p:nvPr/>
        </p:nvSpPr>
        <p:spPr>
          <a:xfrm>
            <a:off x="868680" y="2057400"/>
            <a:ext cx="777240" cy="777240"/>
          </a:xfrm>
          <a:prstGeom prst="ellipse">
            <a:avLst/>
          </a:prstGeom>
          <a:solidFill>
            <a:schemeClr val="accent1"/>
          </a:solidFill>
          <a:ln/>
        </p:spPr>
      </p:sp>
      <p:pic>
        <p:nvPicPr>
          <p:cNvPr id="7" name="Image 0" descr="preencoded.png">    </p:cNvPr>
          <p:cNvPicPr>
            <a:picLocks noChangeAspect="1"/>
          </p:cNvPicPr>
          <p:nvPr/>
        </p:nvPicPr>
        <p:blipFill>
          <a:blip r:embed="rId1"/>
          <a:stretch>
            <a:fillRect/>
          </a:stretch>
        </p:blipFill>
        <p:spPr>
          <a:xfrm>
            <a:off x="1062990" y="2251710"/>
            <a:ext cx="388620" cy="388620"/>
          </a:xfrm>
          <a:prstGeom prst="rect">
            <a:avLst/>
          </a:prstGeom>
        </p:spPr>
      </p:pic>
      <p:sp>
        <p:nvSpPr>
          <p:cNvPr id="8" name="Text 4"/>
          <p:cNvSpPr txBox="1"/>
          <p:nvPr/>
        </p:nvSpPr>
        <p:spPr>
          <a:xfrm>
            <a:off x="868680" y="2971800"/>
            <a:ext cx="3017520" cy="457200"/>
          </a:xfrm>
          <a:prstGeom prst="rect">
            <a:avLst/>
          </a:prstGeom>
          <a:noFill/>
          <a:ln/>
        </p:spPr>
        <p:txBody>
          <a:bodyPr wrap="square" lIns="0" tIns="0" rIns="0" bIns="0" rtlCol="0" anchor="ctr"/>
          <a:lstStyle/>
          <a:p>
            <a:pPr indent="0" marL="0">
              <a:buNone/>
            </a:pPr>
            <a:r>
              <a:rPr lang="en-US" sz="2000" b="1" dirty="0">
                <a:solidFill>
                  <a:schemeClr val="tx2"/>
                </a:solidFill>
              </a:rPr>
              <a:t>The numbers</a:t>
            </a:r>
            <a:endParaRPr lang="en-US" sz="2000" dirty="0"/>
          </a:p>
        </p:txBody>
      </p:sp>
      <p:sp>
        <p:nvSpPr>
          <p:cNvPr id="9" name="Text 5"/>
          <p:cNvSpPr txBox="1"/>
          <p:nvPr/>
        </p:nvSpPr>
        <p:spPr>
          <a:xfrm>
            <a:off x="868680" y="3474720"/>
            <a:ext cx="2971800" cy="822960"/>
          </a:xfrm>
          <a:prstGeom prst="rect">
            <a:avLst/>
          </a:prstGeom>
          <a:noFill/>
          <a:ln/>
        </p:spPr>
        <p:txBody>
          <a:bodyPr wrap="square" lIns="0" tIns="0" rIns="0" bIns="0" rtlCol="0" anchor="t"/>
          <a:lstStyle/>
          <a:p>
            <a:pPr indent="0" marL="0">
              <a:buNone/>
            </a:pPr>
            <a:r>
              <a:rPr lang="en-US" sz="1600" dirty="0">
                <a:solidFill>
                  <a:schemeClr val="tx1"/>
                </a:solidFill>
              </a:rPr>
              <a:t>Which quotation has a problem with its figures?</a:t>
            </a:r>
            <a:endParaRPr lang="en-US" sz="1600" dirty="0"/>
          </a:p>
        </p:txBody>
      </p:sp>
      <p:sp>
        <p:nvSpPr>
          <p:cNvPr id="10" name="Debrief card"/>
          <p:cNvSpPr/>
          <p:nvPr/>
        </p:nvSpPr>
        <p:spPr>
          <a:xfrm>
            <a:off x="4297680" y="1783080"/>
            <a:ext cx="3566160" cy="2651760"/>
          </a:xfrm>
          <a:prstGeom prst="roundRect">
            <a:avLst>
              <a:gd name="adj" fmla="val 2759"/>
            </a:avLst>
          </a:prstGeom>
          <a:solidFill>
            <a:schemeClr val="bg2"/>
          </a:solidFill>
          <a:ln/>
        </p:spPr>
      </p:sp>
      <p:sp>
        <p:nvSpPr>
          <p:cNvPr id="11" name="Icon circle"/>
          <p:cNvSpPr/>
          <p:nvPr/>
        </p:nvSpPr>
        <p:spPr>
          <a:xfrm>
            <a:off x="4617720" y="2057400"/>
            <a:ext cx="777240" cy="777240"/>
          </a:xfrm>
          <a:prstGeom prst="ellipse">
            <a:avLst/>
          </a:prstGeom>
          <a:solidFill>
            <a:schemeClr val="accent1"/>
          </a:solidFill>
          <a:ln/>
        </p:spPr>
      </p:sp>
      <p:pic>
        <p:nvPicPr>
          <p:cNvPr id="12" name="Image 1" descr="preencoded.png">    </p:cNvPr>
          <p:cNvPicPr>
            <a:picLocks noChangeAspect="1"/>
          </p:cNvPicPr>
          <p:nvPr/>
        </p:nvPicPr>
        <p:blipFill>
          <a:blip r:embed="rId2"/>
          <a:stretch>
            <a:fillRect/>
          </a:stretch>
        </p:blipFill>
        <p:spPr>
          <a:xfrm>
            <a:off x="4812030" y="2251710"/>
            <a:ext cx="388620" cy="388620"/>
          </a:xfrm>
          <a:prstGeom prst="rect">
            <a:avLst/>
          </a:prstGeom>
        </p:spPr>
      </p:pic>
      <p:sp>
        <p:nvSpPr>
          <p:cNvPr id="13" name="Text 8"/>
          <p:cNvSpPr txBox="1"/>
          <p:nvPr/>
        </p:nvSpPr>
        <p:spPr>
          <a:xfrm>
            <a:off x="4617720" y="2971800"/>
            <a:ext cx="3017520" cy="457200"/>
          </a:xfrm>
          <a:prstGeom prst="rect">
            <a:avLst/>
          </a:prstGeom>
          <a:noFill/>
          <a:ln/>
        </p:spPr>
        <p:txBody>
          <a:bodyPr wrap="square" lIns="0" tIns="0" rIns="0" bIns="0" rtlCol="0" anchor="ctr"/>
          <a:lstStyle/>
          <a:p>
            <a:pPr indent="0" marL="0">
              <a:buNone/>
            </a:pPr>
            <a:r>
              <a:rPr lang="en-US" sz="2000" b="1" dirty="0">
                <a:solidFill>
                  <a:schemeClr val="tx2"/>
                </a:solidFill>
              </a:rPr>
              <a:t>The dates</a:t>
            </a:r>
            <a:endParaRPr lang="en-US" sz="2000" dirty="0"/>
          </a:p>
        </p:txBody>
      </p:sp>
      <p:sp>
        <p:nvSpPr>
          <p:cNvPr id="14" name="Text 9"/>
          <p:cNvSpPr txBox="1"/>
          <p:nvPr/>
        </p:nvSpPr>
        <p:spPr>
          <a:xfrm>
            <a:off x="4617720" y="3474720"/>
            <a:ext cx="2971800" cy="822960"/>
          </a:xfrm>
          <a:prstGeom prst="rect">
            <a:avLst/>
          </a:prstGeom>
          <a:noFill/>
          <a:ln/>
        </p:spPr>
        <p:txBody>
          <a:bodyPr wrap="square" lIns="0" tIns="0" rIns="0" bIns="0" rtlCol="0" anchor="t"/>
          <a:lstStyle/>
          <a:p>
            <a:pPr indent="0" marL="0">
              <a:buNone/>
            </a:pPr>
            <a:r>
              <a:rPr lang="en-US" sz="1600" dirty="0">
                <a:solidFill>
                  <a:schemeClr val="tx1"/>
                </a:solidFill>
              </a:rPr>
              <a:t>Which quotation has a problem with its dates?</a:t>
            </a:r>
            <a:endParaRPr lang="en-US" sz="1600" dirty="0"/>
          </a:p>
        </p:txBody>
      </p:sp>
      <p:sp>
        <p:nvSpPr>
          <p:cNvPr id="15" name="Debrief card"/>
          <p:cNvSpPr/>
          <p:nvPr/>
        </p:nvSpPr>
        <p:spPr>
          <a:xfrm>
            <a:off x="8046720" y="1783080"/>
            <a:ext cx="3566160" cy="2651760"/>
          </a:xfrm>
          <a:prstGeom prst="roundRect">
            <a:avLst>
              <a:gd name="adj" fmla="val 2759"/>
            </a:avLst>
          </a:prstGeom>
          <a:solidFill>
            <a:schemeClr val="bg2"/>
          </a:solidFill>
          <a:ln/>
        </p:spPr>
      </p:sp>
      <p:sp>
        <p:nvSpPr>
          <p:cNvPr id="16" name="Icon circle"/>
          <p:cNvSpPr/>
          <p:nvPr/>
        </p:nvSpPr>
        <p:spPr>
          <a:xfrm>
            <a:off x="8366760" y="2057400"/>
            <a:ext cx="777240" cy="777240"/>
          </a:xfrm>
          <a:prstGeom prst="ellipse">
            <a:avLst/>
          </a:prstGeom>
          <a:solidFill>
            <a:schemeClr val="accent1"/>
          </a:solidFill>
          <a:ln/>
        </p:spPr>
      </p:sp>
      <p:pic>
        <p:nvPicPr>
          <p:cNvPr id="17" name="Image 2" descr="preencoded.png">    </p:cNvPr>
          <p:cNvPicPr>
            <a:picLocks noChangeAspect="1"/>
          </p:cNvPicPr>
          <p:nvPr/>
        </p:nvPicPr>
        <p:blipFill>
          <a:blip r:embed="rId3"/>
          <a:stretch>
            <a:fillRect/>
          </a:stretch>
        </p:blipFill>
        <p:spPr>
          <a:xfrm>
            <a:off x="8561070" y="2251710"/>
            <a:ext cx="388620" cy="388620"/>
          </a:xfrm>
          <a:prstGeom prst="rect">
            <a:avLst/>
          </a:prstGeom>
        </p:spPr>
      </p:pic>
      <p:sp>
        <p:nvSpPr>
          <p:cNvPr id="18" name="Text 12"/>
          <p:cNvSpPr txBox="1"/>
          <p:nvPr/>
        </p:nvSpPr>
        <p:spPr>
          <a:xfrm>
            <a:off x="8366760" y="2971800"/>
            <a:ext cx="3017520" cy="457200"/>
          </a:xfrm>
          <a:prstGeom prst="rect">
            <a:avLst/>
          </a:prstGeom>
          <a:noFill/>
          <a:ln/>
        </p:spPr>
        <p:txBody>
          <a:bodyPr wrap="square" lIns="0" tIns="0" rIns="0" bIns="0" rtlCol="0" anchor="ctr"/>
          <a:lstStyle/>
          <a:p>
            <a:pPr indent="0" marL="0">
              <a:buNone/>
            </a:pPr>
            <a:r>
              <a:rPr lang="en-US" sz="2000" b="1" dirty="0">
                <a:solidFill>
                  <a:schemeClr val="tx2"/>
                </a:solidFill>
              </a:rPr>
              <a:t>What's included</a:t>
            </a:r>
            <a:endParaRPr lang="en-US" sz="2000" dirty="0"/>
          </a:p>
        </p:txBody>
      </p:sp>
      <p:sp>
        <p:nvSpPr>
          <p:cNvPr id="19" name="Text 13"/>
          <p:cNvSpPr txBox="1"/>
          <p:nvPr/>
        </p:nvSpPr>
        <p:spPr>
          <a:xfrm>
            <a:off x="8366760" y="3474720"/>
            <a:ext cx="2971800" cy="822960"/>
          </a:xfrm>
          <a:prstGeom prst="rect">
            <a:avLst/>
          </a:prstGeom>
          <a:noFill/>
          <a:ln/>
        </p:spPr>
        <p:txBody>
          <a:bodyPr wrap="square" lIns="0" tIns="0" rIns="0" bIns="0" rtlCol="0" anchor="t"/>
          <a:lstStyle/>
          <a:p>
            <a:pPr indent="0" marL="0">
              <a:buNone/>
            </a:pPr>
            <a:r>
              <a:rPr lang="en-US" sz="1600" dirty="0">
                <a:solidFill>
                  <a:schemeClr val="tx1"/>
                </a:solidFill>
              </a:rPr>
              <a:t>Which quotation doesn't quote for the same thing?</a:t>
            </a:r>
            <a:endParaRPr lang="en-US" sz="1600" dirty="0"/>
          </a:p>
        </p:txBody>
      </p:sp>
      <p:sp>
        <p:nvSpPr>
          <p:cNvPr id="20" name="Follow-up card"/>
          <p:cNvSpPr/>
          <p:nvPr/>
        </p:nvSpPr>
        <p:spPr>
          <a:xfrm>
            <a:off x="548640" y="4663440"/>
            <a:ext cx="11064240" cy="1280160"/>
          </a:xfrm>
          <a:prstGeom prst="roundRect">
            <a:avLst>
              <a:gd name="adj" fmla="val 5714"/>
            </a:avLst>
          </a:prstGeom>
          <a:solidFill>
            <a:schemeClr val="tx2"/>
          </a:solidFill>
          <a:ln/>
        </p:spPr>
      </p:sp>
      <p:sp>
        <p:nvSpPr>
          <p:cNvPr id="21" name="Text 15"/>
          <p:cNvSpPr txBox="1"/>
          <p:nvPr/>
        </p:nvSpPr>
        <p:spPr>
          <a:xfrm>
            <a:off x="868680" y="4663440"/>
            <a:ext cx="10515600" cy="1280160"/>
          </a:xfrm>
          <a:prstGeom prst="rect">
            <a:avLst/>
          </a:prstGeom>
          <a:noFill/>
          <a:ln/>
        </p:spPr>
        <p:txBody>
          <a:bodyPr wrap="square" lIns="0" tIns="0" rIns="0" bIns="0" rtlCol="0" anchor="ctr"/>
          <a:lstStyle/>
          <a:p>
            <a:pPr indent="0" marL="0">
              <a:buNone/>
            </a:pPr>
            <a:r>
              <a:rPr lang="en-US" sz="2000" b="1" dirty="0">
                <a:solidFill>
                  <a:schemeClr val="bg1"/>
                </a:solidFill>
              </a:rPr>
              <a:t>For each problem: which policy section applies, and what must the vendor do to fix it?</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731520" y="100584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05</a:t>
            </a:r>
            <a:endParaRPr lang="en-US" sz="9600" dirty="0"/>
          </a:p>
        </p:txBody>
      </p:sp>
      <p:sp>
        <p:nvSpPr>
          <p:cNvPr id="3" name="Text 0"/>
          <p:cNvSpPr/>
          <p:nvPr>
            <p:ph idx="101" type="title" hasCustomPrompt="1"/>
          </p:nvPr>
        </p:nvSpPr>
        <p:spPr>
          <a:xfrm>
            <a:off x="731520" y="256032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Chase vendors with Copilot in Outlook</a:t>
            </a:r>
            <a:endParaRPr lang="en-US" sz="4400" dirty="0"/>
          </a:p>
        </p:txBody>
      </p:sp>
      <p:sp>
        <p:nvSpPr>
          <p:cNvPr id="4" name="Text 0"/>
          <p:cNvSpPr/>
          <p:nvPr>
            <p:ph idx="102" type="body" hasCustomPrompt="1"/>
          </p:nvPr>
        </p:nvSpPr>
        <p:spPr>
          <a:xfrm>
            <a:off x="731520" y="3840480"/>
            <a:ext cx="9601200" cy="1463040"/>
          </a:xfrm>
          <a:prstGeom prst="rect">
            <a:avLst/>
          </a:prstGeom>
          <a:noFill/>
          <a:ln/>
        </p:spPr>
        <p:txBody>
          <a:bodyPr wrap="square" lIns="0" tIns="0" rIns="0" bIns="0" rtlCol="0" anchor="t"/>
          <a:lstStyle/>
          <a:p>
            <a:pPr indent="0" marL="0">
              <a:buNone/>
            </a:pPr>
            <a:r>
              <a:rPr lang="en-US" sz="1800" b="1" dirty="0">
                <a:solidFill>
                  <a:schemeClr val="bg1"/>
                </a:solidFill>
              </a:rPr>
              <a:t>Stage: Chase  ·  45 minutes</a:t>
            </a:r>
            <a:endParaRPr lang="en-US" sz="1800" dirty="0"/>
          </a:p>
          <a:p>
            <a:pPr indent="0" marL="0">
              <a:buNone/>
            </a:pPr>
            <a:r>
              <a:rPr lang="en-US" sz="800" dirty="0">
                <a:solidFill>
                  <a:schemeClr val="bg2"/>
                </a:solidFill>
              </a:rPr>
              <a:t> </a:t>
            </a:r>
            <a:endParaRPr lang="en-US" sz="1800" dirty="0"/>
          </a:p>
          <a:p>
            <a:pPr indent="0" marL="0">
              <a:buNone/>
            </a:pPr>
            <a:r>
              <a:rPr lang="en-US" sz="1800" b="1" dirty="0">
                <a:solidFill>
                  <a:schemeClr val="bg2"/>
                </a:solidFill>
              </a:rPr>
              <a:t>Your result: </a:t>
            </a:r>
            <a:pPr indent="0" marL="0">
              <a:buNone/>
            </a:pPr>
            <a:r>
              <a:rPr lang="en-US" sz="1800" dirty="0">
                <a:solidFill>
                  <a:schemeClr val="bg2"/>
                </a:solidFill>
              </a:rPr>
              <a:t>three vendor emails in your inbox, a summary of one thread, and two reply drafts.</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CHAPTER 05</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What Copilot in Outlook does with Basic</a:t>
            </a:r>
            <a:endParaRPr lang="en-US" sz="3200" dirty="0"/>
          </a:p>
        </p:txBody>
      </p:sp>
      <p:sp>
        <p:nvSpPr>
          <p:cNvPr id="5" name="Screenshot frame"/>
          <p:cNvSpPr/>
          <p:nvPr/>
        </p:nvSpPr>
        <p:spPr>
          <a:xfrm>
            <a:off x="548640" y="1691640"/>
            <a:ext cx="6766560" cy="3806190"/>
          </a:xfrm>
          <a:prstGeom prst="rect">
            <a:avLst/>
          </a:prstGeom>
          <a:solidFill>
            <a:schemeClr val="bg1"/>
          </a:solidFill>
          <a:ln w="12700">
            <a:solidFill>
              <a:srgbClr val="F1F4F7"/>
            </a:solidFill>
            <a:prstDash val="solid"/>
          </a:ln>
          <a:effectLst>
            <a:outerShdw sx="100000" sy="100000" kx="0" ky="0" algn="bl" rotWithShape="0" blurRad="101600" dist="25400" dir="5400000">
              <a:srgbClr val="000000">
                <a:alpha val="18000"/>
              </a:srgbClr>
            </a:outerShdw>
          </a:effectLst>
        </p:spPr>
      </p:sp>
      <p:pic>
        <p:nvPicPr>
          <p:cNvPr id="6" name="Image 0" descr="Outlook on the web with Summarize this email and the Copilot pane showing a thread summary">    </p:cNvPr>
          <p:cNvPicPr>
            <a:picLocks noChangeAspect="1"/>
          </p:cNvPicPr>
          <p:nvPr/>
        </p:nvPicPr>
        <p:blipFill>
          <a:blip r:embed="rId1"/>
          <a:stretch>
            <a:fillRect/>
          </a:stretch>
        </p:blipFill>
        <p:spPr>
          <a:xfrm>
            <a:off x="548640" y="1691640"/>
            <a:ext cx="6766560" cy="3806190"/>
          </a:xfrm>
          <a:prstGeom prst="rect">
            <a:avLst/>
          </a:prstGeom>
        </p:spPr>
      </p:pic>
      <p:sp>
        <p:nvSpPr>
          <p:cNvPr id="7" name="Text 3"/>
          <p:cNvSpPr txBox="1"/>
          <p:nvPr/>
        </p:nvSpPr>
        <p:spPr>
          <a:xfrm>
            <a:off x="7680960" y="1737360"/>
            <a:ext cx="3931920" cy="868680"/>
          </a:xfrm>
          <a:prstGeom prst="rect">
            <a:avLst/>
          </a:prstGeom>
          <a:noFill/>
          <a:ln/>
        </p:spPr>
        <p:txBody>
          <a:bodyPr wrap="square" lIns="0" tIns="0" rIns="0" bIns="0" rtlCol="0" anchor="t"/>
          <a:lstStyle/>
          <a:p>
            <a:pPr indent="0" marL="0">
              <a:buNone/>
            </a:pPr>
            <a:r>
              <a:rPr lang="en-US" sz="1600" b="1" dirty="0">
                <a:solidFill>
                  <a:schemeClr val="accent1"/>
                </a:solidFill>
              </a:rPr>
              <a:t>Summarize this email</a:t>
            </a:r>
            <a:endParaRPr lang="en-US" sz="1600" dirty="0"/>
          </a:p>
          <a:p>
            <a:pPr indent="0" marL="0">
              <a:buNone/>
            </a:pPr>
            <a:r>
              <a:rPr lang="en-US" sz="1600" dirty="0">
                <a:solidFill>
                  <a:schemeClr val="tx1"/>
                </a:solidFill>
              </a:rPr>
              <a:t>Opens the Copilot pane with key points</a:t>
            </a:r>
            <a:endParaRPr lang="en-US" sz="1600" dirty="0"/>
          </a:p>
        </p:txBody>
      </p:sp>
      <p:sp>
        <p:nvSpPr>
          <p:cNvPr id="8" name="Text 4"/>
          <p:cNvSpPr txBox="1"/>
          <p:nvPr/>
        </p:nvSpPr>
        <p:spPr>
          <a:xfrm>
            <a:off x="7680960" y="2697480"/>
            <a:ext cx="3931920" cy="868680"/>
          </a:xfrm>
          <a:prstGeom prst="rect">
            <a:avLst/>
          </a:prstGeom>
          <a:noFill/>
          <a:ln/>
        </p:spPr>
        <p:txBody>
          <a:bodyPr wrap="square" lIns="0" tIns="0" rIns="0" bIns="0" rtlCol="0" anchor="t"/>
          <a:lstStyle/>
          <a:p>
            <a:pPr indent="0" marL="0">
              <a:buNone/>
            </a:pPr>
            <a:r>
              <a:rPr lang="en-US" sz="1600" b="1" dirty="0">
                <a:solidFill>
                  <a:schemeClr val="accent1"/>
                </a:solidFill>
              </a:rPr>
              <a:t>Ask about it</a:t>
            </a:r>
            <a:endParaRPr lang="en-US" sz="1600" dirty="0"/>
          </a:p>
          <a:p>
            <a:pPr indent="0" marL="0">
              <a:buNone/>
            </a:pPr>
            <a:r>
              <a:rPr lang="en-US" sz="1600" dirty="0">
                <a:solidFill>
                  <a:schemeClr val="tx1"/>
                </a:solidFill>
              </a:rPr>
              <a:t>Answers come from the open email only</a:t>
            </a:r>
            <a:endParaRPr lang="en-US" sz="1600" dirty="0"/>
          </a:p>
        </p:txBody>
      </p:sp>
      <p:sp>
        <p:nvSpPr>
          <p:cNvPr id="9" name="Text 5"/>
          <p:cNvSpPr txBox="1"/>
          <p:nvPr/>
        </p:nvSpPr>
        <p:spPr>
          <a:xfrm>
            <a:off x="7680960" y="3657600"/>
            <a:ext cx="3931920" cy="868680"/>
          </a:xfrm>
          <a:prstGeom prst="rect">
            <a:avLst/>
          </a:prstGeom>
          <a:noFill/>
          <a:ln/>
        </p:spPr>
        <p:txBody>
          <a:bodyPr wrap="square" lIns="0" tIns="0" rIns="0" bIns="0" rtlCol="0" anchor="t"/>
          <a:lstStyle/>
          <a:p>
            <a:pPr indent="0" marL="0">
              <a:buNone/>
            </a:pPr>
            <a:r>
              <a:rPr lang="en-US" sz="1600" b="1" dirty="0">
                <a:solidFill>
                  <a:schemeClr val="accent1"/>
                </a:solidFill>
              </a:rPr>
              <a:t>Draft in the pane</a:t>
            </a:r>
            <a:endParaRPr lang="en-US" sz="1600" dirty="0"/>
          </a:p>
          <a:p>
            <a:pPr indent="0" marL="0">
              <a:buNone/>
            </a:pPr>
            <a:r>
              <a:rPr lang="en-US" sz="1600" dirty="0">
                <a:solidFill>
                  <a:schemeClr val="tx1"/>
                </a:solidFill>
              </a:rPr>
              <a:t>Copy the text into your reply</a:t>
            </a:r>
            <a:endParaRPr lang="en-US" sz="1600" dirty="0"/>
          </a:p>
        </p:txBody>
      </p:sp>
      <p:sp>
        <p:nvSpPr>
          <p:cNvPr id="10" name="Text 6"/>
          <p:cNvSpPr txBox="1"/>
          <p:nvPr/>
        </p:nvSpPr>
        <p:spPr>
          <a:xfrm>
            <a:off x="7680960" y="4617720"/>
            <a:ext cx="3931920" cy="868680"/>
          </a:xfrm>
          <a:prstGeom prst="rect">
            <a:avLst/>
          </a:prstGeom>
          <a:noFill/>
          <a:ln/>
        </p:spPr>
        <p:txBody>
          <a:bodyPr wrap="square" lIns="0" tIns="0" rIns="0" bIns="0" rtlCol="0" anchor="t"/>
          <a:lstStyle/>
          <a:p>
            <a:pPr indent="0" marL="0">
              <a:buNone/>
            </a:pPr>
            <a:r>
              <a:rPr lang="en-US" sz="1600" b="1" dirty="0">
                <a:solidFill>
                  <a:schemeClr val="accent4"/>
                </a:solidFill>
              </a:rPr>
              <a:t>Not on Basic</a:t>
            </a:r>
            <a:endParaRPr lang="en-US" sz="1600" dirty="0"/>
          </a:p>
          <a:p>
            <a:pPr indent="0" marL="0">
              <a:buNone/>
            </a:pPr>
            <a:r>
              <a:rPr lang="en-US" sz="1600" dirty="0">
                <a:solidFill>
                  <a:schemeClr val="tx1"/>
                </a:solidFill>
              </a:rPr>
              <a:t>Draft with Copilot in compose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1097280" y="2103120"/>
            <a:ext cx="9966960" cy="1828800"/>
          </a:xfrm>
          <a:prstGeom prst="rect">
            <a:avLst/>
          </a:prstGeom>
          <a:noFill/>
          <a:ln/>
        </p:spPr>
        <p:txBody>
          <a:bodyPr wrap="square" rtlCol="0" anchor="ctr"/>
          <a:lstStyle/>
          <a:p>
            <a:pPr algn="ctr" indent="0" marL="0">
              <a:buNone/>
            </a:pPr>
            <a:r>
              <a:rPr lang="en-US" sz="4000" b="1" dirty="0">
                <a:solidFill>
                  <a:schemeClr val="bg1"/>
                </a:solidFill>
              </a:rPr>
              <a:t>Always ask what Copilot was looking at.</a:t>
            </a:r>
            <a:endParaRPr lang="en-US" sz="4000" dirty="0"/>
          </a:p>
        </p:txBody>
      </p:sp>
      <p:sp>
        <p:nvSpPr>
          <p:cNvPr id="3" name="Text 0"/>
          <p:cNvSpPr/>
          <p:nvPr>
            <p:ph idx="101" type="body" hasCustomPrompt="1"/>
          </p:nvPr>
        </p:nvSpPr>
        <p:spPr>
          <a:xfrm>
            <a:off x="1097280" y="4114800"/>
            <a:ext cx="9966960" cy="731520"/>
          </a:xfrm>
          <a:prstGeom prst="rect">
            <a:avLst/>
          </a:prstGeom>
          <a:noFill/>
          <a:ln/>
        </p:spPr>
        <p:txBody>
          <a:bodyPr wrap="square" rtlCol="0" anchor="t"/>
          <a:lstStyle/>
          <a:p>
            <a:pPr algn="ctr" indent="0" marL="0">
              <a:buNone/>
            </a:pPr>
            <a:r>
              <a:rPr lang="en-US" sz="1800" i="1" dirty="0">
                <a:solidFill>
                  <a:schemeClr val="bg1"/>
                </a:solidFill>
              </a:rPr>
              <a:t>An answer that looks complete may only cover the email you had open.</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YOUR TURN  ·  CHAPTER 05</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Summarise, ask and draft</a:t>
            </a:r>
            <a:endParaRPr lang="en-US" sz="3200" dirty="0"/>
          </a:p>
        </p:txBody>
      </p:sp>
      <p:sp>
        <p:nvSpPr>
          <p:cNvPr id="5" name="Number 1"/>
          <p:cNvSpPr/>
          <p:nvPr/>
        </p:nvSpPr>
        <p:spPr>
          <a:xfrm>
            <a:off x="548640" y="1792224"/>
            <a:ext cx="457200" cy="457200"/>
          </a:xfrm>
          <a:prstGeom prst="ellipse">
            <a:avLst/>
          </a:prstGeom>
          <a:solidFill>
            <a:schemeClr val="accent1"/>
          </a:solidFill>
          <a:ln/>
        </p:spPr>
      </p:sp>
      <p:sp>
        <p:nvSpPr>
          <p:cNvPr id="6" name="Text 3"/>
          <p:cNvSpPr txBox="1"/>
          <p:nvPr/>
        </p:nvSpPr>
        <p:spPr>
          <a:xfrm>
            <a:off x="548640" y="179222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4"/>
          <p:cNvSpPr txBox="1"/>
          <p:nvPr/>
        </p:nvSpPr>
        <p:spPr>
          <a:xfrm>
            <a:off x="1188720" y="1691640"/>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5.1  </a:t>
            </a:r>
            <a:pPr indent="0" marL="0">
              <a:buNone/>
            </a:pPr>
            <a:r>
              <a:rPr lang="en-US" sz="1600" dirty="0">
                <a:solidFill>
                  <a:schemeClr val="tx1"/>
                </a:solidFill>
              </a:rPr>
              <a:t>Send the three vendor emails to yourself, [CCB TRAINING] subjects</a:t>
            </a:r>
            <a:endParaRPr lang="en-US" sz="1600" dirty="0"/>
          </a:p>
        </p:txBody>
      </p:sp>
      <p:sp>
        <p:nvSpPr>
          <p:cNvPr id="8" name="Number 2"/>
          <p:cNvSpPr/>
          <p:nvPr/>
        </p:nvSpPr>
        <p:spPr>
          <a:xfrm>
            <a:off x="548640" y="2450592"/>
            <a:ext cx="457200" cy="457200"/>
          </a:xfrm>
          <a:prstGeom prst="ellipse">
            <a:avLst/>
          </a:prstGeom>
          <a:solidFill>
            <a:schemeClr val="accent1"/>
          </a:solidFill>
          <a:ln/>
        </p:spPr>
      </p:sp>
      <p:sp>
        <p:nvSpPr>
          <p:cNvPr id="9" name="Text 6"/>
          <p:cNvSpPr txBox="1"/>
          <p:nvPr/>
        </p:nvSpPr>
        <p:spPr>
          <a:xfrm>
            <a:off x="548640" y="24505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1188720" y="2350008"/>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5.3  </a:t>
            </a:r>
            <a:pPr indent="0" marL="0">
              <a:buNone/>
            </a:pPr>
            <a:r>
              <a:rPr lang="en-US" sz="1600" dirty="0">
                <a:solidFill>
                  <a:schemeClr val="tx1"/>
                </a:solidFill>
              </a:rPr>
              <a:t>Summarise the Seri Mutiara thread</a:t>
            </a:r>
            <a:endParaRPr lang="en-US" sz="1600" dirty="0"/>
          </a:p>
        </p:txBody>
      </p:sp>
      <p:sp>
        <p:nvSpPr>
          <p:cNvPr id="11" name="Number 3"/>
          <p:cNvSpPr/>
          <p:nvPr/>
        </p:nvSpPr>
        <p:spPr>
          <a:xfrm>
            <a:off x="548640" y="3108960"/>
            <a:ext cx="457200" cy="457200"/>
          </a:xfrm>
          <a:prstGeom prst="ellipse">
            <a:avLst/>
          </a:prstGeom>
          <a:solidFill>
            <a:schemeClr val="accent1"/>
          </a:solidFill>
          <a:ln/>
        </p:spPr>
      </p:sp>
      <p:sp>
        <p:nvSpPr>
          <p:cNvPr id="12" name="Text 9"/>
          <p:cNvSpPr txBox="1"/>
          <p:nvPr/>
        </p:nvSpPr>
        <p:spPr>
          <a:xfrm>
            <a:off x="548640" y="31089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0"/>
          <p:cNvSpPr txBox="1"/>
          <p:nvPr/>
        </p:nvSpPr>
        <p:spPr>
          <a:xfrm>
            <a:off x="1188720" y="3008376"/>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5.4  </a:t>
            </a:r>
            <a:pPr indent="0" marL="0">
              <a:buNone/>
            </a:pPr>
            <a:r>
              <a:rPr lang="en-US" sz="1600" dirty="0">
                <a:solidFill>
                  <a:schemeClr val="tx1"/>
                </a:solidFill>
              </a:rPr>
              <a:t>Ask Copilot a question about the open email</a:t>
            </a:r>
            <a:endParaRPr lang="en-US" sz="1600" dirty="0"/>
          </a:p>
        </p:txBody>
      </p:sp>
      <p:sp>
        <p:nvSpPr>
          <p:cNvPr id="14" name="Number 4"/>
          <p:cNvSpPr/>
          <p:nvPr/>
        </p:nvSpPr>
        <p:spPr>
          <a:xfrm>
            <a:off x="548640" y="3767328"/>
            <a:ext cx="457200" cy="457200"/>
          </a:xfrm>
          <a:prstGeom prst="ellipse">
            <a:avLst/>
          </a:prstGeom>
          <a:solidFill>
            <a:schemeClr val="accent1"/>
          </a:solidFill>
          <a:ln/>
        </p:spPr>
      </p:sp>
      <p:sp>
        <p:nvSpPr>
          <p:cNvPr id="15" name="Text 12"/>
          <p:cNvSpPr txBox="1"/>
          <p:nvPr/>
        </p:nvSpPr>
        <p:spPr>
          <a:xfrm>
            <a:off x="548640" y="3767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6" name="Text 13"/>
          <p:cNvSpPr txBox="1"/>
          <p:nvPr/>
        </p:nvSpPr>
        <p:spPr>
          <a:xfrm>
            <a:off x="1188720" y="3666744"/>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5.5  </a:t>
            </a:r>
            <a:pPr indent="0" marL="0">
              <a:buNone/>
            </a:pPr>
            <a:r>
              <a:rPr lang="en-US" sz="1600" dirty="0">
                <a:solidFill>
                  <a:schemeClr val="tx1"/>
                </a:solidFill>
              </a:rPr>
              <a:t>Draft a request for a revalidated quotation</a:t>
            </a:r>
            <a:endParaRPr lang="en-US" sz="1600" dirty="0"/>
          </a:p>
        </p:txBody>
      </p:sp>
      <p:sp>
        <p:nvSpPr>
          <p:cNvPr id="17" name="Number 5"/>
          <p:cNvSpPr/>
          <p:nvPr/>
        </p:nvSpPr>
        <p:spPr>
          <a:xfrm>
            <a:off x="548640" y="4425696"/>
            <a:ext cx="457200" cy="457200"/>
          </a:xfrm>
          <a:prstGeom prst="ellipse">
            <a:avLst/>
          </a:prstGeom>
          <a:solidFill>
            <a:schemeClr val="accent1"/>
          </a:solidFill>
          <a:ln/>
        </p:spPr>
      </p:sp>
      <p:sp>
        <p:nvSpPr>
          <p:cNvPr id="18" name="Text 15"/>
          <p:cNvSpPr txBox="1"/>
          <p:nvPr/>
        </p:nvSpPr>
        <p:spPr>
          <a:xfrm>
            <a:off x="548640" y="44256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9" name="Text 16"/>
          <p:cNvSpPr txBox="1"/>
          <p:nvPr/>
        </p:nvSpPr>
        <p:spPr>
          <a:xfrm>
            <a:off x="1188720" y="4325112"/>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5.6  </a:t>
            </a:r>
            <a:pPr indent="0" marL="0">
              <a:buNone/>
            </a:pPr>
            <a:r>
              <a:rPr lang="en-US" sz="1600" dirty="0">
                <a:solidFill>
                  <a:schemeClr val="tx1"/>
                </a:solidFill>
              </a:rPr>
              <a:t>Draft a request to correct a total</a:t>
            </a:r>
            <a:endParaRPr lang="en-US" sz="1600" dirty="0"/>
          </a:p>
        </p:txBody>
      </p:sp>
      <p:sp>
        <p:nvSpPr>
          <p:cNvPr id="20" name="Checkpoint card"/>
          <p:cNvSpPr/>
          <p:nvPr/>
        </p:nvSpPr>
        <p:spPr>
          <a:xfrm>
            <a:off x="7680960" y="1691640"/>
            <a:ext cx="3959352" cy="2743200"/>
          </a:xfrm>
          <a:prstGeom prst="roundRect">
            <a:avLst>
              <a:gd name="adj" fmla="val 2667"/>
            </a:avLst>
          </a:prstGeom>
          <a:solidFill>
            <a:schemeClr val="accent1">
              <a:alpha val="12000"/>
            </a:schemeClr>
          </a:solidFill>
          <a:ln/>
        </p:spPr>
      </p:sp>
      <p:sp>
        <p:nvSpPr>
          <p:cNvPr id="21" name="Icon circle"/>
          <p:cNvSpPr/>
          <p:nvPr/>
        </p:nvSpPr>
        <p:spPr>
          <a:xfrm>
            <a:off x="7955280" y="1920240"/>
            <a:ext cx="548640" cy="548640"/>
          </a:xfrm>
          <a:prstGeom prst="ellipse">
            <a:avLst/>
          </a:prstGeom>
          <a:solidFill>
            <a:schemeClr val="accent1"/>
          </a:solidFill>
          <a:ln/>
        </p:spPr>
      </p:sp>
      <p:pic>
        <p:nvPicPr>
          <p:cNvPr id="22" name="Image 0" descr="preencoded.png">    </p:cNvPr>
          <p:cNvPicPr>
            <a:picLocks noChangeAspect="1"/>
          </p:cNvPicPr>
          <p:nvPr/>
        </p:nvPicPr>
        <p:blipFill>
          <a:blip r:embed="rId1"/>
          <a:stretch>
            <a:fillRect/>
          </a:stretch>
        </p:blipFill>
        <p:spPr>
          <a:xfrm>
            <a:off x="8092440" y="2057400"/>
            <a:ext cx="274320" cy="274320"/>
          </a:xfrm>
          <a:prstGeom prst="rect">
            <a:avLst/>
          </a:prstGeom>
        </p:spPr>
      </p:pic>
      <p:sp>
        <p:nvSpPr>
          <p:cNvPr id="23" name="Text 19"/>
          <p:cNvSpPr txBox="1"/>
          <p:nvPr/>
        </p:nvSpPr>
        <p:spPr>
          <a:xfrm>
            <a:off x="8641080" y="1920240"/>
            <a:ext cx="2834640" cy="548640"/>
          </a:xfrm>
          <a:prstGeom prst="rect">
            <a:avLst/>
          </a:prstGeom>
          <a:noFill/>
          <a:ln/>
        </p:spPr>
        <p:txBody>
          <a:bodyPr wrap="square" lIns="0" tIns="0" rIns="0" bIns="0" rtlCol="0" anchor="ctr"/>
          <a:lstStyle/>
          <a:p>
            <a:pPr indent="0" marL="0">
              <a:buNone/>
            </a:pPr>
            <a:r>
              <a:rPr lang="en-US" sz="1800" b="1" dirty="0">
                <a:solidFill>
                  <a:schemeClr val="tx2"/>
                </a:solidFill>
              </a:rPr>
              <a:t>Checkpoint</a:t>
            </a:r>
            <a:endParaRPr lang="en-US" sz="1800" dirty="0"/>
          </a:p>
        </p:txBody>
      </p:sp>
      <p:sp>
        <p:nvSpPr>
          <p:cNvPr id="24" name="Text 20"/>
          <p:cNvSpPr txBox="1"/>
          <p:nvPr/>
        </p:nvSpPr>
        <p:spPr>
          <a:xfrm>
            <a:off x="7955280" y="2606040"/>
            <a:ext cx="3474720" cy="1737360"/>
          </a:xfrm>
          <a:prstGeom prst="rect">
            <a:avLst/>
          </a:prstGeom>
          <a:noFill/>
          <a:ln/>
        </p:spPr>
        <p:txBody>
          <a:bodyPr wrap="square" lIns="0" tIns="0" rIns="0" bIns="0" rtlCol="0" anchor="t"/>
          <a:lstStyle/>
          <a:p>
            <a:pPr indent="0" marL="0">
              <a:buNone/>
            </a:pPr>
            <a:r>
              <a:rPr lang="en-US" sz="1500" dirty="0">
                <a:solidFill>
                  <a:schemeClr val="tx1"/>
                </a:solidFill>
              </a:rPr>
              <a:t>Two drafts you've read line by line. Check names, numbers and any promise made on your behalf.</a:t>
            </a:r>
            <a:endParaRPr lang="en-US" sz="1500" dirty="0"/>
          </a:p>
        </p:txBody>
      </p:sp>
      <p:sp>
        <p:nvSpPr>
          <p:cNvPr id="25" name="Prompts card"/>
          <p:cNvSpPr/>
          <p:nvPr/>
        </p:nvSpPr>
        <p:spPr>
          <a:xfrm>
            <a:off x="7680960" y="4617720"/>
            <a:ext cx="3959352" cy="1234440"/>
          </a:xfrm>
          <a:prstGeom prst="roundRect">
            <a:avLst>
              <a:gd name="adj" fmla="val 5926"/>
            </a:avLst>
          </a:prstGeom>
          <a:solidFill>
            <a:schemeClr val="bg2"/>
          </a:solidFill>
          <a:ln/>
        </p:spPr>
      </p:sp>
      <p:sp>
        <p:nvSpPr>
          <p:cNvPr id="26" name="Icon circle"/>
          <p:cNvSpPr/>
          <p:nvPr/>
        </p:nvSpPr>
        <p:spPr>
          <a:xfrm>
            <a:off x="7955280" y="4892040"/>
            <a:ext cx="548640" cy="548640"/>
          </a:xfrm>
          <a:prstGeom prst="ellipse">
            <a:avLst/>
          </a:prstGeom>
          <a:solidFill>
            <a:schemeClr val="tx2"/>
          </a:solidFill>
          <a:ln/>
        </p:spPr>
      </p:sp>
      <p:pic>
        <p:nvPicPr>
          <p:cNvPr id="27" name="Image 1" descr="preencoded.png">    </p:cNvPr>
          <p:cNvPicPr>
            <a:picLocks noChangeAspect="1"/>
          </p:cNvPicPr>
          <p:nvPr/>
        </p:nvPicPr>
        <p:blipFill>
          <a:blip r:embed="rId2"/>
          <a:stretch>
            <a:fillRect/>
          </a:stretch>
        </p:blipFill>
        <p:spPr>
          <a:xfrm>
            <a:off x="8092440" y="5029200"/>
            <a:ext cx="274320" cy="274320"/>
          </a:xfrm>
          <a:prstGeom prst="rect">
            <a:avLst/>
          </a:prstGeom>
        </p:spPr>
      </p:pic>
      <p:sp>
        <p:nvSpPr>
          <p:cNvPr id="28" name="Text 23"/>
          <p:cNvSpPr txBox="1"/>
          <p:nvPr/>
        </p:nvSpPr>
        <p:spPr>
          <a:xfrm>
            <a:off x="8641080" y="4754880"/>
            <a:ext cx="2834640" cy="868680"/>
          </a:xfrm>
          <a:prstGeom prst="rect">
            <a:avLst/>
          </a:prstGeom>
          <a:noFill/>
          <a:ln/>
        </p:spPr>
        <p:txBody>
          <a:bodyPr wrap="square" lIns="0" tIns="0" rIns="0" bIns="0" rtlCol="0" anchor="ctr"/>
          <a:lstStyle/>
          <a:p>
            <a:pPr indent="0" marL="0">
              <a:buNone/>
            </a:pPr>
            <a:r>
              <a:rPr lang="en-US" sz="1600" b="1" dirty="0">
                <a:solidFill>
                  <a:schemeClr val="tx2"/>
                </a:solidFill>
              </a:rPr>
              <a:t>Prompts page</a:t>
            </a:r>
            <a:endParaRPr lang="en-US" sz="1600" dirty="0"/>
          </a:p>
          <a:p>
            <a:pPr indent="0" marL="0">
              <a:buNone/>
            </a:pPr>
            <a:r>
              <a:rPr lang="en-US" sz="1300" dirty="0">
                <a:solidFill>
                  <a:schemeClr val="accent4"/>
                </a:solidFill>
              </a:rPr>
              <a:t>Chapter 05: copy every prompt from there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731520" y="100584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06</a:t>
            </a:r>
            <a:endParaRPr lang="en-US" sz="9600" dirty="0"/>
          </a:p>
        </p:txBody>
      </p:sp>
      <p:sp>
        <p:nvSpPr>
          <p:cNvPr id="3" name="Text 0"/>
          <p:cNvSpPr/>
          <p:nvPr>
            <p:ph idx="101" type="title" hasCustomPrompt="1"/>
          </p:nvPr>
        </p:nvSpPr>
        <p:spPr>
          <a:xfrm>
            <a:off x="731520" y="256032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From chat to Pages</a:t>
            </a:r>
            <a:endParaRPr lang="en-US" sz="4400" dirty="0"/>
          </a:p>
        </p:txBody>
      </p:sp>
      <p:sp>
        <p:nvSpPr>
          <p:cNvPr id="4" name="Text 0"/>
          <p:cNvSpPr/>
          <p:nvPr>
            <p:ph idx="102" type="body" hasCustomPrompt="1"/>
          </p:nvPr>
        </p:nvSpPr>
        <p:spPr>
          <a:xfrm>
            <a:off x="731520" y="3840480"/>
            <a:ext cx="9601200" cy="1463040"/>
          </a:xfrm>
          <a:prstGeom prst="rect">
            <a:avLst/>
          </a:prstGeom>
          <a:noFill/>
          <a:ln/>
        </p:spPr>
        <p:txBody>
          <a:bodyPr wrap="square" lIns="0" tIns="0" rIns="0" bIns="0" rtlCol="0" anchor="t"/>
          <a:lstStyle/>
          <a:p>
            <a:pPr indent="0" marL="0">
              <a:buNone/>
            </a:pPr>
            <a:r>
              <a:rPr lang="en-US" sz="1800" b="1" dirty="0">
                <a:solidFill>
                  <a:schemeClr val="bg1"/>
                </a:solidFill>
              </a:rPr>
              <a:t>Stage: Draft  ·  40 minutes</a:t>
            </a:r>
            <a:endParaRPr lang="en-US" sz="1800" dirty="0"/>
          </a:p>
          <a:p>
            <a:pPr indent="0" marL="0">
              <a:buNone/>
            </a:pPr>
            <a:r>
              <a:rPr lang="en-US" sz="800" dirty="0">
                <a:solidFill>
                  <a:schemeClr val="bg2"/>
                </a:solidFill>
              </a:rPr>
              <a:t> </a:t>
            </a:r>
            <a:endParaRPr lang="en-US" sz="1800" dirty="0"/>
          </a:p>
          <a:p>
            <a:pPr indent="0" marL="0">
              <a:buNone/>
            </a:pPr>
            <a:r>
              <a:rPr lang="en-US" sz="1800" b="1" dirty="0">
                <a:solidFill>
                  <a:schemeClr val="bg2"/>
                </a:solidFill>
              </a:rPr>
              <a:t>Your result: </a:t>
            </a:r>
            <a:pPr indent="0" marL="0">
              <a:buNone/>
            </a:pPr>
            <a:r>
              <a:rPr lang="en-US" sz="1800" dirty="0">
                <a:solidFill>
                  <a:schemeClr val="bg2"/>
                </a:solidFill>
              </a:rPr>
              <a:t>a Copilot Page with the checked comparison and the justification memo, exported as Word and PDF.</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CHAPTER 06</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Long chats drift</a:t>
            </a:r>
            <a:endParaRPr lang="en-US" sz="3200" dirty="0"/>
          </a:p>
        </p:txBody>
      </p:sp>
      <p:sp>
        <p:nvSpPr>
          <p:cNvPr id="5" name="Drift card"/>
          <p:cNvSpPr/>
          <p:nvPr/>
        </p:nvSpPr>
        <p:spPr>
          <a:xfrm>
            <a:off x="548640" y="1783080"/>
            <a:ext cx="2633472" cy="3291840"/>
          </a:xfrm>
          <a:prstGeom prst="roundRect">
            <a:avLst>
              <a:gd name="adj" fmla="val 2778"/>
            </a:avLst>
          </a:prstGeom>
          <a:solidFill>
            <a:schemeClr val="bg2"/>
          </a:solidFill>
          <a:ln/>
        </p:spPr>
      </p:sp>
      <p:sp>
        <p:nvSpPr>
          <p:cNvPr id="6" name="Text 3"/>
          <p:cNvSpPr txBox="1"/>
          <p:nvPr/>
        </p:nvSpPr>
        <p:spPr>
          <a:xfrm>
            <a:off x="777240" y="1920240"/>
            <a:ext cx="2194560" cy="320040"/>
          </a:xfrm>
          <a:prstGeom prst="rect">
            <a:avLst/>
          </a:prstGeom>
          <a:noFill/>
          <a:ln/>
        </p:spPr>
        <p:txBody>
          <a:bodyPr wrap="square" lIns="0" tIns="0" rIns="0" bIns="0" rtlCol="0" anchor="ctr"/>
          <a:lstStyle/>
          <a:p>
            <a:pPr indent="0" marL="0">
              <a:buNone/>
            </a:pPr>
            <a:r>
              <a:rPr lang="en-US" sz="1400" b="1" dirty="0">
                <a:solidFill>
                  <a:schemeClr val="accent1"/>
                </a:solidFill>
              </a:rPr>
              <a:t>Round 1</a:t>
            </a:r>
            <a:endParaRPr lang="en-US" sz="1400" dirty="0"/>
          </a:p>
        </p:txBody>
      </p:sp>
      <p:sp>
        <p:nvSpPr>
          <p:cNvPr id="7" name="Text 4"/>
          <p:cNvSpPr txBox="1"/>
          <p:nvPr/>
        </p:nvSpPr>
        <p:spPr>
          <a:xfrm>
            <a:off x="777240" y="2240280"/>
            <a:ext cx="2240280" cy="685800"/>
          </a:xfrm>
          <a:prstGeom prst="rect">
            <a:avLst/>
          </a:prstGeom>
          <a:noFill/>
          <a:ln/>
        </p:spPr>
        <p:txBody>
          <a:bodyPr wrap="square" lIns="0" tIns="0" rIns="0" bIns="0" rtlCol="0" anchor="t"/>
          <a:lstStyle/>
          <a:p>
            <a:pPr indent="0" marL="0">
              <a:buNone/>
            </a:pPr>
            <a:r>
              <a:rPr lang="en-US" sz="1600" b="1" dirty="0">
                <a:solidFill>
                  <a:schemeClr val="tx2"/>
                </a:solidFill>
              </a:rPr>
              <a:t>Your checked table</a:t>
            </a:r>
            <a:endParaRPr lang="en-US" sz="1600" dirty="0"/>
          </a:p>
        </p:txBody>
      </p:sp>
      <p:sp>
        <p:nvSpPr>
          <p:cNvPr id="8" name="Kept"/>
          <p:cNvSpPr/>
          <p:nvPr/>
        </p:nvSpPr>
        <p:spPr>
          <a:xfrm>
            <a:off x="777240" y="3182112"/>
            <a:ext cx="292608" cy="292608"/>
          </a:xfrm>
          <a:prstGeom prst="ellipse">
            <a:avLst/>
          </a:prstGeom>
          <a:solidFill>
            <a:schemeClr val="accent5"/>
          </a:solidFill>
          <a:ln/>
        </p:spPr>
      </p:sp>
      <p:sp>
        <p:nvSpPr>
          <p:cNvPr id="9" name="Text 6"/>
          <p:cNvSpPr txBox="1"/>
          <p:nvPr/>
        </p:nvSpPr>
        <p:spPr>
          <a:xfrm>
            <a:off x="1188720" y="3108960"/>
            <a:ext cx="1874520" cy="457200"/>
          </a:xfrm>
          <a:prstGeom prst="rect">
            <a:avLst/>
          </a:prstGeom>
          <a:noFill/>
          <a:ln/>
        </p:spPr>
        <p:txBody>
          <a:bodyPr wrap="square" lIns="0" tIns="0" rIns="0" bIns="0" rtlCol="0" anchor="ctr"/>
          <a:lstStyle/>
          <a:p>
            <a:pPr indent="0" marL="0">
              <a:buNone/>
            </a:pPr>
            <a:r>
              <a:rPr lang="en-US" sz="1400" dirty="0">
                <a:solidFill>
                  <a:schemeClr val="tx1"/>
                </a:solidFill>
              </a:rPr>
              <a:t>Corrected total</a:t>
            </a:r>
            <a:endParaRPr lang="en-US" sz="1400" dirty="0"/>
          </a:p>
        </p:txBody>
      </p:sp>
      <p:sp>
        <p:nvSpPr>
          <p:cNvPr id="10" name="Kept"/>
          <p:cNvSpPr/>
          <p:nvPr/>
        </p:nvSpPr>
        <p:spPr>
          <a:xfrm>
            <a:off x="777240" y="3776472"/>
            <a:ext cx="292608" cy="292608"/>
          </a:xfrm>
          <a:prstGeom prst="ellipse">
            <a:avLst/>
          </a:prstGeom>
          <a:solidFill>
            <a:schemeClr val="accent5"/>
          </a:solidFill>
          <a:ln/>
        </p:spPr>
      </p:sp>
      <p:sp>
        <p:nvSpPr>
          <p:cNvPr id="11" name="Text 8"/>
          <p:cNvSpPr txBox="1"/>
          <p:nvPr/>
        </p:nvSpPr>
        <p:spPr>
          <a:xfrm>
            <a:off x="1188720" y="3703320"/>
            <a:ext cx="1874520" cy="457200"/>
          </a:xfrm>
          <a:prstGeom prst="rect">
            <a:avLst/>
          </a:prstGeom>
          <a:noFill/>
          <a:ln/>
        </p:spPr>
        <p:txBody>
          <a:bodyPr wrap="square" lIns="0" tIns="0" rIns="0" bIns="0" rtlCol="0" anchor="ctr"/>
          <a:lstStyle/>
          <a:p>
            <a:pPr indent="0" marL="0">
              <a:buNone/>
            </a:pPr>
            <a:r>
              <a:rPr lang="en-US" sz="1400" dirty="0">
                <a:solidFill>
                  <a:schemeClr val="tx1"/>
                </a:solidFill>
              </a:rPr>
              <a:t>Validity</a:t>
            </a:r>
            <a:endParaRPr lang="en-US" sz="1400" dirty="0"/>
          </a:p>
        </p:txBody>
      </p:sp>
      <p:sp>
        <p:nvSpPr>
          <p:cNvPr id="12" name="Kept"/>
          <p:cNvSpPr/>
          <p:nvPr/>
        </p:nvSpPr>
        <p:spPr>
          <a:xfrm>
            <a:off x="777240" y="4370832"/>
            <a:ext cx="292608" cy="292608"/>
          </a:xfrm>
          <a:prstGeom prst="ellipse">
            <a:avLst/>
          </a:prstGeom>
          <a:solidFill>
            <a:schemeClr val="accent5"/>
          </a:solidFill>
          <a:ln/>
        </p:spPr>
      </p:sp>
      <p:sp>
        <p:nvSpPr>
          <p:cNvPr id="13" name="Text 10"/>
          <p:cNvSpPr txBox="1"/>
          <p:nvPr/>
        </p:nvSpPr>
        <p:spPr>
          <a:xfrm>
            <a:off x="1188720" y="4297680"/>
            <a:ext cx="1874520" cy="457200"/>
          </a:xfrm>
          <a:prstGeom prst="rect">
            <a:avLst/>
          </a:prstGeom>
          <a:noFill/>
          <a:ln/>
        </p:spPr>
        <p:txBody>
          <a:bodyPr wrap="square" lIns="0" tIns="0" rIns="0" bIns="0" rtlCol="0" anchor="ctr"/>
          <a:lstStyle/>
          <a:p>
            <a:pPr indent="0" marL="0">
              <a:buNone/>
            </a:pPr>
            <a:r>
              <a:rPr lang="en-US" sz="1400" dirty="0">
                <a:solidFill>
                  <a:schemeClr val="tx1"/>
                </a:solidFill>
              </a:rPr>
              <a:t>Warranty adjustment</a:t>
            </a:r>
            <a:endParaRPr lang="en-US" sz="1400" dirty="0"/>
          </a:p>
        </p:txBody>
      </p:sp>
      <p:sp>
        <p:nvSpPr>
          <p:cNvPr id="14" name="Drift card"/>
          <p:cNvSpPr/>
          <p:nvPr/>
        </p:nvSpPr>
        <p:spPr>
          <a:xfrm>
            <a:off x="3364992" y="1783080"/>
            <a:ext cx="2633472" cy="3291840"/>
          </a:xfrm>
          <a:prstGeom prst="roundRect">
            <a:avLst>
              <a:gd name="adj" fmla="val 2778"/>
            </a:avLst>
          </a:prstGeom>
          <a:solidFill>
            <a:schemeClr val="bg2"/>
          </a:solidFill>
          <a:ln/>
        </p:spPr>
      </p:sp>
      <p:sp>
        <p:nvSpPr>
          <p:cNvPr id="15" name="Text 12"/>
          <p:cNvSpPr txBox="1"/>
          <p:nvPr/>
        </p:nvSpPr>
        <p:spPr>
          <a:xfrm>
            <a:off x="3593592" y="1920240"/>
            <a:ext cx="2194560" cy="320040"/>
          </a:xfrm>
          <a:prstGeom prst="rect">
            <a:avLst/>
          </a:prstGeom>
          <a:noFill/>
          <a:ln/>
        </p:spPr>
        <p:txBody>
          <a:bodyPr wrap="square" lIns="0" tIns="0" rIns="0" bIns="0" rtlCol="0" anchor="ctr"/>
          <a:lstStyle/>
          <a:p>
            <a:pPr indent="0" marL="0">
              <a:buNone/>
            </a:pPr>
            <a:r>
              <a:rPr lang="en-US" sz="1400" b="1" dirty="0">
                <a:solidFill>
                  <a:schemeClr val="accent1"/>
                </a:solidFill>
              </a:rPr>
              <a:t>Round 2</a:t>
            </a:r>
            <a:endParaRPr lang="en-US" sz="1400" dirty="0"/>
          </a:p>
        </p:txBody>
      </p:sp>
      <p:sp>
        <p:nvSpPr>
          <p:cNvPr id="16" name="Text 13"/>
          <p:cNvSpPr txBox="1"/>
          <p:nvPr/>
        </p:nvSpPr>
        <p:spPr>
          <a:xfrm>
            <a:off x="3593592" y="2240280"/>
            <a:ext cx="2240280" cy="685800"/>
          </a:xfrm>
          <a:prstGeom prst="rect">
            <a:avLst/>
          </a:prstGeom>
          <a:noFill/>
          <a:ln/>
        </p:spPr>
        <p:txBody>
          <a:bodyPr wrap="square" lIns="0" tIns="0" rIns="0" bIns="0" rtlCol="0" anchor="t"/>
          <a:lstStyle/>
          <a:p>
            <a:pPr indent="0" marL="0">
              <a:buNone/>
            </a:pPr>
            <a:r>
              <a:rPr lang="en-US" sz="1600" b="1" dirty="0">
                <a:solidFill>
                  <a:schemeClr val="tx2"/>
                </a:solidFill>
              </a:rPr>
              <a:t>"Shorten it to 8 rows"</a:t>
            </a:r>
            <a:endParaRPr lang="en-US" sz="1600" dirty="0"/>
          </a:p>
        </p:txBody>
      </p:sp>
      <p:sp>
        <p:nvSpPr>
          <p:cNvPr id="17" name="Kept"/>
          <p:cNvSpPr/>
          <p:nvPr/>
        </p:nvSpPr>
        <p:spPr>
          <a:xfrm>
            <a:off x="3593592" y="3182112"/>
            <a:ext cx="292608" cy="292608"/>
          </a:xfrm>
          <a:prstGeom prst="ellipse">
            <a:avLst/>
          </a:prstGeom>
          <a:solidFill>
            <a:schemeClr val="accent5"/>
          </a:solidFill>
          <a:ln/>
        </p:spPr>
      </p:sp>
      <p:sp>
        <p:nvSpPr>
          <p:cNvPr id="18" name="Text 15"/>
          <p:cNvSpPr txBox="1"/>
          <p:nvPr/>
        </p:nvSpPr>
        <p:spPr>
          <a:xfrm>
            <a:off x="4005072" y="3108960"/>
            <a:ext cx="1874520" cy="457200"/>
          </a:xfrm>
          <a:prstGeom prst="rect">
            <a:avLst/>
          </a:prstGeom>
          <a:noFill/>
          <a:ln/>
        </p:spPr>
        <p:txBody>
          <a:bodyPr wrap="square" lIns="0" tIns="0" rIns="0" bIns="0" rtlCol="0" anchor="ctr"/>
          <a:lstStyle/>
          <a:p>
            <a:pPr indent="0" marL="0">
              <a:buNone/>
            </a:pPr>
            <a:r>
              <a:rPr lang="en-US" sz="1400" dirty="0">
                <a:solidFill>
                  <a:schemeClr val="tx1"/>
                </a:solidFill>
              </a:rPr>
              <a:t>Corrected total</a:t>
            </a:r>
            <a:endParaRPr lang="en-US" sz="1400" dirty="0"/>
          </a:p>
        </p:txBody>
      </p:sp>
      <p:sp>
        <p:nvSpPr>
          <p:cNvPr id="19" name="Kept"/>
          <p:cNvSpPr/>
          <p:nvPr/>
        </p:nvSpPr>
        <p:spPr>
          <a:xfrm>
            <a:off x="3593592" y="3776472"/>
            <a:ext cx="292608" cy="292608"/>
          </a:xfrm>
          <a:prstGeom prst="ellipse">
            <a:avLst/>
          </a:prstGeom>
          <a:solidFill>
            <a:schemeClr val="accent5"/>
          </a:solidFill>
          <a:ln/>
        </p:spPr>
      </p:sp>
      <p:sp>
        <p:nvSpPr>
          <p:cNvPr id="20" name="Text 17"/>
          <p:cNvSpPr txBox="1"/>
          <p:nvPr/>
        </p:nvSpPr>
        <p:spPr>
          <a:xfrm>
            <a:off x="4005072" y="3703320"/>
            <a:ext cx="1874520" cy="457200"/>
          </a:xfrm>
          <a:prstGeom prst="rect">
            <a:avLst/>
          </a:prstGeom>
          <a:noFill/>
          <a:ln/>
        </p:spPr>
        <p:txBody>
          <a:bodyPr wrap="square" lIns="0" tIns="0" rIns="0" bIns="0" rtlCol="0" anchor="ctr"/>
          <a:lstStyle/>
          <a:p>
            <a:pPr indent="0" marL="0">
              <a:buNone/>
            </a:pPr>
            <a:r>
              <a:rPr lang="en-US" sz="1400" dirty="0">
                <a:solidFill>
                  <a:schemeClr val="tx1"/>
                </a:solidFill>
              </a:rPr>
              <a:t>Validity</a:t>
            </a:r>
            <a:endParaRPr lang="en-US" sz="1400" dirty="0"/>
          </a:p>
        </p:txBody>
      </p:sp>
      <p:sp>
        <p:nvSpPr>
          <p:cNvPr id="21" name="Kept"/>
          <p:cNvSpPr/>
          <p:nvPr/>
        </p:nvSpPr>
        <p:spPr>
          <a:xfrm>
            <a:off x="3593592" y="4370832"/>
            <a:ext cx="292608" cy="292608"/>
          </a:xfrm>
          <a:prstGeom prst="ellipse">
            <a:avLst/>
          </a:prstGeom>
          <a:solidFill>
            <a:schemeClr val="accent5"/>
          </a:solidFill>
          <a:ln/>
        </p:spPr>
      </p:sp>
      <p:sp>
        <p:nvSpPr>
          <p:cNvPr id="22" name="Text 19"/>
          <p:cNvSpPr txBox="1"/>
          <p:nvPr/>
        </p:nvSpPr>
        <p:spPr>
          <a:xfrm>
            <a:off x="4005072" y="4297680"/>
            <a:ext cx="1874520" cy="457200"/>
          </a:xfrm>
          <a:prstGeom prst="rect">
            <a:avLst/>
          </a:prstGeom>
          <a:noFill/>
          <a:ln/>
        </p:spPr>
        <p:txBody>
          <a:bodyPr wrap="square" lIns="0" tIns="0" rIns="0" bIns="0" rtlCol="0" anchor="ctr"/>
          <a:lstStyle/>
          <a:p>
            <a:pPr indent="0" marL="0">
              <a:buNone/>
            </a:pPr>
            <a:r>
              <a:rPr lang="en-US" sz="1400" dirty="0">
                <a:solidFill>
                  <a:schemeClr val="tx1"/>
                </a:solidFill>
              </a:rPr>
              <a:t>Warranty adjustment</a:t>
            </a:r>
            <a:endParaRPr lang="en-US" sz="1400" dirty="0"/>
          </a:p>
        </p:txBody>
      </p:sp>
      <p:sp>
        <p:nvSpPr>
          <p:cNvPr id="23" name="Drift card"/>
          <p:cNvSpPr/>
          <p:nvPr/>
        </p:nvSpPr>
        <p:spPr>
          <a:xfrm>
            <a:off x="6181344" y="1783080"/>
            <a:ext cx="2633472" cy="3291840"/>
          </a:xfrm>
          <a:prstGeom prst="roundRect">
            <a:avLst>
              <a:gd name="adj" fmla="val 2778"/>
            </a:avLst>
          </a:prstGeom>
          <a:solidFill>
            <a:schemeClr val="bg2"/>
          </a:solidFill>
          <a:ln/>
        </p:spPr>
      </p:sp>
      <p:sp>
        <p:nvSpPr>
          <p:cNvPr id="24" name="Text 21"/>
          <p:cNvSpPr txBox="1"/>
          <p:nvPr/>
        </p:nvSpPr>
        <p:spPr>
          <a:xfrm>
            <a:off x="6409944" y="1920240"/>
            <a:ext cx="2194560" cy="320040"/>
          </a:xfrm>
          <a:prstGeom prst="rect">
            <a:avLst/>
          </a:prstGeom>
          <a:noFill/>
          <a:ln/>
        </p:spPr>
        <p:txBody>
          <a:bodyPr wrap="square" lIns="0" tIns="0" rIns="0" bIns="0" rtlCol="0" anchor="ctr"/>
          <a:lstStyle/>
          <a:p>
            <a:pPr indent="0" marL="0">
              <a:buNone/>
            </a:pPr>
            <a:r>
              <a:rPr lang="en-US" sz="1400" b="1" dirty="0">
                <a:solidFill>
                  <a:schemeClr val="accent1"/>
                </a:solidFill>
              </a:rPr>
              <a:t>Round 3</a:t>
            </a:r>
            <a:endParaRPr lang="en-US" sz="1400" dirty="0"/>
          </a:p>
        </p:txBody>
      </p:sp>
      <p:sp>
        <p:nvSpPr>
          <p:cNvPr id="25" name="Text 22"/>
          <p:cNvSpPr txBox="1"/>
          <p:nvPr/>
        </p:nvSpPr>
        <p:spPr>
          <a:xfrm>
            <a:off x="6409944" y="2240280"/>
            <a:ext cx="2240280" cy="685800"/>
          </a:xfrm>
          <a:prstGeom prst="rect">
            <a:avLst/>
          </a:prstGeom>
          <a:noFill/>
          <a:ln/>
        </p:spPr>
        <p:txBody>
          <a:bodyPr wrap="square" lIns="0" tIns="0" rIns="0" bIns="0" rtlCol="0" anchor="t"/>
          <a:lstStyle/>
          <a:p>
            <a:pPr indent="0" marL="0">
              <a:buNone/>
            </a:pPr>
            <a:r>
              <a:rPr lang="en-US" sz="1600" b="1" dirty="0">
                <a:solidFill>
                  <a:schemeClr val="tx2"/>
                </a:solidFill>
              </a:rPr>
              <a:t>"Make it more formal"</a:t>
            </a:r>
            <a:endParaRPr lang="en-US" sz="1600" dirty="0"/>
          </a:p>
        </p:txBody>
      </p:sp>
      <p:sp>
        <p:nvSpPr>
          <p:cNvPr id="26" name="Kept"/>
          <p:cNvSpPr/>
          <p:nvPr/>
        </p:nvSpPr>
        <p:spPr>
          <a:xfrm>
            <a:off x="6409944" y="3182112"/>
            <a:ext cx="292608" cy="292608"/>
          </a:xfrm>
          <a:prstGeom prst="ellipse">
            <a:avLst/>
          </a:prstGeom>
          <a:solidFill>
            <a:schemeClr val="accent5"/>
          </a:solidFill>
          <a:ln/>
        </p:spPr>
      </p:sp>
      <p:sp>
        <p:nvSpPr>
          <p:cNvPr id="27" name="Text 24"/>
          <p:cNvSpPr txBox="1"/>
          <p:nvPr/>
        </p:nvSpPr>
        <p:spPr>
          <a:xfrm>
            <a:off x="6821424" y="3108960"/>
            <a:ext cx="1874520" cy="457200"/>
          </a:xfrm>
          <a:prstGeom prst="rect">
            <a:avLst/>
          </a:prstGeom>
          <a:noFill/>
          <a:ln/>
        </p:spPr>
        <p:txBody>
          <a:bodyPr wrap="square" lIns="0" tIns="0" rIns="0" bIns="0" rtlCol="0" anchor="ctr"/>
          <a:lstStyle/>
          <a:p>
            <a:pPr indent="0" marL="0">
              <a:buNone/>
            </a:pPr>
            <a:r>
              <a:rPr lang="en-US" sz="1400" dirty="0">
                <a:solidFill>
                  <a:schemeClr val="tx1"/>
                </a:solidFill>
              </a:rPr>
              <a:t>Corrected total</a:t>
            </a:r>
            <a:endParaRPr lang="en-US" sz="1400" dirty="0"/>
          </a:p>
        </p:txBody>
      </p:sp>
      <p:sp>
        <p:nvSpPr>
          <p:cNvPr id="28" name="Kept"/>
          <p:cNvSpPr/>
          <p:nvPr/>
        </p:nvSpPr>
        <p:spPr>
          <a:xfrm>
            <a:off x="6409944" y="3776472"/>
            <a:ext cx="292608" cy="292608"/>
          </a:xfrm>
          <a:prstGeom prst="ellipse">
            <a:avLst/>
          </a:prstGeom>
          <a:solidFill>
            <a:schemeClr val="accent5"/>
          </a:solidFill>
          <a:ln/>
        </p:spPr>
      </p:sp>
      <p:sp>
        <p:nvSpPr>
          <p:cNvPr id="29" name="Text 26"/>
          <p:cNvSpPr txBox="1"/>
          <p:nvPr/>
        </p:nvSpPr>
        <p:spPr>
          <a:xfrm>
            <a:off x="6821424" y="3703320"/>
            <a:ext cx="1874520" cy="457200"/>
          </a:xfrm>
          <a:prstGeom prst="rect">
            <a:avLst/>
          </a:prstGeom>
          <a:noFill/>
          <a:ln/>
        </p:spPr>
        <p:txBody>
          <a:bodyPr wrap="square" lIns="0" tIns="0" rIns="0" bIns="0" rtlCol="0" anchor="ctr"/>
          <a:lstStyle/>
          <a:p>
            <a:pPr indent="0" marL="0">
              <a:buNone/>
            </a:pPr>
            <a:r>
              <a:rPr lang="en-US" sz="1400" dirty="0">
                <a:solidFill>
                  <a:schemeClr val="tx1"/>
                </a:solidFill>
              </a:rPr>
              <a:t>Validity</a:t>
            </a:r>
            <a:endParaRPr lang="en-US" sz="1400" dirty="0"/>
          </a:p>
        </p:txBody>
      </p:sp>
      <p:sp>
        <p:nvSpPr>
          <p:cNvPr id="30" name="Lost"/>
          <p:cNvSpPr/>
          <p:nvPr/>
        </p:nvSpPr>
        <p:spPr>
          <a:xfrm>
            <a:off x="6409944" y="4370832"/>
            <a:ext cx="292608" cy="292608"/>
          </a:xfrm>
          <a:prstGeom prst="ellipse">
            <a:avLst/>
          </a:prstGeom>
          <a:solidFill>
            <a:schemeClr val="accent6"/>
          </a:solidFill>
          <a:ln/>
        </p:spPr>
      </p:sp>
      <p:sp>
        <p:nvSpPr>
          <p:cNvPr id="31" name="Text 28"/>
          <p:cNvSpPr txBox="1"/>
          <p:nvPr/>
        </p:nvSpPr>
        <p:spPr>
          <a:xfrm>
            <a:off x="6821424" y="4297680"/>
            <a:ext cx="1874520" cy="457200"/>
          </a:xfrm>
          <a:prstGeom prst="rect">
            <a:avLst/>
          </a:prstGeom>
          <a:noFill/>
          <a:ln/>
        </p:spPr>
        <p:txBody>
          <a:bodyPr wrap="square" lIns="0" tIns="0" rIns="0" bIns="0" rtlCol="0" anchor="ctr"/>
          <a:lstStyle/>
          <a:p>
            <a:pPr indent="0" marL="0">
              <a:buNone/>
            </a:pPr>
            <a:r>
              <a:rPr lang="en-US" sz="1400" b="1" strike="sngStrike" dirty="0">
                <a:solidFill>
                  <a:schemeClr val="accent6"/>
                </a:solidFill>
              </a:rPr>
              <a:t>Warranty adjustment</a:t>
            </a:r>
            <a:endParaRPr lang="en-US" sz="1400" dirty="0"/>
          </a:p>
        </p:txBody>
      </p:sp>
      <p:sp>
        <p:nvSpPr>
          <p:cNvPr id="32" name="Drift card"/>
          <p:cNvSpPr/>
          <p:nvPr/>
        </p:nvSpPr>
        <p:spPr>
          <a:xfrm>
            <a:off x="8997696" y="1783080"/>
            <a:ext cx="2633472" cy="3291840"/>
          </a:xfrm>
          <a:prstGeom prst="roundRect">
            <a:avLst>
              <a:gd name="adj" fmla="val 2778"/>
            </a:avLst>
          </a:prstGeom>
          <a:solidFill>
            <a:schemeClr val="bg2"/>
          </a:solidFill>
          <a:ln/>
        </p:spPr>
      </p:sp>
      <p:sp>
        <p:nvSpPr>
          <p:cNvPr id="33" name="Text 30"/>
          <p:cNvSpPr txBox="1"/>
          <p:nvPr/>
        </p:nvSpPr>
        <p:spPr>
          <a:xfrm>
            <a:off x="9226296" y="1920240"/>
            <a:ext cx="2194560" cy="320040"/>
          </a:xfrm>
          <a:prstGeom prst="rect">
            <a:avLst/>
          </a:prstGeom>
          <a:noFill/>
          <a:ln/>
        </p:spPr>
        <p:txBody>
          <a:bodyPr wrap="square" lIns="0" tIns="0" rIns="0" bIns="0" rtlCol="0" anchor="ctr"/>
          <a:lstStyle/>
          <a:p>
            <a:pPr indent="0" marL="0">
              <a:buNone/>
            </a:pPr>
            <a:r>
              <a:rPr lang="en-US" sz="1400" b="1" dirty="0">
                <a:solidFill>
                  <a:schemeClr val="accent1"/>
                </a:solidFill>
              </a:rPr>
              <a:t>Round 4</a:t>
            </a:r>
            <a:endParaRPr lang="en-US" sz="1400" dirty="0"/>
          </a:p>
        </p:txBody>
      </p:sp>
      <p:sp>
        <p:nvSpPr>
          <p:cNvPr id="34" name="Text 31"/>
          <p:cNvSpPr txBox="1"/>
          <p:nvPr/>
        </p:nvSpPr>
        <p:spPr>
          <a:xfrm>
            <a:off x="9226296" y="2240280"/>
            <a:ext cx="2240280" cy="685800"/>
          </a:xfrm>
          <a:prstGeom prst="rect">
            <a:avLst/>
          </a:prstGeom>
          <a:noFill/>
          <a:ln/>
        </p:spPr>
        <p:txBody>
          <a:bodyPr wrap="square" lIns="0" tIns="0" rIns="0" bIns="0" rtlCol="0" anchor="t"/>
          <a:lstStyle/>
          <a:p>
            <a:pPr indent="0" marL="0">
              <a:buNone/>
            </a:pPr>
            <a:r>
              <a:rPr lang="en-US" sz="1600" b="1" dirty="0">
                <a:solidFill>
                  <a:schemeClr val="tx2"/>
                </a:solidFill>
              </a:rPr>
              <a:t>"Give me the final table"</a:t>
            </a:r>
            <a:endParaRPr lang="en-US" sz="1600" dirty="0"/>
          </a:p>
        </p:txBody>
      </p:sp>
      <p:sp>
        <p:nvSpPr>
          <p:cNvPr id="35" name="Lost"/>
          <p:cNvSpPr/>
          <p:nvPr/>
        </p:nvSpPr>
        <p:spPr>
          <a:xfrm>
            <a:off x="9226296" y="3182112"/>
            <a:ext cx="292608" cy="292608"/>
          </a:xfrm>
          <a:prstGeom prst="ellipse">
            <a:avLst/>
          </a:prstGeom>
          <a:solidFill>
            <a:schemeClr val="accent6"/>
          </a:solidFill>
          <a:ln/>
        </p:spPr>
      </p:sp>
      <p:sp>
        <p:nvSpPr>
          <p:cNvPr id="36" name="Text 33"/>
          <p:cNvSpPr txBox="1"/>
          <p:nvPr/>
        </p:nvSpPr>
        <p:spPr>
          <a:xfrm>
            <a:off x="9637776" y="3108960"/>
            <a:ext cx="1874520" cy="457200"/>
          </a:xfrm>
          <a:prstGeom prst="rect">
            <a:avLst/>
          </a:prstGeom>
          <a:noFill/>
          <a:ln/>
        </p:spPr>
        <p:txBody>
          <a:bodyPr wrap="square" lIns="0" tIns="0" rIns="0" bIns="0" rtlCol="0" anchor="ctr"/>
          <a:lstStyle/>
          <a:p>
            <a:pPr indent="0" marL="0">
              <a:buNone/>
            </a:pPr>
            <a:r>
              <a:rPr lang="en-US" sz="1400" b="1" strike="sngStrike" dirty="0">
                <a:solidFill>
                  <a:schemeClr val="accent6"/>
                </a:solidFill>
              </a:rPr>
              <a:t>Corrected total</a:t>
            </a:r>
            <a:endParaRPr lang="en-US" sz="1400" dirty="0"/>
          </a:p>
        </p:txBody>
      </p:sp>
      <p:sp>
        <p:nvSpPr>
          <p:cNvPr id="37" name="Kept"/>
          <p:cNvSpPr/>
          <p:nvPr/>
        </p:nvSpPr>
        <p:spPr>
          <a:xfrm>
            <a:off x="9226296" y="3776472"/>
            <a:ext cx="292608" cy="292608"/>
          </a:xfrm>
          <a:prstGeom prst="ellipse">
            <a:avLst/>
          </a:prstGeom>
          <a:solidFill>
            <a:schemeClr val="accent5"/>
          </a:solidFill>
          <a:ln/>
        </p:spPr>
      </p:sp>
      <p:sp>
        <p:nvSpPr>
          <p:cNvPr id="38" name="Text 35"/>
          <p:cNvSpPr txBox="1"/>
          <p:nvPr/>
        </p:nvSpPr>
        <p:spPr>
          <a:xfrm>
            <a:off x="9637776" y="3703320"/>
            <a:ext cx="1874520" cy="457200"/>
          </a:xfrm>
          <a:prstGeom prst="rect">
            <a:avLst/>
          </a:prstGeom>
          <a:noFill/>
          <a:ln/>
        </p:spPr>
        <p:txBody>
          <a:bodyPr wrap="square" lIns="0" tIns="0" rIns="0" bIns="0" rtlCol="0" anchor="ctr"/>
          <a:lstStyle/>
          <a:p>
            <a:pPr indent="0" marL="0">
              <a:buNone/>
            </a:pPr>
            <a:r>
              <a:rPr lang="en-US" sz="1400" dirty="0">
                <a:solidFill>
                  <a:schemeClr val="tx1"/>
                </a:solidFill>
              </a:rPr>
              <a:t>Validity</a:t>
            </a:r>
            <a:endParaRPr lang="en-US" sz="1400" dirty="0"/>
          </a:p>
        </p:txBody>
      </p:sp>
      <p:sp>
        <p:nvSpPr>
          <p:cNvPr id="39" name="Lost"/>
          <p:cNvSpPr/>
          <p:nvPr/>
        </p:nvSpPr>
        <p:spPr>
          <a:xfrm>
            <a:off x="9226296" y="4370832"/>
            <a:ext cx="292608" cy="292608"/>
          </a:xfrm>
          <a:prstGeom prst="ellipse">
            <a:avLst/>
          </a:prstGeom>
          <a:solidFill>
            <a:schemeClr val="accent6"/>
          </a:solidFill>
          <a:ln/>
        </p:spPr>
      </p:sp>
      <p:sp>
        <p:nvSpPr>
          <p:cNvPr id="40" name="Text 37"/>
          <p:cNvSpPr txBox="1"/>
          <p:nvPr/>
        </p:nvSpPr>
        <p:spPr>
          <a:xfrm>
            <a:off x="9637776" y="4297680"/>
            <a:ext cx="1874520" cy="457200"/>
          </a:xfrm>
          <a:prstGeom prst="rect">
            <a:avLst/>
          </a:prstGeom>
          <a:noFill/>
          <a:ln/>
        </p:spPr>
        <p:txBody>
          <a:bodyPr wrap="square" lIns="0" tIns="0" rIns="0" bIns="0" rtlCol="0" anchor="ctr"/>
          <a:lstStyle/>
          <a:p>
            <a:pPr indent="0" marL="0">
              <a:buNone/>
            </a:pPr>
            <a:r>
              <a:rPr lang="en-US" sz="1400" b="1" strike="sngStrike" dirty="0">
                <a:solidFill>
                  <a:schemeClr val="accent6"/>
                </a:solidFill>
              </a:rPr>
              <a:t>Warranty adjustment</a:t>
            </a:r>
            <a:endParaRPr lang="en-US" sz="1400" dirty="0"/>
          </a:p>
        </p:txBody>
      </p:sp>
      <p:sp>
        <p:nvSpPr>
          <p:cNvPr id="41" name="Text 38"/>
          <p:cNvSpPr txBox="1"/>
          <p:nvPr/>
        </p:nvSpPr>
        <p:spPr>
          <a:xfrm>
            <a:off x="548640" y="5349240"/>
            <a:ext cx="11064240" cy="640080"/>
          </a:xfrm>
          <a:prstGeom prst="rect">
            <a:avLst/>
          </a:prstGeom>
          <a:noFill/>
          <a:ln/>
        </p:spPr>
        <p:txBody>
          <a:bodyPr wrap="square" lIns="0" tIns="0" rIns="0" bIns="0" rtlCol="0" anchor="ctr"/>
          <a:lstStyle/>
          <a:p>
            <a:pPr indent="0" marL="0">
              <a:buNone/>
            </a:pPr>
            <a:r>
              <a:rPr lang="en-US" sz="1800" b="1" dirty="0">
                <a:solidFill>
                  <a:schemeClr val="tx2"/>
                </a:solidFill>
              </a:rPr>
              <a:t>When an answer matters, stop changing it in the chat. Ask for one complete version, then move it to a Page.</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CHAPTER 06</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From chat to a Page you can share</a:t>
            </a:r>
            <a:endParaRPr lang="en-US" sz="3200" dirty="0"/>
          </a:p>
        </p:txBody>
      </p:sp>
      <p:sp>
        <p:nvSpPr>
          <p:cNvPr id="5" name="Screenshot frame"/>
          <p:cNvSpPr/>
          <p:nvPr/>
        </p:nvSpPr>
        <p:spPr>
          <a:xfrm>
            <a:off x="548640" y="1691640"/>
            <a:ext cx="6766560" cy="3806190"/>
          </a:xfrm>
          <a:prstGeom prst="rect">
            <a:avLst/>
          </a:prstGeom>
          <a:solidFill>
            <a:schemeClr val="bg1"/>
          </a:solidFill>
          <a:ln w="12700">
            <a:solidFill>
              <a:srgbClr val="F1F4F7"/>
            </a:solidFill>
            <a:prstDash val="solid"/>
          </a:ln>
          <a:effectLst>
            <a:outerShdw sx="100000" sy="100000" kx="0" ky="0" algn="bl" rotWithShape="0" blurRad="101600" dist="25400" dir="5400000">
              <a:srgbClr val="000000">
                <a:alpha val="18000"/>
              </a:srgbClr>
            </a:outerShdw>
          </a:effectLst>
        </p:spPr>
      </p:sp>
      <p:pic>
        <p:nvPicPr>
          <p:cNvPr id="6" name="Image 0" descr="A Copilot Page with the laptop comparison table, next to the chat">    </p:cNvPr>
          <p:cNvPicPr>
            <a:picLocks noChangeAspect="1"/>
          </p:cNvPicPr>
          <p:nvPr/>
        </p:nvPicPr>
        <p:blipFill>
          <a:blip r:embed="rId1"/>
          <a:stretch>
            <a:fillRect/>
          </a:stretch>
        </p:blipFill>
        <p:spPr>
          <a:xfrm>
            <a:off x="548640" y="1691640"/>
            <a:ext cx="6766560" cy="3806190"/>
          </a:xfrm>
          <a:prstGeom prst="rect">
            <a:avLst/>
          </a:prstGeom>
        </p:spPr>
      </p:pic>
      <p:sp>
        <p:nvSpPr>
          <p:cNvPr id="7" name="Number 1"/>
          <p:cNvSpPr/>
          <p:nvPr/>
        </p:nvSpPr>
        <p:spPr>
          <a:xfrm>
            <a:off x="7680960" y="1783080"/>
            <a:ext cx="457200" cy="457200"/>
          </a:xfrm>
          <a:prstGeom prst="ellipse">
            <a:avLst/>
          </a:prstGeom>
          <a:solidFill>
            <a:schemeClr val="accent1"/>
          </a:solidFill>
          <a:ln/>
        </p:spPr>
      </p:sp>
      <p:sp>
        <p:nvSpPr>
          <p:cNvPr id="8" name="Text 4"/>
          <p:cNvSpPr txBox="1"/>
          <p:nvPr/>
        </p:nvSpPr>
        <p:spPr>
          <a:xfrm>
            <a:off x="768096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5"/>
          <p:cNvSpPr txBox="1"/>
          <p:nvPr/>
        </p:nvSpPr>
        <p:spPr>
          <a:xfrm>
            <a:off x="8275320" y="1691640"/>
            <a:ext cx="3383280" cy="777240"/>
          </a:xfrm>
          <a:prstGeom prst="rect">
            <a:avLst/>
          </a:prstGeom>
          <a:noFill/>
          <a:ln/>
        </p:spPr>
        <p:txBody>
          <a:bodyPr wrap="square" lIns="0" tIns="0" rIns="0" bIns="0" rtlCol="0" anchor="t"/>
          <a:lstStyle/>
          <a:p>
            <a:pPr indent="0" marL="0">
              <a:buNone/>
            </a:pPr>
            <a:r>
              <a:rPr lang="en-US" sz="1600" b="1" dirty="0">
                <a:solidFill>
                  <a:schemeClr val="tx2"/>
                </a:solidFill>
              </a:rPr>
              <a:t>One complete version</a:t>
            </a:r>
            <a:endParaRPr lang="en-US" sz="1600" dirty="0"/>
          </a:p>
          <a:p>
            <a:pPr indent="0" marL="0">
              <a:buNone/>
            </a:pPr>
            <a:r>
              <a:rPr lang="en-US" sz="1400" dirty="0">
                <a:solidFill>
                  <a:schemeClr val="tx1"/>
                </a:solidFill>
              </a:rPr>
              <a:t>List everything it must include</a:t>
            </a:r>
            <a:endParaRPr lang="en-US" sz="1600" dirty="0"/>
          </a:p>
        </p:txBody>
      </p:sp>
      <p:sp>
        <p:nvSpPr>
          <p:cNvPr id="10" name="Number 2"/>
          <p:cNvSpPr/>
          <p:nvPr/>
        </p:nvSpPr>
        <p:spPr>
          <a:xfrm>
            <a:off x="7680960" y="2770632"/>
            <a:ext cx="457200" cy="457200"/>
          </a:xfrm>
          <a:prstGeom prst="ellipse">
            <a:avLst/>
          </a:prstGeom>
          <a:solidFill>
            <a:schemeClr val="accent1"/>
          </a:solidFill>
          <a:ln/>
        </p:spPr>
      </p:sp>
      <p:sp>
        <p:nvSpPr>
          <p:cNvPr id="11" name="Text 7"/>
          <p:cNvSpPr txBox="1"/>
          <p:nvPr/>
        </p:nvSpPr>
        <p:spPr>
          <a:xfrm>
            <a:off x="7680960" y="27706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8"/>
          <p:cNvSpPr txBox="1"/>
          <p:nvPr/>
        </p:nvSpPr>
        <p:spPr>
          <a:xfrm>
            <a:off x="8275320" y="2679192"/>
            <a:ext cx="3383280" cy="777240"/>
          </a:xfrm>
          <a:prstGeom prst="rect">
            <a:avLst/>
          </a:prstGeom>
          <a:noFill/>
          <a:ln/>
        </p:spPr>
        <p:txBody>
          <a:bodyPr wrap="square" lIns="0" tIns="0" rIns="0" bIns="0" rtlCol="0" anchor="t"/>
          <a:lstStyle/>
          <a:p>
            <a:pPr indent="0" marL="0">
              <a:buNone/>
            </a:pPr>
            <a:r>
              <a:rPr lang="en-US" sz="1600" b="1" dirty="0">
                <a:solidFill>
                  <a:schemeClr val="tx2"/>
                </a:solidFill>
              </a:rPr>
              <a:t>Edit in Pages</a:t>
            </a:r>
            <a:endParaRPr lang="en-US" sz="1600" dirty="0"/>
          </a:p>
          <a:p>
            <a:pPr indent="0" marL="0">
              <a:buNone/>
            </a:pPr>
            <a:r>
              <a:rPr lang="en-US" sz="1400" dirty="0">
                <a:solidFill>
                  <a:schemeClr val="tx1"/>
                </a:solidFill>
              </a:rPr>
              <a:t>More options under the answer</a:t>
            </a:r>
            <a:endParaRPr lang="en-US" sz="1600" dirty="0"/>
          </a:p>
        </p:txBody>
      </p:sp>
      <p:sp>
        <p:nvSpPr>
          <p:cNvPr id="13" name="Number 3"/>
          <p:cNvSpPr/>
          <p:nvPr/>
        </p:nvSpPr>
        <p:spPr>
          <a:xfrm>
            <a:off x="7680960" y="3758184"/>
            <a:ext cx="457200" cy="457200"/>
          </a:xfrm>
          <a:prstGeom prst="ellipse">
            <a:avLst/>
          </a:prstGeom>
          <a:solidFill>
            <a:schemeClr val="accent1"/>
          </a:solidFill>
          <a:ln/>
        </p:spPr>
      </p:sp>
      <p:sp>
        <p:nvSpPr>
          <p:cNvPr id="14" name="Text 10"/>
          <p:cNvSpPr txBox="1"/>
          <p:nvPr/>
        </p:nvSpPr>
        <p:spPr>
          <a:xfrm>
            <a:off x="7680960" y="37581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1"/>
          <p:cNvSpPr txBox="1"/>
          <p:nvPr/>
        </p:nvSpPr>
        <p:spPr>
          <a:xfrm>
            <a:off x="8275320" y="3666744"/>
            <a:ext cx="3383280" cy="777240"/>
          </a:xfrm>
          <a:prstGeom prst="rect">
            <a:avLst/>
          </a:prstGeom>
          <a:noFill/>
          <a:ln/>
        </p:spPr>
        <p:txBody>
          <a:bodyPr wrap="square" lIns="0" tIns="0" rIns="0" bIns="0" rtlCol="0" anchor="t"/>
          <a:lstStyle/>
          <a:p>
            <a:pPr indent="0" marL="0">
              <a:buNone/>
            </a:pPr>
            <a:r>
              <a:rPr lang="en-US" sz="1600" b="1" dirty="0">
                <a:solidFill>
                  <a:schemeClr val="tx2"/>
                </a:solidFill>
              </a:rPr>
              <a:t>Write the memo</a:t>
            </a:r>
            <a:endParaRPr lang="en-US" sz="1600" dirty="0"/>
          </a:p>
          <a:p>
            <a:pPr indent="0" marL="0">
              <a:buNone/>
            </a:pPr>
            <a:r>
              <a:rPr lang="en-US" sz="1400" dirty="0">
                <a:solidFill>
                  <a:schemeClr val="tx1"/>
                </a:solidFill>
              </a:rPr>
              <a:t>Same chat, then Add to page</a:t>
            </a:r>
            <a:endParaRPr lang="en-US" sz="1600" dirty="0"/>
          </a:p>
        </p:txBody>
      </p:sp>
      <p:sp>
        <p:nvSpPr>
          <p:cNvPr id="16" name="Number 4"/>
          <p:cNvSpPr/>
          <p:nvPr/>
        </p:nvSpPr>
        <p:spPr>
          <a:xfrm>
            <a:off x="7680960" y="4745736"/>
            <a:ext cx="457200" cy="457200"/>
          </a:xfrm>
          <a:prstGeom prst="ellipse">
            <a:avLst/>
          </a:prstGeom>
          <a:solidFill>
            <a:schemeClr val="accent1"/>
          </a:solidFill>
          <a:ln/>
        </p:spPr>
      </p:sp>
      <p:sp>
        <p:nvSpPr>
          <p:cNvPr id="17" name="Text 13"/>
          <p:cNvSpPr txBox="1"/>
          <p:nvPr/>
        </p:nvSpPr>
        <p:spPr>
          <a:xfrm>
            <a:off x="7680960" y="47457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4"/>
          <p:cNvSpPr txBox="1"/>
          <p:nvPr/>
        </p:nvSpPr>
        <p:spPr>
          <a:xfrm>
            <a:off x="8275320" y="4654296"/>
            <a:ext cx="3383280" cy="777240"/>
          </a:xfrm>
          <a:prstGeom prst="rect">
            <a:avLst/>
          </a:prstGeom>
          <a:noFill/>
          <a:ln/>
        </p:spPr>
        <p:txBody>
          <a:bodyPr wrap="square" lIns="0" tIns="0" rIns="0" bIns="0" rtlCol="0" anchor="t"/>
          <a:lstStyle/>
          <a:p>
            <a:pPr indent="0" marL="0">
              <a:buNone/>
            </a:pPr>
            <a:r>
              <a:rPr lang="en-US" sz="1600" b="1" dirty="0">
                <a:solidFill>
                  <a:schemeClr val="tx2"/>
                </a:solidFill>
              </a:rPr>
              <a:t>Share and export</a:t>
            </a:r>
            <a:endParaRPr lang="en-US" sz="1600" dirty="0"/>
          </a:p>
          <a:p>
            <a:pPr indent="0" marL="0">
              <a:buNone/>
            </a:pPr>
            <a:r>
              <a:rPr lang="en-US" sz="1400" dirty="0">
                <a:solidFill>
                  <a:schemeClr val="tx1"/>
                </a:solidFill>
              </a:rPr>
              <a:t>Copy link, then Word or PDF</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YOUR TURN  ·  CHAPTER 06</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Build the Page and write the memo</a:t>
            </a:r>
            <a:endParaRPr lang="en-US" sz="3200" dirty="0"/>
          </a:p>
        </p:txBody>
      </p:sp>
      <p:sp>
        <p:nvSpPr>
          <p:cNvPr id="5" name="Number 1"/>
          <p:cNvSpPr/>
          <p:nvPr/>
        </p:nvSpPr>
        <p:spPr>
          <a:xfrm>
            <a:off x="548640" y="1790700"/>
            <a:ext cx="457200" cy="457200"/>
          </a:xfrm>
          <a:prstGeom prst="ellipse">
            <a:avLst/>
          </a:prstGeom>
          <a:solidFill>
            <a:schemeClr val="accent1"/>
          </a:solidFill>
          <a:ln/>
        </p:spPr>
      </p:sp>
      <p:sp>
        <p:nvSpPr>
          <p:cNvPr id="6" name="Text 3"/>
          <p:cNvSpPr txBox="1"/>
          <p:nvPr/>
        </p:nvSpPr>
        <p:spPr>
          <a:xfrm>
            <a:off x="548640" y="17907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4"/>
          <p:cNvSpPr txBox="1"/>
          <p:nvPr/>
        </p:nvSpPr>
        <p:spPr>
          <a:xfrm>
            <a:off x="1188720" y="1691640"/>
            <a:ext cx="6035040" cy="655320"/>
          </a:xfrm>
          <a:prstGeom prst="rect">
            <a:avLst/>
          </a:prstGeom>
          <a:noFill/>
          <a:ln/>
        </p:spPr>
        <p:txBody>
          <a:bodyPr wrap="square" lIns="0" tIns="0" rIns="0" bIns="0" rtlCol="0" anchor="ctr"/>
          <a:lstStyle/>
          <a:p>
            <a:pPr indent="0" marL="0">
              <a:buNone/>
            </a:pPr>
            <a:r>
              <a:rPr lang="en-US" sz="1600" b="1" dirty="0">
                <a:solidFill>
                  <a:schemeClr val="accent1"/>
                </a:solidFill>
              </a:rPr>
              <a:t>6.1  </a:t>
            </a:r>
            <a:pPr indent="0" marL="0">
              <a:buNone/>
            </a:pPr>
            <a:r>
              <a:rPr lang="en-US" sz="1600" dirty="0">
                <a:solidFill>
                  <a:schemeClr val="tx1"/>
                </a:solidFill>
              </a:rPr>
              <a:t>Watch a chat drift, then check your findings</a:t>
            </a:r>
            <a:endParaRPr lang="en-US" sz="1600" dirty="0"/>
          </a:p>
        </p:txBody>
      </p:sp>
      <p:sp>
        <p:nvSpPr>
          <p:cNvPr id="8" name="Number 2"/>
          <p:cNvSpPr/>
          <p:nvPr/>
        </p:nvSpPr>
        <p:spPr>
          <a:xfrm>
            <a:off x="548640" y="2446020"/>
            <a:ext cx="457200" cy="457200"/>
          </a:xfrm>
          <a:prstGeom prst="ellipse">
            <a:avLst/>
          </a:prstGeom>
          <a:solidFill>
            <a:schemeClr val="accent1"/>
          </a:solidFill>
          <a:ln/>
        </p:spPr>
      </p:sp>
      <p:sp>
        <p:nvSpPr>
          <p:cNvPr id="9" name="Text 6"/>
          <p:cNvSpPr txBox="1"/>
          <p:nvPr/>
        </p:nvSpPr>
        <p:spPr>
          <a:xfrm>
            <a:off x="548640" y="24460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1188720" y="2346960"/>
            <a:ext cx="6035040" cy="655320"/>
          </a:xfrm>
          <a:prstGeom prst="rect">
            <a:avLst/>
          </a:prstGeom>
          <a:noFill/>
          <a:ln/>
        </p:spPr>
        <p:txBody>
          <a:bodyPr wrap="square" lIns="0" tIns="0" rIns="0" bIns="0" rtlCol="0" anchor="ctr"/>
          <a:lstStyle/>
          <a:p>
            <a:pPr indent="0" marL="0">
              <a:buNone/>
            </a:pPr>
            <a:r>
              <a:rPr lang="en-US" sz="1600" b="1" dirty="0">
                <a:solidFill>
                  <a:schemeClr val="accent1"/>
                </a:solidFill>
              </a:rPr>
              <a:t>6.2  </a:t>
            </a:r>
            <a:pPr indent="0" marL="0">
              <a:buNone/>
            </a:pPr>
            <a:r>
              <a:rPr lang="en-US" sz="1600" dirty="0">
                <a:solidFill>
                  <a:schemeClr val="tx1"/>
                </a:solidFill>
              </a:rPr>
              <a:t>Ask for one complete comparison, then Edit in Pages</a:t>
            </a:r>
            <a:endParaRPr lang="en-US" sz="1600" dirty="0"/>
          </a:p>
        </p:txBody>
      </p:sp>
      <p:sp>
        <p:nvSpPr>
          <p:cNvPr id="11" name="Number 3"/>
          <p:cNvSpPr/>
          <p:nvPr/>
        </p:nvSpPr>
        <p:spPr>
          <a:xfrm>
            <a:off x="548640" y="3101340"/>
            <a:ext cx="457200" cy="457200"/>
          </a:xfrm>
          <a:prstGeom prst="ellipse">
            <a:avLst/>
          </a:prstGeom>
          <a:solidFill>
            <a:schemeClr val="accent1"/>
          </a:solidFill>
          <a:ln/>
        </p:spPr>
      </p:sp>
      <p:sp>
        <p:nvSpPr>
          <p:cNvPr id="12" name="Text 9"/>
          <p:cNvSpPr txBox="1"/>
          <p:nvPr/>
        </p:nvSpPr>
        <p:spPr>
          <a:xfrm>
            <a:off x="548640" y="31013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0"/>
          <p:cNvSpPr txBox="1"/>
          <p:nvPr/>
        </p:nvSpPr>
        <p:spPr>
          <a:xfrm>
            <a:off x="1188720" y="3002280"/>
            <a:ext cx="6035040" cy="655320"/>
          </a:xfrm>
          <a:prstGeom prst="rect">
            <a:avLst/>
          </a:prstGeom>
          <a:noFill/>
          <a:ln/>
        </p:spPr>
        <p:txBody>
          <a:bodyPr wrap="square" lIns="0" tIns="0" rIns="0" bIns="0" rtlCol="0" anchor="ctr"/>
          <a:lstStyle/>
          <a:p>
            <a:pPr indent="0" marL="0">
              <a:buNone/>
            </a:pPr>
            <a:r>
              <a:rPr lang="en-US" sz="1600" b="1" dirty="0">
                <a:solidFill>
                  <a:schemeClr val="accent1"/>
                </a:solidFill>
              </a:rPr>
              <a:t>6.3  </a:t>
            </a:r>
            <a:pPr indent="0" marL="0">
              <a:buNone/>
            </a:pPr>
            <a:r>
              <a:rPr lang="en-US" sz="1600" dirty="0">
                <a:solidFill>
                  <a:schemeClr val="tx1"/>
                </a:solidFill>
              </a:rPr>
              <a:t>Add a Status row with Copilot on the Page</a:t>
            </a:r>
            <a:endParaRPr lang="en-US" sz="1600" dirty="0"/>
          </a:p>
        </p:txBody>
      </p:sp>
      <p:sp>
        <p:nvSpPr>
          <p:cNvPr id="14" name="Number 4"/>
          <p:cNvSpPr/>
          <p:nvPr/>
        </p:nvSpPr>
        <p:spPr>
          <a:xfrm>
            <a:off x="548640" y="3756660"/>
            <a:ext cx="457200" cy="457200"/>
          </a:xfrm>
          <a:prstGeom prst="ellipse">
            <a:avLst/>
          </a:prstGeom>
          <a:solidFill>
            <a:schemeClr val="accent1"/>
          </a:solidFill>
          <a:ln/>
        </p:spPr>
      </p:sp>
      <p:sp>
        <p:nvSpPr>
          <p:cNvPr id="15" name="Text 12"/>
          <p:cNvSpPr txBox="1"/>
          <p:nvPr/>
        </p:nvSpPr>
        <p:spPr>
          <a:xfrm>
            <a:off x="548640" y="37566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6" name="Text 13"/>
          <p:cNvSpPr txBox="1"/>
          <p:nvPr/>
        </p:nvSpPr>
        <p:spPr>
          <a:xfrm>
            <a:off x="1188720" y="3657600"/>
            <a:ext cx="6035040" cy="655320"/>
          </a:xfrm>
          <a:prstGeom prst="rect">
            <a:avLst/>
          </a:prstGeom>
          <a:noFill/>
          <a:ln/>
        </p:spPr>
        <p:txBody>
          <a:bodyPr wrap="square" lIns="0" tIns="0" rIns="0" bIns="0" rtlCol="0" anchor="ctr"/>
          <a:lstStyle/>
          <a:p>
            <a:pPr indent="0" marL="0">
              <a:buNone/>
            </a:pPr>
            <a:r>
              <a:rPr lang="en-US" sz="1600" b="1" dirty="0">
                <a:solidFill>
                  <a:schemeClr val="accent1"/>
                </a:solidFill>
              </a:rPr>
              <a:t>6.4  </a:t>
            </a:r>
            <a:pPr indent="0" marL="0">
              <a:buNone/>
            </a:pPr>
            <a:r>
              <a:rPr lang="en-US" sz="1600" dirty="0">
                <a:solidFill>
                  <a:schemeClr val="tx1"/>
                </a:solidFill>
              </a:rPr>
              <a:t>Write the justification memo against Section 7</a:t>
            </a:r>
            <a:endParaRPr lang="en-US" sz="1600" dirty="0"/>
          </a:p>
        </p:txBody>
      </p:sp>
      <p:sp>
        <p:nvSpPr>
          <p:cNvPr id="17" name="Number 5"/>
          <p:cNvSpPr/>
          <p:nvPr/>
        </p:nvSpPr>
        <p:spPr>
          <a:xfrm>
            <a:off x="548640" y="4411980"/>
            <a:ext cx="457200" cy="457200"/>
          </a:xfrm>
          <a:prstGeom prst="ellipse">
            <a:avLst/>
          </a:prstGeom>
          <a:solidFill>
            <a:schemeClr val="accent1"/>
          </a:solidFill>
          <a:ln/>
        </p:spPr>
      </p:sp>
      <p:sp>
        <p:nvSpPr>
          <p:cNvPr id="18" name="Text 15"/>
          <p:cNvSpPr txBox="1"/>
          <p:nvPr/>
        </p:nvSpPr>
        <p:spPr>
          <a:xfrm>
            <a:off x="548640" y="44119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9" name="Text 16"/>
          <p:cNvSpPr txBox="1"/>
          <p:nvPr/>
        </p:nvSpPr>
        <p:spPr>
          <a:xfrm>
            <a:off x="1188720" y="4312920"/>
            <a:ext cx="6035040" cy="655320"/>
          </a:xfrm>
          <a:prstGeom prst="rect">
            <a:avLst/>
          </a:prstGeom>
          <a:noFill/>
          <a:ln/>
        </p:spPr>
        <p:txBody>
          <a:bodyPr wrap="square" lIns="0" tIns="0" rIns="0" bIns="0" rtlCol="0" anchor="ctr"/>
          <a:lstStyle/>
          <a:p>
            <a:pPr indent="0" marL="0">
              <a:buNone/>
            </a:pPr>
            <a:r>
              <a:rPr lang="en-US" sz="1600" b="1" dirty="0">
                <a:solidFill>
                  <a:schemeClr val="accent1"/>
                </a:solidFill>
              </a:rPr>
              <a:t>6.5  </a:t>
            </a:r>
            <a:pPr indent="0" marL="0">
              <a:buNone/>
            </a:pPr>
            <a:r>
              <a:rPr lang="en-US" sz="1600" dirty="0">
                <a:solidFill>
                  <a:schemeClr val="tx1"/>
                </a:solidFill>
              </a:rPr>
              <a:t>Copy a link to the Page</a:t>
            </a:r>
            <a:endParaRPr lang="en-US" sz="1600" dirty="0"/>
          </a:p>
        </p:txBody>
      </p:sp>
      <p:sp>
        <p:nvSpPr>
          <p:cNvPr id="20" name="Number 6"/>
          <p:cNvSpPr/>
          <p:nvPr/>
        </p:nvSpPr>
        <p:spPr>
          <a:xfrm>
            <a:off x="548640" y="5067300"/>
            <a:ext cx="457200" cy="457200"/>
          </a:xfrm>
          <a:prstGeom prst="ellipse">
            <a:avLst/>
          </a:prstGeom>
          <a:solidFill>
            <a:schemeClr val="accent1"/>
          </a:solidFill>
          <a:ln/>
        </p:spPr>
      </p:sp>
      <p:sp>
        <p:nvSpPr>
          <p:cNvPr id="21" name="Text 18"/>
          <p:cNvSpPr txBox="1"/>
          <p:nvPr/>
        </p:nvSpPr>
        <p:spPr>
          <a:xfrm>
            <a:off x="548640" y="50673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2" name="Text 19"/>
          <p:cNvSpPr txBox="1"/>
          <p:nvPr/>
        </p:nvSpPr>
        <p:spPr>
          <a:xfrm>
            <a:off x="1188720" y="4968240"/>
            <a:ext cx="6035040" cy="655320"/>
          </a:xfrm>
          <a:prstGeom prst="rect">
            <a:avLst/>
          </a:prstGeom>
          <a:noFill/>
          <a:ln/>
        </p:spPr>
        <p:txBody>
          <a:bodyPr wrap="square" lIns="0" tIns="0" rIns="0" bIns="0" rtlCol="0" anchor="ctr"/>
          <a:lstStyle/>
          <a:p>
            <a:pPr indent="0" marL="0">
              <a:buNone/>
            </a:pPr>
            <a:r>
              <a:rPr lang="en-US" sz="1600" b="1" dirty="0">
                <a:solidFill>
                  <a:schemeClr val="accent1"/>
                </a:solidFill>
              </a:rPr>
              <a:t>6.6  </a:t>
            </a:r>
            <a:pPr indent="0" marL="0">
              <a:buNone/>
            </a:pPr>
            <a:r>
              <a:rPr lang="en-US" sz="1600" dirty="0">
                <a:solidFill>
                  <a:schemeClr val="tx1"/>
                </a:solidFill>
              </a:rPr>
              <a:t>Export the Page to Word and PDF</a:t>
            </a:r>
            <a:endParaRPr lang="en-US" sz="1600" dirty="0"/>
          </a:p>
        </p:txBody>
      </p:sp>
      <p:sp>
        <p:nvSpPr>
          <p:cNvPr id="23" name="Checkpoint card"/>
          <p:cNvSpPr/>
          <p:nvPr/>
        </p:nvSpPr>
        <p:spPr>
          <a:xfrm>
            <a:off x="7680960" y="1691640"/>
            <a:ext cx="3959352" cy="2743200"/>
          </a:xfrm>
          <a:prstGeom prst="roundRect">
            <a:avLst>
              <a:gd name="adj" fmla="val 2667"/>
            </a:avLst>
          </a:prstGeom>
          <a:solidFill>
            <a:schemeClr val="accent1">
              <a:alpha val="12000"/>
            </a:schemeClr>
          </a:solidFill>
          <a:ln/>
        </p:spPr>
      </p:sp>
      <p:sp>
        <p:nvSpPr>
          <p:cNvPr id="24" name="Icon circle"/>
          <p:cNvSpPr/>
          <p:nvPr/>
        </p:nvSpPr>
        <p:spPr>
          <a:xfrm>
            <a:off x="7955280" y="1920240"/>
            <a:ext cx="548640" cy="548640"/>
          </a:xfrm>
          <a:prstGeom prst="ellipse">
            <a:avLst/>
          </a:prstGeom>
          <a:solidFill>
            <a:schemeClr val="accent1"/>
          </a:solidFill>
          <a:ln/>
        </p:spPr>
      </p:sp>
      <p:pic>
        <p:nvPicPr>
          <p:cNvPr id="25" name="Image 0" descr="preencoded.png">    </p:cNvPr>
          <p:cNvPicPr>
            <a:picLocks noChangeAspect="1"/>
          </p:cNvPicPr>
          <p:nvPr/>
        </p:nvPicPr>
        <p:blipFill>
          <a:blip r:embed="rId1"/>
          <a:stretch>
            <a:fillRect/>
          </a:stretch>
        </p:blipFill>
        <p:spPr>
          <a:xfrm>
            <a:off x="8092440" y="2057400"/>
            <a:ext cx="274320" cy="274320"/>
          </a:xfrm>
          <a:prstGeom prst="rect">
            <a:avLst/>
          </a:prstGeom>
        </p:spPr>
      </p:pic>
      <p:sp>
        <p:nvSpPr>
          <p:cNvPr id="26" name="Text 22"/>
          <p:cNvSpPr txBox="1"/>
          <p:nvPr/>
        </p:nvSpPr>
        <p:spPr>
          <a:xfrm>
            <a:off x="8641080" y="1920240"/>
            <a:ext cx="2834640" cy="548640"/>
          </a:xfrm>
          <a:prstGeom prst="rect">
            <a:avLst/>
          </a:prstGeom>
          <a:noFill/>
          <a:ln/>
        </p:spPr>
        <p:txBody>
          <a:bodyPr wrap="square" lIns="0" tIns="0" rIns="0" bIns="0" rtlCol="0" anchor="ctr"/>
          <a:lstStyle/>
          <a:p>
            <a:pPr indent="0" marL="0">
              <a:buNone/>
            </a:pPr>
            <a:r>
              <a:rPr lang="en-US" sz="1800" b="1" dirty="0">
                <a:solidFill>
                  <a:schemeClr val="tx2"/>
                </a:solidFill>
              </a:rPr>
              <a:t>Checkpoint</a:t>
            </a:r>
            <a:endParaRPr lang="en-US" sz="1800" dirty="0"/>
          </a:p>
        </p:txBody>
      </p:sp>
      <p:sp>
        <p:nvSpPr>
          <p:cNvPr id="27" name="Text 23"/>
          <p:cNvSpPr txBox="1"/>
          <p:nvPr/>
        </p:nvSpPr>
        <p:spPr>
          <a:xfrm>
            <a:off x="7955280" y="2606040"/>
            <a:ext cx="3474720" cy="1737360"/>
          </a:xfrm>
          <a:prstGeom prst="rect">
            <a:avLst/>
          </a:prstGeom>
          <a:noFill/>
          <a:ln/>
        </p:spPr>
        <p:txBody>
          <a:bodyPr wrap="square" lIns="0" tIns="0" rIns="0" bIns="0" rtlCol="0" anchor="t"/>
          <a:lstStyle/>
          <a:p>
            <a:pPr indent="0" marL="0">
              <a:buNone/>
            </a:pPr>
            <a:r>
              <a:rPr lang="en-US" sz="1500" dirty="0">
                <a:solidFill>
                  <a:schemeClr val="tx1"/>
                </a:solidFill>
              </a:rPr>
              <a:t>The memo covers every item in Section 7, the recommendation is conditional, and every figure matches your checks.</a:t>
            </a:r>
            <a:endParaRPr lang="en-US" sz="1500" dirty="0"/>
          </a:p>
        </p:txBody>
      </p:sp>
      <p:sp>
        <p:nvSpPr>
          <p:cNvPr id="28" name="Prompts card"/>
          <p:cNvSpPr/>
          <p:nvPr/>
        </p:nvSpPr>
        <p:spPr>
          <a:xfrm>
            <a:off x="7680960" y="4617720"/>
            <a:ext cx="3959352" cy="1234440"/>
          </a:xfrm>
          <a:prstGeom prst="roundRect">
            <a:avLst>
              <a:gd name="adj" fmla="val 5926"/>
            </a:avLst>
          </a:prstGeom>
          <a:solidFill>
            <a:schemeClr val="bg2"/>
          </a:solidFill>
          <a:ln/>
        </p:spPr>
      </p:sp>
      <p:sp>
        <p:nvSpPr>
          <p:cNvPr id="29" name="Icon circle"/>
          <p:cNvSpPr/>
          <p:nvPr/>
        </p:nvSpPr>
        <p:spPr>
          <a:xfrm>
            <a:off x="7955280" y="4892040"/>
            <a:ext cx="548640" cy="548640"/>
          </a:xfrm>
          <a:prstGeom prst="ellipse">
            <a:avLst/>
          </a:prstGeom>
          <a:solidFill>
            <a:schemeClr val="tx2"/>
          </a:solidFill>
          <a:ln/>
        </p:spPr>
      </p:sp>
      <p:pic>
        <p:nvPicPr>
          <p:cNvPr id="30" name="Image 1" descr="preencoded.png">    </p:cNvPr>
          <p:cNvPicPr>
            <a:picLocks noChangeAspect="1"/>
          </p:cNvPicPr>
          <p:nvPr/>
        </p:nvPicPr>
        <p:blipFill>
          <a:blip r:embed="rId2"/>
          <a:stretch>
            <a:fillRect/>
          </a:stretch>
        </p:blipFill>
        <p:spPr>
          <a:xfrm>
            <a:off x="8092440" y="5029200"/>
            <a:ext cx="274320" cy="274320"/>
          </a:xfrm>
          <a:prstGeom prst="rect">
            <a:avLst/>
          </a:prstGeom>
        </p:spPr>
      </p:pic>
      <p:sp>
        <p:nvSpPr>
          <p:cNvPr id="31" name="Text 26"/>
          <p:cNvSpPr txBox="1"/>
          <p:nvPr/>
        </p:nvSpPr>
        <p:spPr>
          <a:xfrm>
            <a:off x="8641080" y="4754880"/>
            <a:ext cx="2834640" cy="868680"/>
          </a:xfrm>
          <a:prstGeom prst="rect">
            <a:avLst/>
          </a:prstGeom>
          <a:noFill/>
          <a:ln/>
        </p:spPr>
        <p:txBody>
          <a:bodyPr wrap="square" lIns="0" tIns="0" rIns="0" bIns="0" rtlCol="0" anchor="ctr"/>
          <a:lstStyle/>
          <a:p>
            <a:pPr indent="0" marL="0">
              <a:buNone/>
            </a:pPr>
            <a:r>
              <a:rPr lang="en-US" sz="1600" b="1" dirty="0">
                <a:solidFill>
                  <a:schemeClr val="tx2"/>
                </a:solidFill>
              </a:rPr>
              <a:t>Prompts page</a:t>
            </a:r>
            <a:endParaRPr lang="en-US" sz="1600" dirty="0"/>
          </a:p>
          <a:p>
            <a:pPr indent="0" marL="0">
              <a:buNone/>
            </a:pPr>
            <a:r>
              <a:rPr lang="en-US" sz="1300" dirty="0">
                <a:solidFill>
                  <a:schemeClr val="accent4"/>
                </a:solidFill>
              </a:rPr>
              <a:t>Chapter 06: copy every prompt from there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731520" y="100584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07</a:t>
            </a:r>
            <a:endParaRPr lang="en-US" sz="9600" dirty="0"/>
          </a:p>
        </p:txBody>
      </p:sp>
      <p:sp>
        <p:nvSpPr>
          <p:cNvPr id="3" name="Text 0"/>
          <p:cNvSpPr/>
          <p:nvPr>
            <p:ph idx="101" type="title" hasCustomPrompt="1"/>
          </p:nvPr>
        </p:nvSpPr>
        <p:spPr>
          <a:xfrm>
            <a:off x="731520" y="256032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Keep it together in a Notebook</a:t>
            </a:r>
            <a:endParaRPr lang="en-US" sz="4400" dirty="0"/>
          </a:p>
        </p:txBody>
      </p:sp>
      <p:sp>
        <p:nvSpPr>
          <p:cNvPr id="4" name="Text 0"/>
          <p:cNvSpPr/>
          <p:nvPr>
            <p:ph idx="102" type="body" hasCustomPrompt="1"/>
          </p:nvPr>
        </p:nvSpPr>
        <p:spPr>
          <a:xfrm>
            <a:off x="731520" y="3840480"/>
            <a:ext cx="9601200" cy="1463040"/>
          </a:xfrm>
          <a:prstGeom prst="rect">
            <a:avLst/>
          </a:prstGeom>
          <a:noFill/>
          <a:ln/>
        </p:spPr>
        <p:txBody>
          <a:bodyPr wrap="square" lIns="0" tIns="0" rIns="0" bIns="0" rtlCol="0" anchor="t"/>
          <a:lstStyle/>
          <a:p>
            <a:pPr indent="0" marL="0">
              <a:buNone/>
            </a:pPr>
            <a:r>
              <a:rPr lang="en-US" sz="1800" b="1" dirty="0">
                <a:solidFill>
                  <a:schemeClr val="bg1"/>
                </a:solidFill>
              </a:rPr>
              <a:t>Stage: Organise  ·  30 minutes</a:t>
            </a:r>
            <a:endParaRPr lang="en-US" sz="1800" dirty="0"/>
          </a:p>
          <a:p>
            <a:pPr indent="0" marL="0">
              <a:buNone/>
            </a:pPr>
            <a:r>
              <a:rPr lang="en-US" sz="800" dirty="0">
                <a:solidFill>
                  <a:schemeClr val="bg2"/>
                </a:solidFill>
              </a:rPr>
              <a:t> </a:t>
            </a:r>
            <a:endParaRPr lang="en-US" sz="1800" dirty="0"/>
          </a:p>
          <a:p>
            <a:pPr indent="0" marL="0">
              <a:buNone/>
            </a:pPr>
            <a:r>
              <a:rPr lang="en-US" sz="1800" b="1" dirty="0">
                <a:solidFill>
                  <a:schemeClr val="bg2"/>
                </a:solidFill>
              </a:rPr>
              <a:t>Your result: </a:t>
            </a:r>
            <a:pPr indent="0" marL="0">
              <a:buNone/>
            </a:pPr>
            <a:r>
              <a:rPr lang="en-US" sz="1800" dirty="0">
                <a:solidFill>
                  <a:schemeClr val="bg2"/>
                </a:solidFill>
              </a:rPr>
              <a:t>a Notebook called Laptop purchase 2026 with the quotations, the policy and the memo, and a status update written from all of them.</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CHAPTER 07</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A Notebook answers from its references</a:t>
            </a:r>
            <a:endParaRPr lang="en-US" sz="3200" dirty="0"/>
          </a:p>
        </p:txBody>
      </p:sp>
      <p:sp>
        <p:nvSpPr>
          <p:cNvPr id="5" name="Screenshot frame"/>
          <p:cNvSpPr/>
          <p:nvPr/>
        </p:nvSpPr>
        <p:spPr>
          <a:xfrm>
            <a:off x="548640" y="1691640"/>
            <a:ext cx="6766560" cy="3806190"/>
          </a:xfrm>
          <a:prstGeom prst="rect">
            <a:avLst/>
          </a:prstGeom>
          <a:solidFill>
            <a:schemeClr val="bg1"/>
          </a:solidFill>
          <a:ln w="12700">
            <a:solidFill>
              <a:srgbClr val="F1F4F7"/>
            </a:solidFill>
            <a:prstDash val="solid"/>
          </a:ln>
          <a:effectLst>
            <a:outerShdw sx="100000" sy="100000" kx="0" ky="0" algn="bl" rotWithShape="0" blurRad="101600" dist="25400" dir="5400000">
              <a:srgbClr val="000000">
                <a:alpha val="18000"/>
              </a:srgbClr>
            </a:outerShdw>
          </a:effectLst>
        </p:spPr>
      </p:sp>
      <p:pic>
        <p:nvPicPr>
          <p:cNvPr id="6" name="Image 0" descr="A Notebook answering what's outstanding, with the references listed on the right">    </p:cNvPr>
          <p:cNvPicPr>
            <a:picLocks noChangeAspect="1"/>
          </p:cNvPicPr>
          <p:nvPr/>
        </p:nvPicPr>
        <p:blipFill>
          <a:blip r:embed="rId1"/>
          <a:stretch>
            <a:fillRect/>
          </a:stretch>
        </p:blipFill>
        <p:spPr>
          <a:xfrm>
            <a:off x="548640" y="1691640"/>
            <a:ext cx="6766560" cy="3806190"/>
          </a:xfrm>
          <a:prstGeom prst="rect">
            <a:avLst/>
          </a:prstGeom>
        </p:spPr>
      </p:pic>
      <p:sp>
        <p:nvSpPr>
          <p:cNvPr id="7" name="Text 3"/>
          <p:cNvSpPr txBox="1"/>
          <p:nvPr/>
        </p:nvSpPr>
        <p:spPr>
          <a:xfrm>
            <a:off x="7680960" y="1737360"/>
            <a:ext cx="3931920" cy="868680"/>
          </a:xfrm>
          <a:prstGeom prst="rect">
            <a:avLst/>
          </a:prstGeom>
          <a:noFill/>
          <a:ln/>
        </p:spPr>
        <p:txBody>
          <a:bodyPr wrap="square" lIns="0" tIns="0" rIns="0" bIns="0" rtlCol="0" anchor="t"/>
          <a:lstStyle/>
          <a:p>
            <a:pPr indent="0" marL="0">
              <a:buNone/>
            </a:pPr>
            <a:r>
              <a:rPr lang="en-US" sz="1600" b="1" dirty="0">
                <a:solidFill>
                  <a:schemeClr val="accent1"/>
                </a:solidFill>
              </a:rPr>
              <a:t>Create</a:t>
            </a:r>
            <a:endParaRPr lang="en-US" sz="1600" dirty="0"/>
          </a:p>
          <a:p>
            <a:pPr indent="0" marL="0">
              <a:buNone/>
            </a:pPr>
            <a:r>
              <a:rPr lang="en-US" sz="1600" dirty="0">
                <a:solidFill>
                  <a:schemeClr val="tx1"/>
                </a:solidFill>
              </a:rPr>
              <a:t>Name, Next, Create</a:t>
            </a:r>
            <a:endParaRPr lang="en-US" sz="1600" dirty="0"/>
          </a:p>
        </p:txBody>
      </p:sp>
      <p:sp>
        <p:nvSpPr>
          <p:cNvPr id="8" name="Text 4"/>
          <p:cNvSpPr txBox="1"/>
          <p:nvPr/>
        </p:nvSpPr>
        <p:spPr>
          <a:xfrm>
            <a:off x="7680960" y="2697480"/>
            <a:ext cx="3931920" cy="868680"/>
          </a:xfrm>
          <a:prstGeom prst="rect">
            <a:avLst/>
          </a:prstGeom>
          <a:noFill/>
          <a:ln/>
        </p:spPr>
        <p:txBody>
          <a:bodyPr wrap="square" lIns="0" tIns="0" rIns="0" bIns="0" rtlCol="0" anchor="t"/>
          <a:lstStyle/>
          <a:p>
            <a:pPr indent="0" marL="0">
              <a:buNone/>
            </a:pPr>
            <a:r>
              <a:rPr lang="en-US" sz="1600" b="1" dirty="0">
                <a:solidFill>
                  <a:schemeClr val="accent1"/>
                </a:solidFill>
              </a:rPr>
              <a:t>Add references</a:t>
            </a:r>
            <a:endParaRPr lang="en-US" sz="1600" dirty="0"/>
          </a:p>
          <a:p>
            <a:pPr indent="0" marL="0">
              <a:buNone/>
            </a:pPr>
            <a:r>
              <a:rPr lang="en-US" sz="1600" dirty="0">
                <a:solidFill>
                  <a:schemeClr val="tx1"/>
                </a:solidFill>
              </a:rPr>
              <a:t>Upload files or OneDrive files</a:t>
            </a:r>
            <a:endParaRPr lang="en-US" sz="1600" dirty="0"/>
          </a:p>
        </p:txBody>
      </p:sp>
      <p:sp>
        <p:nvSpPr>
          <p:cNvPr id="9" name="Text 5"/>
          <p:cNvSpPr txBox="1"/>
          <p:nvPr/>
        </p:nvSpPr>
        <p:spPr>
          <a:xfrm>
            <a:off x="7680960" y="3657600"/>
            <a:ext cx="3931920" cy="868680"/>
          </a:xfrm>
          <a:prstGeom prst="rect">
            <a:avLst/>
          </a:prstGeom>
          <a:noFill/>
          <a:ln/>
        </p:spPr>
        <p:txBody>
          <a:bodyPr wrap="square" lIns="0" tIns="0" rIns="0" bIns="0" rtlCol="0" anchor="t"/>
          <a:lstStyle/>
          <a:p>
            <a:pPr indent="0" marL="0">
              <a:buNone/>
            </a:pPr>
            <a:r>
              <a:rPr lang="en-US" sz="1600" b="1" dirty="0">
                <a:solidFill>
                  <a:schemeClr val="accent1"/>
                </a:solidFill>
              </a:rPr>
              <a:t>Inbox facts</a:t>
            </a:r>
            <a:endParaRPr lang="en-US" sz="1600" dirty="0"/>
          </a:p>
          <a:p>
            <a:pPr indent="0" marL="0">
              <a:buNone/>
            </a:pPr>
            <a:r>
              <a:rPr lang="en-US" sz="1600" dirty="0">
                <a:solidFill>
                  <a:schemeClr val="tx1"/>
                </a:solidFill>
              </a:rPr>
              <a:t>Add a New Page under Creations</a:t>
            </a:r>
            <a:endParaRPr lang="en-US" sz="1600" dirty="0"/>
          </a:p>
        </p:txBody>
      </p:sp>
      <p:sp>
        <p:nvSpPr>
          <p:cNvPr id="10" name="Text 6"/>
          <p:cNvSpPr txBox="1"/>
          <p:nvPr/>
        </p:nvSpPr>
        <p:spPr>
          <a:xfrm>
            <a:off x="7680960" y="4617720"/>
            <a:ext cx="3931920" cy="868680"/>
          </a:xfrm>
          <a:prstGeom prst="rect">
            <a:avLst/>
          </a:prstGeom>
          <a:noFill/>
          <a:ln/>
        </p:spPr>
        <p:txBody>
          <a:bodyPr wrap="square" lIns="0" tIns="0" rIns="0" bIns="0" rtlCol="0" anchor="t"/>
          <a:lstStyle/>
          <a:p>
            <a:pPr indent="0" marL="0">
              <a:buNone/>
            </a:pPr>
            <a:r>
              <a:rPr lang="en-US" sz="1600" b="1" dirty="0">
                <a:solidFill>
                  <a:schemeClr val="accent1"/>
                </a:solidFill>
              </a:rPr>
              <a:t>Keep it current</a:t>
            </a:r>
            <a:endParaRPr lang="en-US" sz="1600" dirty="0"/>
          </a:p>
          <a:p>
            <a:pPr indent="0" marL="0">
              <a:buNone/>
            </a:pPr>
            <a:r>
              <a:rPr lang="en-US" sz="1600" dirty="0">
                <a:solidFill>
                  <a:schemeClr val="tx1"/>
                </a:solidFill>
              </a:rPr>
              <a:t>Remove superseded documents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YOUR TURN  ·  CHAPTER 07</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File the purchase in one Notebook</a:t>
            </a:r>
            <a:endParaRPr lang="en-US" sz="3200" dirty="0"/>
          </a:p>
        </p:txBody>
      </p:sp>
      <p:sp>
        <p:nvSpPr>
          <p:cNvPr id="5" name="Number 1"/>
          <p:cNvSpPr/>
          <p:nvPr/>
        </p:nvSpPr>
        <p:spPr>
          <a:xfrm>
            <a:off x="548640" y="1792224"/>
            <a:ext cx="457200" cy="457200"/>
          </a:xfrm>
          <a:prstGeom prst="ellipse">
            <a:avLst/>
          </a:prstGeom>
          <a:solidFill>
            <a:schemeClr val="accent1"/>
          </a:solidFill>
          <a:ln/>
        </p:spPr>
      </p:sp>
      <p:sp>
        <p:nvSpPr>
          <p:cNvPr id="6" name="Text 3"/>
          <p:cNvSpPr txBox="1"/>
          <p:nvPr/>
        </p:nvSpPr>
        <p:spPr>
          <a:xfrm>
            <a:off x="548640" y="179222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4"/>
          <p:cNvSpPr txBox="1"/>
          <p:nvPr/>
        </p:nvSpPr>
        <p:spPr>
          <a:xfrm>
            <a:off x="1188720" y="1691640"/>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7.1  </a:t>
            </a:r>
            <a:pPr indent="0" marL="0">
              <a:buNone/>
            </a:pPr>
            <a:r>
              <a:rPr lang="en-US" sz="1600" dirty="0">
                <a:solidFill>
                  <a:schemeClr val="tx1"/>
                </a:solidFill>
              </a:rPr>
              <a:t>Create a Notebook called Laptop purchase 2026</a:t>
            </a:r>
            <a:endParaRPr lang="en-US" sz="1600" dirty="0"/>
          </a:p>
        </p:txBody>
      </p:sp>
      <p:sp>
        <p:nvSpPr>
          <p:cNvPr id="8" name="Number 2"/>
          <p:cNvSpPr/>
          <p:nvPr/>
        </p:nvSpPr>
        <p:spPr>
          <a:xfrm>
            <a:off x="548640" y="2450592"/>
            <a:ext cx="457200" cy="457200"/>
          </a:xfrm>
          <a:prstGeom prst="ellipse">
            <a:avLst/>
          </a:prstGeom>
          <a:solidFill>
            <a:schemeClr val="accent1"/>
          </a:solidFill>
          <a:ln/>
        </p:spPr>
      </p:sp>
      <p:sp>
        <p:nvSpPr>
          <p:cNvPr id="9" name="Text 6"/>
          <p:cNvSpPr txBox="1"/>
          <p:nvPr/>
        </p:nvSpPr>
        <p:spPr>
          <a:xfrm>
            <a:off x="548640" y="24505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1188720" y="2350008"/>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7.2  </a:t>
            </a:r>
            <a:pPr indent="0" marL="0">
              <a:buNone/>
            </a:pPr>
            <a:r>
              <a:rPr lang="en-US" sz="1600" dirty="0">
                <a:solidFill>
                  <a:schemeClr val="tx1"/>
                </a:solidFill>
              </a:rPr>
              <a:t>Add the quotations, the policy and your memo</a:t>
            </a:r>
            <a:endParaRPr lang="en-US" sz="1600" dirty="0"/>
          </a:p>
        </p:txBody>
      </p:sp>
      <p:sp>
        <p:nvSpPr>
          <p:cNvPr id="11" name="Number 3"/>
          <p:cNvSpPr/>
          <p:nvPr/>
        </p:nvSpPr>
        <p:spPr>
          <a:xfrm>
            <a:off x="548640" y="3108960"/>
            <a:ext cx="457200" cy="457200"/>
          </a:xfrm>
          <a:prstGeom prst="ellipse">
            <a:avLst/>
          </a:prstGeom>
          <a:solidFill>
            <a:schemeClr val="accent1"/>
          </a:solidFill>
          <a:ln/>
        </p:spPr>
      </p:sp>
      <p:sp>
        <p:nvSpPr>
          <p:cNvPr id="12" name="Text 9"/>
          <p:cNvSpPr txBox="1"/>
          <p:nvPr/>
        </p:nvSpPr>
        <p:spPr>
          <a:xfrm>
            <a:off x="548640" y="31089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0"/>
          <p:cNvSpPr txBox="1"/>
          <p:nvPr/>
        </p:nvSpPr>
        <p:spPr>
          <a:xfrm>
            <a:off x="1188720" y="3008376"/>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7.3  </a:t>
            </a:r>
            <a:pPr indent="0" marL="0">
              <a:buNone/>
            </a:pPr>
            <a:r>
              <a:rPr lang="en-US" sz="1600" dirty="0">
                <a:solidFill>
                  <a:schemeClr val="tx1"/>
                </a:solidFill>
              </a:rPr>
              <a:t>Ask questions across everything, with citations</a:t>
            </a:r>
            <a:endParaRPr lang="en-US" sz="1600" dirty="0"/>
          </a:p>
        </p:txBody>
      </p:sp>
      <p:sp>
        <p:nvSpPr>
          <p:cNvPr id="14" name="Number 4"/>
          <p:cNvSpPr/>
          <p:nvPr/>
        </p:nvSpPr>
        <p:spPr>
          <a:xfrm>
            <a:off x="548640" y="3767328"/>
            <a:ext cx="457200" cy="457200"/>
          </a:xfrm>
          <a:prstGeom prst="ellipse">
            <a:avLst/>
          </a:prstGeom>
          <a:solidFill>
            <a:schemeClr val="accent1"/>
          </a:solidFill>
          <a:ln/>
        </p:spPr>
      </p:sp>
      <p:sp>
        <p:nvSpPr>
          <p:cNvPr id="15" name="Text 12"/>
          <p:cNvSpPr txBox="1"/>
          <p:nvPr/>
        </p:nvSpPr>
        <p:spPr>
          <a:xfrm>
            <a:off x="548640" y="3767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6" name="Text 13"/>
          <p:cNvSpPr txBox="1"/>
          <p:nvPr/>
        </p:nvSpPr>
        <p:spPr>
          <a:xfrm>
            <a:off x="1188720" y="3666744"/>
            <a:ext cx="6035040" cy="658368"/>
          </a:xfrm>
          <a:prstGeom prst="rect">
            <a:avLst/>
          </a:prstGeom>
          <a:noFill/>
          <a:ln/>
        </p:spPr>
        <p:txBody>
          <a:bodyPr wrap="square" lIns="0" tIns="0" rIns="0" bIns="0" rtlCol="0" anchor="ctr"/>
          <a:lstStyle/>
          <a:p>
            <a:pPr indent="0" marL="0">
              <a:buNone/>
            </a:pPr>
            <a:r>
              <a:rPr lang="en-US" sz="1600" b="1" dirty="0">
                <a:solidFill>
                  <a:schemeClr val="accent1"/>
                </a:solidFill>
              </a:rPr>
              <a:t>7.4  </a:t>
            </a:r>
            <a:pPr indent="0" marL="0">
              <a:buNone/>
            </a:pPr>
            <a:r>
              <a:rPr lang="en-US" sz="1600" dirty="0">
                <a:solidFill>
                  <a:schemeClr val="tx1"/>
                </a:solidFill>
              </a:rPr>
              <a:t>Add the stock-hold fact on a New Page</a:t>
            </a:r>
            <a:endParaRPr lang="en-US" sz="1600" dirty="0"/>
          </a:p>
        </p:txBody>
      </p:sp>
      <p:sp>
        <p:nvSpPr>
          <p:cNvPr id="17" name="Checkpoint card"/>
          <p:cNvSpPr/>
          <p:nvPr/>
        </p:nvSpPr>
        <p:spPr>
          <a:xfrm>
            <a:off x="7680960" y="1691640"/>
            <a:ext cx="3959352" cy="2743200"/>
          </a:xfrm>
          <a:prstGeom prst="roundRect">
            <a:avLst>
              <a:gd name="adj" fmla="val 2667"/>
            </a:avLst>
          </a:prstGeom>
          <a:solidFill>
            <a:schemeClr val="accent1">
              <a:alpha val="12000"/>
            </a:schemeClr>
          </a:solidFill>
          <a:ln/>
        </p:spPr>
      </p:sp>
      <p:sp>
        <p:nvSpPr>
          <p:cNvPr id="18" name="Icon circle"/>
          <p:cNvSpPr/>
          <p:nvPr/>
        </p:nvSpPr>
        <p:spPr>
          <a:xfrm>
            <a:off x="7955280" y="1920240"/>
            <a:ext cx="548640" cy="548640"/>
          </a:xfrm>
          <a:prstGeom prst="ellipse">
            <a:avLst/>
          </a:prstGeom>
          <a:solidFill>
            <a:schemeClr val="accent1"/>
          </a:solidFill>
          <a:ln/>
        </p:spPr>
      </p:sp>
      <p:pic>
        <p:nvPicPr>
          <p:cNvPr id="19" name="Image 0" descr="preencoded.png">    </p:cNvPr>
          <p:cNvPicPr>
            <a:picLocks noChangeAspect="1"/>
          </p:cNvPicPr>
          <p:nvPr/>
        </p:nvPicPr>
        <p:blipFill>
          <a:blip r:embed="rId1"/>
          <a:stretch>
            <a:fillRect/>
          </a:stretch>
        </p:blipFill>
        <p:spPr>
          <a:xfrm>
            <a:off x="8092440" y="2057400"/>
            <a:ext cx="274320" cy="274320"/>
          </a:xfrm>
          <a:prstGeom prst="rect">
            <a:avLst/>
          </a:prstGeom>
        </p:spPr>
      </p:pic>
      <p:sp>
        <p:nvSpPr>
          <p:cNvPr id="20" name="Text 16"/>
          <p:cNvSpPr txBox="1"/>
          <p:nvPr/>
        </p:nvSpPr>
        <p:spPr>
          <a:xfrm>
            <a:off x="8641080" y="1920240"/>
            <a:ext cx="2834640" cy="548640"/>
          </a:xfrm>
          <a:prstGeom prst="rect">
            <a:avLst/>
          </a:prstGeom>
          <a:noFill/>
          <a:ln/>
        </p:spPr>
        <p:txBody>
          <a:bodyPr wrap="square" lIns="0" tIns="0" rIns="0" bIns="0" rtlCol="0" anchor="ctr"/>
          <a:lstStyle/>
          <a:p>
            <a:pPr indent="0" marL="0">
              <a:buNone/>
            </a:pPr>
            <a:r>
              <a:rPr lang="en-US" sz="1800" b="1" dirty="0">
                <a:solidFill>
                  <a:schemeClr val="tx2"/>
                </a:solidFill>
              </a:rPr>
              <a:t>Checkpoint</a:t>
            </a:r>
            <a:endParaRPr lang="en-US" sz="1800" dirty="0"/>
          </a:p>
        </p:txBody>
      </p:sp>
      <p:sp>
        <p:nvSpPr>
          <p:cNvPr id="21" name="Text 17"/>
          <p:cNvSpPr txBox="1"/>
          <p:nvPr/>
        </p:nvSpPr>
        <p:spPr>
          <a:xfrm>
            <a:off x="7955280" y="2606040"/>
            <a:ext cx="3474720" cy="1737360"/>
          </a:xfrm>
          <a:prstGeom prst="rect">
            <a:avLst/>
          </a:prstGeom>
          <a:noFill/>
          <a:ln/>
        </p:spPr>
        <p:txBody>
          <a:bodyPr wrap="square" lIns="0" tIns="0" rIns="0" bIns="0" rtlCol="0" anchor="t"/>
          <a:lstStyle/>
          <a:p>
            <a:pPr indent="0" marL="0">
              <a:buNone/>
            </a:pPr>
            <a:r>
              <a:rPr lang="en-US" sz="1500" dirty="0">
                <a:solidFill>
                  <a:schemeClr val="tx1"/>
                </a:solidFill>
              </a:rPr>
              <a:t>Copilot answers "what's still outstanding?" correctly, and cites the references it used.</a:t>
            </a:r>
            <a:endParaRPr lang="en-US" sz="1500" dirty="0"/>
          </a:p>
        </p:txBody>
      </p:sp>
      <p:sp>
        <p:nvSpPr>
          <p:cNvPr id="22" name="Prompts card"/>
          <p:cNvSpPr/>
          <p:nvPr/>
        </p:nvSpPr>
        <p:spPr>
          <a:xfrm>
            <a:off x="7680960" y="4617720"/>
            <a:ext cx="3959352" cy="1234440"/>
          </a:xfrm>
          <a:prstGeom prst="roundRect">
            <a:avLst>
              <a:gd name="adj" fmla="val 5926"/>
            </a:avLst>
          </a:prstGeom>
          <a:solidFill>
            <a:schemeClr val="bg2"/>
          </a:solidFill>
          <a:ln/>
        </p:spPr>
      </p:sp>
      <p:sp>
        <p:nvSpPr>
          <p:cNvPr id="23" name="Icon circle"/>
          <p:cNvSpPr/>
          <p:nvPr/>
        </p:nvSpPr>
        <p:spPr>
          <a:xfrm>
            <a:off x="7955280" y="4892040"/>
            <a:ext cx="548640" cy="548640"/>
          </a:xfrm>
          <a:prstGeom prst="ellipse">
            <a:avLst/>
          </a:prstGeom>
          <a:solidFill>
            <a:schemeClr val="tx2"/>
          </a:solidFill>
          <a:ln/>
        </p:spPr>
      </p:sp>
      <p:pic>
        <p:nvPicPr>
          <p:cNvPr id="24" name="Image 1" descr="preencoded.png">    </p:cNvPr>
          <p:cNvPicPr>
            <a:picLocks noChangeAspect="1"/>
          </p:cNvPicPr>
          <p:nvPr/>
        </p:nvPicPr>
        <p:blipFill>
          <a:blip r:embed="rId2"/>
          <a:stretch>
            <a:fillRect/>
          </a:stretch>
        </p:blipFill>
        <p:spPr>
          <a:xfrm>
            <a:off x="8092440" y="5029200"/>
            <a:ext cx="274320" cy="274320"/>
          </a:xfrm>
          <a:prstGeom prst="rect">
            <a:avLst/>
          </a:prstGeom>
        </p:spPr>
      </p:pic>
      <p:sp>
        <p:nvSpPr>
          <p:cNvPr id="25" name="Text 20"/>
          <p:cNvSpPr txBox="1"/>
          <p:nvPr/>
        </p:nvSpPr>
        <p:spPr>
          <a:xfrm>
            <a:off x="8641080" y="4754880"/>
            <a:ext cx="2834640" cy="868680"/>
          </a:xfrm>
          <a:prstGeom prst="rect">
            <a:avLst/>
          </a:prstGeom>
          <a:noFill/>
          <a:ln/>
        </p:spPr>
        <p:txBody>
          <a:bodyPr wrap="square" lIns="0" tIns="0" rIns="0" bIns="0" rtlCol="0" anchor="ctr"/>
          <a:lstStyle/>
          <a:p>
            <a:pPr indent="0" marL="0">
              <a:buNone/>
            </a:pPr>
            <a:r>
              <a:rPr lang="en-US" sz="1600" b="1" dirty="0">
                <a:solidFill>
                  <a:schemeClr val="tx2"/>
                </a:solidFill>
              </a:rPr>
              <a:t>Prompts page</a:t>
            </a:r>
            <a:endParaRPr lang="en-US" sz="1600" dirty="0"/>
          </a:p>
          <a:p>
            <a:pPr indent="0" marL="0">
              <a:buNone/>
            </a:pPr>
            <a:r>
              <a:rPr lang="en-US" sz="1300" dirty="0">
                <a:solidFill>
                  <a:schemeClr val="accent4"/>
                </a:solidFill>
              </a:rPr>
              <a:t>Chapter 07: copy every prompt from there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731520" y="100584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08</a:t>
            </a:r>
            <a:endParaRPr lang="en-US" sz="9600" dirty="0"/>
          </a:p>
        </p:txBody>
      </p:sp>
      <p:sp>
        <p:nvSpPr>
          <p:cNvPr id="3" name="Text 0"/>
          <p:cNvSpPr/>
          <p:nvPr>
            <p:ph idx="101" type="title" hasCustomPrompt="1"/>
          </p:nvPr>
        </p:nvSpPr>
        <p:spPr>
          <a:xfrm>
            <a:off x="731520" y="256032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Build a Quotation Checker agent</a:t>
            </a:r>
            <a:endParaRPr lang="en-US" sz="4400" dirty="0"/>
          </a:p>
        </p:txBody>
      </p:sp>
      <p:sp>
        <p:nvSpPr>
          <p:cNvPr id="4" name="Text 0"/>
          <p:cNvSpPr/>
          <p:nvPr>
            <p:ph idx="102" type="body" hasCustomPrompt="1"/>
          </p:nvPr>
        </p:nvSpPr>
        <p:spPr>
          <a:xfrm>
            <a:off x="731520" y="3840480"/>
            <a:ext cx="9601200" cy="1463040"/>
          </a:xfrm>
          <a:prstGeom prst="rect">
            <a:avLst/>
          </a:prstGeom>
          <a:noFill/>
          <a:ln/>
        </p:spPr>
        <p:txBody>
          <a:bodyPr wrap="square" lIns="0" tIns="0" rIns="0" bIns="0" rtlCol="0" anchor="t"/>
          <a:lstStyle/>
          <a:p>
            <a:pPr indent="0" marL="0">
              <a:buNone/>
            </a:pPr>
            <a:r>
              <a:rPr lang="en-US" sz="1800" b="1" dirty="0">
                <a:solidFill>
                  <a:schemeClr val="bg1"/>
                </a:solidFill>
              </a:rPr>
              <a:t>Stage: Reuse  ·  45 minutes</a:t>
            </a:r>
            <a:endParaRPr lang="en-US" sz="1800" dirty="0"/>
          </a:p>
          <a:p>
            <a:pPr indent="0" marL="0">
              <a:buNone/>
            </a:pPr>
            <a:r>
              <a:rPr lang="en-US" sz="800" dirty="0">
                <a:solidFill>
                  <a:schemeClr val="bg2"/>
                </a:solidFill>
              </a:rPr>
              <a:t> </a:t>
            </a:r>
            <a:endParaRPr lang="en-US" sz="1800" dirty="0"/>
          </a:p>
          <a:p>
            <a:pPr indent="0" marL="0">
              <a:buNone/>
            </a:pPr>
            <a:r>
              <a:rPr lang="en-US" sz="1800" b="1" dirty="0">
                <a:solidFill>
                  <a:schemeClr val="bg2"/>
                </a:solidFill>
              </a:rPr>
              <a:t>Your result: </a:t>
            </a:r>
            <a:pPr indent="0" marL="0">
              <a:buNone/>
            </a:pPr>
            <a:r>
              <a:rPr lang="en-US" sz="1800" dirty="0">
                <a:solidFill>
                  <a:schemeClr val="bg2"/>
                </a:solidFill>
              </a:rPr>
              <a:t>a Quotation Checker agent that checks validity, arithmetic, tax, warranty and delivery on any quotation, shared with a colleague.</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CHAPTER 08</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What goes into an agent</a:t>
            </a:r>
            <a:endParaRPr lang="en-US" sz="3200" dirty="0"/>
          </a:p>
        </p:txBody>
      </p:sp>
      <p:sp>
        <p:nvSpPr>
          <p:cNvPr id="5" name="Agent part card"/>
          <p:cNvSpPr/>
          <p:nvPr/>
        </p:nvSpPr>
        <p:spPr>
          <a:xfrm>
            <a:off x="548640" y="1783080"/>
            <a:ext cx="2633472" cy="3200400"/>
          </a:xfrm>
          <a:prstGeom prst="roundRect">
            <a:avLst>
              <a:gd name="adj" fmla="val 2778"/>
            </a:avLst>
          </a:prstGeom>
          <a:solidFill>
            <a:schemeClr val="bg2"/>
          </a:solidFill>
          <a:ln/>
        </p:spPr>
      </p:sp>
      <p:sp>
        <p:nvSpPr>
          <p:cNvPr id="6" name="Icon circle"/>
          <p:cNvSpPr/>
          <p:nvPr/>
        </p:nvSpPr>
        <p:spPr>
          <a:xfrm>
            <a:off x="822960" y="2057400"/>
            <a:ext cx="777240" cy="777240"/>
          </a:xfrm>
          <a:prstGeom prst="ellipse">
            <a:avLst/>
          </a:prstGeom>
          <a:solidFill>
            <a:schemeClr val="tx2"/>
          </a:solidFill>
          <a:ln/>
        </p:spPr>
      </p:sp>
      <p:pic>
        <p:nvPicPr>
          <p:cNvPr id="7" name="Image 0" descr="preencoded.png">    </p:cNvPr>
          <p:cNvPicPr>
            <a:picLocks noChangeAspect="1"/>
          </p:cNvPicPr>
          <p:nvPr/>
        </p:nvPicPr>
        <p:blipFill>
          <a:blip r:embed="rId1"/>
          <a:stretch>
            <a:fillRect/>
          </a:stretch>
        </p:blipFill>
        <p:spPr>
          <a:xfrm>
            <a:off x="1017270" y="2251710"/>
            <a:ext cx="388620" cy="388620"/>
          </a:xfrm>
          <a:prstGeom prst="rect">
            <a:avLst/>
          </a:prstGeom>
        </p:spPr>
      </p:pic>
      <p:sp>
        <p:nvSpPr>
          <p:cNvPr id="8" name="Text 4"/>
          <p:cNvSpPr txBox="1"/>
          <p:nvPr/>
        </p:nvSpPr>
        <p:spPr>
          <a:xfrm>
            <a:off x="822960" y="3017520"/>
            <a:ext cx="2194560" cy="731520"/>
          </a:xfrm>
          <a:prstGeom prst="rect">
            <a:avLst/>
          </a:prstGeom>
          <a:noFill/>
          <a:ln/>
        </p:spPr>
        <p:txBody>
          <a:bodyPr wrap="square" lIns="0" tIns="0" rIns="0" bIns="0" rtlCol="0" anchor="t"/>
          <a:lstStyle/>
          <a:p>
            <a:pPr indent="0" marL="0">
              <a:buNone/>
            </a:pPr>
            <a:r>
              <a:rPr lang="en-US" sz="2000" b="1" dirty="0">
                <a:solidFill>
                  <a:schemeClr val="tx2"/>
                </a:solidFill>
              </a:rPr>
              <a:t>Name and description</a:t>
            </a:r>
            <a:endParaRPr lang="en-US" sz="2000" dirty="0"/>
          </a:p>
        </p:txBody>
      </p:sp>
      <p:sp>
        <p:nvSpPr>
          <p:cNvPr id="9" name="Text 5"/>
          <p:cNvSpPr txBox="1"/>
          <p:nvPr/>
        </p:nvSpPr>
        <p:spPr>
          <a:xfrm>
            <a:off x="822960" y="3749040"/>
            <a:ext cx="2148840" cy="1005840"/>
          </a:xfrm>
          <a:prstGeom prst="rect">
            <a:avLst/>
          </a:prstGeom>
          <a:noFill/>
          <a:ln/>
        </p:spPr>
        <p:txBody>
          <a:bodyPr wrap="square" lIns="0" tIns="0" rIns="0" bIns="0" rtlCol="0" anchor="t"/>
          <a:lstStyle/>
          <a:p>
            <a:pPr indent="0" marL="0">
              <a:buNone/>
            </a:pPr>
            <a:r>
              <a:rPr lang="en-US" sz="1600" dirty="0">
                <a:solidFill>
                  <a:schemeClr val="tx1"/>
                </a:solidFill>
              </a:rPr>
              <a:t>Quotation Checker, and what it's for</a:t>
            </a:r>
            <a:endParaRPr lang="en-US" sz="1600" dirty="0"/>
          </a:p>
        </p:txBody>
      </p:sp>
      <p:sp>
        <p:nvSpPr>
          <p:cNvPr id="10" name="Agent part card"/>
          <p:cNvSpPr/>
          <p:nvPr/>
        </p:nvSpPr>
        <p:spPr>
          <a:xfrm>
            <a:off x="3364992" y="1783080"/>
            <a:ext cx="2633472" cy="3200400"/>
          </a:xfrm>
          <a:prstGeom prst="roundRect">
            <a:avLst>
              <a:gd name="adj" fmla="val 2778"/>
            </a:avLst>
          </a:prstGeom>
          <a:solidFill>
            <a:schemeClr val="tx2"/>
          </a:solidFill>
          <a:ln/>
        </p:spPr>
      </p:sp>
      <p:sp>
        <p:nvSpPr>
          <p:cNvPr id="11" name="Icon circle"/>
          <p:cNvSpPr/>
          <p:nvPr/>
        </p:nvSpPr>
        <p:spPr>
          <a:xfrm>
            <a:off x="3639312" y="2057400"/>
            <a:ext cx="777240" cy="777240"/>
          </a:xfrm>
          <a:prstGeom prst="ellipse">
            <a:avLst/>
          </a:prstGeom>
          <a:solidFill>
            <a:schemeClr val="accent1"/>
          </a:solidFill>
          <a:ln/>
        </p:spPr>
      </p:sp>
      <p:pic>
        <p:nvPicPr>
          <p:cNvPr id="12" name="Image 1" descr="preencoded.png">    </p:cNvPr>
          <p:cNvPicPr>
            <a:picLocks noChangeAspect="1"/>
          </p:cNvPicPr>
          <p:nvPr/>
        </p:nvPicPr>
        <p:blipFill>
          <a:blip r:embed="rId2"/>
          <a:stretch>
            <a:fillRect/>
          </a:stretch>
        </p:blipFill>
        <p:spPr>
          <a:xfrm>
            <a:off x="3833622" y="2251710"/>
            <a:ext cx="388620" cy="388620"/>
          </a:xfrm>
          <a:prstGeom prst="rect">
            <a:avLst/>
          </a:prstGeom>
        </p:spPr>
      </p:pic>
      <p:sp>
        <p:nvSpPr>
          <p:cNvPr id="13" name="Text 8"/>
          <p:cNvSpPr txBox="1"/>
          <p:nvPr/>
        </p:nvSpPr>
        <p:spPr>
          <a:xfrm>
            <a:off x="3639312" y="3017520"/>
            <a:ext cx="2194560" cy="731520"/>
          </a:xfrm>
          <a:prstGeom prst="rect">
            <a:avLst/>
          </a:prstGeom>
          <a:noFill/>
          <a:ln/>
        </p:spPr>
        <p:txBody>
          <a:bodyPr wrap="square" lIns="0" tIns="0" rIns="0" bIns="0" rtlCol="0" anchor="t"/>
          <a:lstStyle/>
          <a:p>
            <a:pPr indent="0" marL="0">
              <a:buNone/>
            </a:pPr>
            <a:r>
              <a:rPr lang="en-US" sz="2000" b="1" dirty="0">
                <a:solidFill>
                  <a:schemeClr val="bg1"/>
                </a:solidFill>
              </a:rPr>
              <a:t>Instructions</a:t>
            </a:r>
            <a:endParaRPr lang="en-US" sz="2000" dirty="0"/>
          </a:p>
        </p:txBody>
      </p:sp>
      <p:sp>
        <p:nvSpPr>
          <p:cNvPr id="14" name="Text 9"/>
          <p:cNvSpPr txBox="1"/>
          <p:nvPr/>
        </p:nvSpPr>
        <p:spPr>
          <a:xfrm>
            <a:off x="3639312" y="3749040"/>
            <a:ext cx="2148840" cy="1005840"/>
          </a:xfrm>
          <a:prstGeom prst="rect">
            <a:avLst/>
          </a:prstGeom>
          <a:noFill/>
          <a:ln/>
        </p:spPr>
        <p:txBody>
          <a:bodyPr wrap="square" lIns="0" tIns="0" rIns="0" bIns="0" rtlCol="0" anchor="t"/>
          <a:lstStyle/>
          <a:p>
            <a:pPr indent="0" marL="0">
              <a:buNone/>
            </a:pPr>
            <a:r>
              <a:rPr lang="en-US" sz="1600" dirty="0">
                <a:solidFill>
                  <a:schemeClr val="bg1"/>
                </a:solidFill>
              </a:rPr>
              <a:t>The Chapter 4 checks, as numbered steps</a:t>
            </a:r>
            <a:endParaRPr lang="en-US" sz="1600" dirty="0"/>
          </a:p>
        </p:txBody>
      </p:sp>
      <p:sp>
        <p:nvSpPr>
          <p:cNvPr id="15" name="Agent part card"/>
          <p:cNvSpPr/>
          <p:nvPr/>
        </p:nvSpPr>
        <p:spPr>
          <a:xfrm>
            <a:off x="6181344" y="1783080"/>
            <a:ext cx="2633472" cy="3200400"/>
          </a:xfrm>
          <a:prstGeom prst="roundRect">
            <a:avLst>
              <a:gd name="adj" fmla="val 2778"/>
            </a:avLst>
          </a:prstGeom>
          <a:solidFill>
            <a:schemeClr val="bg2"/>
          </a:solidFill>
          <a:ln/>
        </p:spPr>
      </p:sp>
      <p:sp>
        <p:nvSpPr>
          <p:cNvPr id="16" name="Icon circle"/>
          <p:cNvSpPr/>
          <p:nvPr/>
        </p:nvSpPr>
        <p:spPr>
          <a:xfrm>
            <a:off x="6455664" y="2057400"/>
            <a:ext cx="777240" cy="777240"/>
          </a:xfrm>
          <a:prstGeom prst="ellipse">
            <a:avLst/>
          </a:prstGeom>
          <a:solidFill>
            <a:schemeClr val="tx2"/>
          </a:solidFill>
          <a:ln/>
        </p:spPr>
      </p:sp>
      <p:pic>
        <p:nvPicPr>
          <p:cNvPr id="17" name="Image 2" descr="preencoded.png">    </p:cNvPr>
          <p:cNvPicPr>
            <a:picLocks noChangeAspect="1"/>
          </p:cNvPicPr>
          <p:nvPr/>
        </p:nvPicPr>
        <p:blipFill>
          <a:blip r:embed="rId3"/>
          <a:stretch>
            <a:fillRect/>
          </a:stretch>
        </p:blipFill>
        <p:spPr>
          <a:xfrm>
            <a:off x="6649974" y="2251710"/>
            <a:ext cx="388620" cy="388620"/>
          </a:xfrm>
          <a:prstGeom prst="rect">
            <a:avLst/>
          </a:prstGeom>
        </p:spPr>
      </p:pic>
      <p:sp>
        <p:nvSpPr>
          <p:cNvPr id="18" name="Text 12"/>
          <p:cNvSpPr txBox="1"/>
          <p:nvPr/>
        </p:nvSpPr>
        <p:spPr>
          <a:xfrm>
            <a:off x="6455664" y="3017520"/>
            <a:ext cx="2194560" cy="731520"/>
          </a:xfrm>
          <a:prstGeom prst="rect">
            <a:avLst/>
          </a:prstGeom>
          <a:noFill/>
          <a:ln/>
        </p:spPr>
        <p:txBody>
          <a:bodyPr wrap="square" lIns="0" tIns="0" rIns="0" bIns="0" rtlCol="0" anchor="t"/>
          <a:lstStyle/>
          <a:p>
            <a:pPr indent="0" marL="0">
              <a:buNone/>
            </a:pPr>
            <a:r>
              <a:rPr lang="en-US" sz="2000" b="1" dirty="0">
                <a:solidFill>
                  <a:schemeClr val="tx2"/>
                </a:solidFill>
              </a:rPr>
              <a:t>Suggested prompts</a:t>
            </a:r>
            <a:endParaRPr lang="en-US" sz="2000" dirty="0"/>
          </a:p>
        </p:txBody>
      </p:sp>
      <p:sp>
        <p:nvSpPr>
          <p:cNvPr id="19" name="Text 13"/>
          <p:cNvSpPr txBox="1"/>
          <p:nvPr/>
        </p:nvSpPr>
        <p:spPr>
          <a:xfrm>
            <a:off x="6455664" y="3749040"/>
            <a:ext cx="2148840" cy="1005840"/>
          </a:xfrm>
          <a:prstGeom prst="rect">
            <a:avLst/>
          </a:prstGeom>
          <a:noFill/>
          <a:ln/>
        </p:spPr>
        <p:txBody>
          <a:bodyPr wrap="square" lIns="0" tIns="0" rIns="0" bIns="0" rtlCol="0" anchor="t"/>
          <a:lstStyle/>
          <a:p>
            <a:pPr indent="0" marL="0">
              <a:buNone/>
            </a:pPr>
            <a:r>
              <a:rPr lang="en-US" sz="1600" dirty="0">
                <a:solidFill>
                  <a:schemeClr val="tx1"/>
                </a:solidFill>
              </a:rPr>
              <a:t>Buttons people see when they open it</a:t>
            </a:r>
            <a:endParaRPr lang="en-US" sz="1600" dirty="0"/>
          </a:p>
        </p:txBody>
      </p:sp>
      <p:sp>
        <p:nvSpPr>
          <p:cNvPr id="20" name="Agent part card"/>
          <p:cNvSpPr/>
          <p:nvPr/>
        </p:nvSpPr>
        <p:spPr>
          <a:xfrm>
            <a:off x="8997696" y="1783080"/>
            <a:ext cx="2633472" cy="3200400"/>
          </a:xfrm>
          <a:prstGeom prst="roundRect">
            <a:avLst>
              <a:gd name="adj" fmla="val 2778"/>
            </a:avLst>
          </a:prstGeom>
          <a:solidFill>
            <a:schemeClr val="bg2"/>
          </a:solidFill>
          <a:ln/>
        </p:spPr>
      </p:sp>
      <p:sp>
        <p:nvSpPr>
          <p:cNvPr id="21" name="Icon circle"/>
          <p:cNvSpPr/>
          <p:nvPr/>
        </p:nvSpPr>
        <p:spPr>
          <a:xfrm>
            <a:off x="9272016" y="2057400"/>
            <a:ext cx="777240" cy="777240"/>
          </a:xfrm>
          <a:prstGeom prst="ellipse">
            <a:avLst/>
          </a:prstGeom>
          <a:solidFill>
            <a:schemeClr val="tx2"/>
          </a:solidFill>
          <a:ln/>
        </p:spPr>
      </p:sp>
      <p:pic>
        <p:nvPicPr>
          <p:cNvPr id="22" name="Image 3" descr="preencoded.png">    </p:cNvPr>
          <p:cNvPicPr>
            <a:picLocks noChangeAspect="1"/>
          </p:cNvPicPr>
          <p:nvPr/>
        </p:nvPicPr>
        <p:blipFill>
          <a:blip r:embed="rId4"/>
          <a:stretch>
            <a:fillRect/>
          </a:stretch>
        </p:blipFill>
        <p:spPr>
          <a:xfrm>
            <a:off x="9466326" y="2251710"/>
            <a:ext cx="388620" cy="388620"/>
          </a:xfrm>
          <a:prstGeom prst="rect">
            <a:avLst/>
          </a:prstGeom>
        </p:spPr>
      </p:pic>
      <p:sp>
        <p:nvSpPr>
          <p:cNvPr id="23" name="Text 16"/>
          <p:cNvSpPr txBox="1"/>
          <p:nvPr/>
        </p:nvSpPr>
        <p:spPr>
          <a:xfrm>
            <a:off x="9272016" y="3017520"/>
            <a:ext cx="2194560" cy="731520"/>
          </a:xfrm>
          <a:prstGeom prst="rect">
            <a:avLst/>
          </a:prstGeom>
          <a:noFill/>
          <a:ln/>
        </p:spPr>
        <p:txBody>
          <a:bodyPr wrap="square" lIns="0" tIns="0" rIns="0" bIns="0" rtlCol="0" anchor="t"/>
          <a:lstStyle/>
          <a:p>
            <a:pPr indent="0" marL="0">
              <a:buNone/>
            </a:pPr>
            <a:r>
              <a:rPr lang="en-US" sz="2000" b="1" dirty="0">
                <a:solidFill>
                  <a:schemeClr val="tx2"/>
                </a:solidFill>
              </a:rPr>
              <a:t>Web search off</a:t>
            </a:r>
            <a:endParaRPr lang="en-US" sz="2000" dirty="0"/>
          </a:p>
        </p:txBody>
      </p:sp>
      <p:sp>
        <p:nvSpPr>
          <p:cNvPr id="24" name="Text 17"/>
          <p:cNvSpPr txBox="1"/>
          <p:nvPr/>
        </p:nvSpPr>
        <p:spPr>
          <a:xfrm>
            <a:off x="9272016" y="3749040"/>
            <a:ext cx="2148840" cy="1005840"/>
          </a:xfrm>
          <a:prstGeom prst="rect">
            <a:avLst/>
          </a:prstGeom>
          <a:noFill/>
          <a:ln/>
        </p:spPr>
        <p:txBody>
          <a:bodyPr wrap="square" lIns="0" tIns="0" rIns="0" bIns="0" rtlCol="0" anchor="t"/>
          <a:lstStyle/>
          <a:p>
            <a:pPr indent="0" marL="0">
              <a:buNone/>
            </a:pPr>
            <a:r>
              <a:rPr lang="en-US" sz="1600" dirty="0">
                <a:solidFill>
                  <a:schemeClr val="tx1"/>
                </a:solidFill>
              </a:rPr>
              <a:t>It sticks to the quotations you upload</a:t>
            </a:r>
            <a:endParaRPr lang="en-US" sz="1600" dirty="0"/>
          </a:p>
        </p:txBody>
      </p:sp>
      <p:sp>
        <p:nvSpPr>
          <p:cNvPr id="25" name="Text 18"/>
          <p:cNvSpPr txBox="1"/>
          <p:nvPr/>
        </p:nvSpPr>
        <p:spPr>
          <a:xfrm>
            <a:off x="548640" y="5303520"/>
            <a:ext cx="11064240" cy="548640"/>
          </a:xfrm>
          <a:prstGeom prst="rect">
            <a:avLst/>
          </a:prstGeom>
          <a:noFill/>
          <a:ln/>
        </p:spPr>
        <p:txBody>
          <a:bodyPr wrap="square" lIns="0" tIns="0" rIns="0" bIns="0" rtlCol="0" anchor="ctr"/>
          <a:lstStyle/>
          <a:p>
            <a:pPr indent="0" marL="0">
              <a:buNone/>
            </a:pPr>
            <a:r>
              <a:rPr lang="en-US" sz="2000" b="1" dirty="0">
                <a:solidFill>
                  <a:schemeClr val="tx2"/>
                </a:solidFill>
              </a:rPr>
              <a:t>An agent is only as good as its instructions.</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CHAPTER 08</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Create it, test it, then fix the instructions</a:t>
            </a:r>
            <a:endParaRPr lang="en-US" sz="3200" dirty="0"/>
          </a:p>
        </p:txBody>
      </p:sp>
      <p:sp>
        <p:nvSpPr>
          <p:cNvPr id="5" name="Screenshot frame"/>
          <p:cNvSpPr/>
          <p:nvPr/>
        </p:nvSpPr>
        <p:spPr>
          <a:xfrm>
            <a:off x="548640" y="1691640"/>
            <a:ext cx="6766560" cy="3806190"/>
          </a:xfrm>
          <a:prstGeom prst="rect">
            <a:avLst/>
          </a:prstGeom>
          <a:solidFill>
            <a:schemeClr val="bg1"/>
          </a:solidFill>
          <a:ln w="12700">
            <a:solidFill>
              <a:srgbClr val="F1F4F7"/>
            </a:solidFill>
            <a:prstDash val="solid"/>
          </a:ln>
          <a:effectLst>
            <a:outerShdw sx="100000" sy="100000" kx="0" ky="0" algn="bl" rotWithShape="0" blurRad="101600" dist="25400" dir="5400000">
              <a:srgbClr val="000000">
                <a:alpha val="18000"/>
              </a:srgbClr>
            </a:outerShdw>
          </a:effectLst>
        </p:spPr>
      </p:sp>
      <p:pic>
        <p:nvPicPr>
          <p:cNvPr id="6" name="Image 0" descr="The Quotation Checker showing the printed and recalculated grand totals side by side">    </p:cNvPr>
          <p:cNvPicPr>
            <a:picLocks noChangeAspect="1"/>
          </p:cNvPicPr>
          <p:nvPr/>
        </p:nvPicPr>
        <p:blipFill>
          <a:blip r:embed="rId1"/>
          <a:stretch>
            <a:fillRect/>
          </a:stretch>
        </p:blipFill>
        <p:spPr>
          <a:xfrm>
            <a:off x="548640" y="1691640"/>
            <a:ext cx="6766560" cy="3806190"/>
          </a:xfrm>
          <a:prstGeom prst="rect">
            <a:avLst/>
          </a:prstGeom>
        </p:spPr>
      </p:pic>
      <p:sp>
        <p:nvSpPr>
          <p:cNvPr id="7" name="Text 3"/>
          <p:cNvSpPr txBox="1"/>
          <p:nvPr/>
        </p:nvSpPr>
        <p:spPr>
          <a:xfrm>
            <a:off x="7680960" y="1737360"/>
            <a:ext cx="3931920" cy="411480"/>
          </a:xfrm>
          <a:prstGeom prst="rect">
            <a:avLst/>
          </a:prstGeom>
          <a:noFill/>
          <a:ln/>
        </p:spPr>
        <p:txBody>
          <a:bodyPr wrap="square" lIns="0" tIns="0" rIns="0" bIns="0" rtlCol="0" anchor="ctr"/>
          <a:lstStyle/>
          <a:p>
            <a:pPr indent="0" marL="0">
              <a:buNone/>
            </a:pPr>
            <a:r>
              <a:rPr lang="en-US" sz="1800" b="1" dirty="0">
                <a:solidFill>
                  <a:schemeClr val="tx2"/>
                </a:solidFill>
              </a:rPr>
              <a:t>The fix line</a:t>
            </a:r>
            <a:endParaRPr lang="en-US" sz="1800" dirty="0"/>
          </a:p>
        </p:txBody>
      </p:sp>
      <p:sp>
        <p:nvSpPr>
          <p:cNvPr id="8" name="Fix line card"/>
          <p:cNvSpPr/>
          <p:nvPr/>
        </p:nvSpPr>
        <p:spPr>
          <a:xfrm>
            <a:off x="7680960" y="2240280"/>
            <a:ext cx="3959352" cy="1920240"/>
          </a:xfrm>
          <a:prstGeom prst="roundRect">
            <a:avLst>
              <a:gd name="adj" fmla="val 3810"/>
            </a:avLst>
          </a:prstGeom>
          <a:solidFill>
            <a:schemeClr val="tx2"/>
          </a:solidFill>
          <a:ln/>
        </p:spPr>
      </p:sp>
      <p:sp>
        <p:nvSpPr>
          <p:cNvPr id="9" name="Text 5"/>
          <p:cNvSpPr txBox="1"/>
          <p:nvPr/>
        </p:nvSpPr>
        <p:spPr>
          <a:xfrm>
            <a:off x="7909560" y="2331720"/>
            <a:ext cx="3520440" cy="173736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Before comparing, write out subtotal + tax = your total as a sum. Never assume the printed grand total is correct.</a:t>
            </a:r>
            <a:endParaRPr lang="en-US" sz="1500" dirty="0"/>
          </a:p>
        </p:txBody>
      </p:sp>
      <p:sp>
        <p:nvSpPr>
          <p:cNvPr id="10" name="Text 6"/>
          <p:cNvSpPr txBox="1"/>
          <p:nvPr/>
        </p:nvSpPr>
        <p:spPr>
          <a:xfrm>
            <a:off x="7680960" y="4389120"/>
            <a:ext cx="3931920" cy="1097280"/>
          </a:xfrm>
          <a:prstGeom prst="rect">
            <a:avLst/>
          </a:prstGeom>
          <a:noFill/>
          <a:ln/>
        </p:spPr>
        <p:txBody>
          <a:bodyPr wrap="square" lIns="0" tIns="0" rIns="0" bIns="0" rtlCol="0" anchor="t"/>
          <a:lstStyle/>
          <a:p>
            <a:pPr indent="0" marL="0">
              <a:buNone/>
            </a:pPr>
            <a:r>
              <a:rPr lang="en-US" sz="1600" dirty="0">
                <a:solidFill>
                  <a:schemeClr val="tx1"/>
                </a:solidFill>
              </a:rPr>
              <a:t>If the agent misses something, change the instructions, not just the prompt.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1097280" y="2103120"/>
            <a:ext cx="9966960" cy="1828800"/>
          </a:xfrm>
          <a:prstGeom prst="rect">
            <a:avLst/>
          </a:prstGeom>
          <a:noFill/>
          <a:ln/>
        </p:spPr>
        <p:txBody>
          <a:bodyPr wrap="square" rtlCol="0" anchor="ctr"/>
          <a:lstStyle/>
          <a:p>
            <a:pPr algn="ctr" indent="0" marL="0">
              <a:buNone/>
            </a:pPr>
            <a:r>
              <a:rPr lang="en-US" sz="4000" b="1" dirty="0">
                <a:solidFill>
                  <a:schemeClr val="bg1"/>
                </a:solidFill>
              </a:rPr>
              <a:t>Sharing an agent shares its instructions, not your files.</a:t>
            </a:r>
            <a:endParaRPr lang="en-US" sz="4000" dirty="0"/>
          </a:p>
        </p:txBody>
      </p:sp>
      <p:sp>
        <p:nvSpPr>
          <p:cNvPr id="3" name="Text 0"/>
          <p:cNvSpPr/>
          <p:nvPr>
            <p:ph idx="101" type="body" hasCustomPrompt="1"/>
          </p:nvPr>
        </p:nvSpPr>
        <p:spPr>
          <a:xfrm>
            <a:off x="1097280" y="4114800"/>
            <a:ext cx="9966960" cy="731520"/>
          </a:xfrm>
          <a:prstGeom prst="rect">
            <a:avLst/>
          </a:prstGeom>
          <a:noFill/>
          <a:ln/>
        </p:spPr>
        <p:txBody>
          <a:bodyPr wrap="square" rtlCol="0" anchor="t"/>
          <a:lstStyle/>
          <a:p>
            <a:pPr algn="ctr" indent="0" marL="0">
              <a:buNone/>
            </a:pPr>
            <a:r>
              <a:rPr lang="en-US" sz="1800" i="1" dirty="0">
                <a:solidFill>
                  <a:schemeClr val="bg1"/>
                </a:solidFill>
              </a:rPr>
              <a:t>Anyone who opens it can read the instructions. Keep budgets and preferred suppliers out.</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YOUR TURN  ·  CHAPTER 08</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Build and share the Quotation Checker</a:t>
            </a:r>
            <a:endParaRPr lang="en-US" sz="3200" dirty="0"/>
          </a:p>
        </p:txBody>
      </p:sp>
      <p:sp>
        <p:nvSpPr>
          <p:cNvPr id="5" name="Number 1"/>
          <p:cNvSpPr/>
          <p:nvPr/>
        </p:nvSpPr>
        <p:spPr>
          <a:xfrm>
            <a:off x="548640" y="1743891"/>
            <a:ext cx="457200" cy="457200"/>
          </a:xfrm>
          <a:prstGeom prst="ellipse">
            <a:avLst/>
          </a:prstGeom>
          <a:solidFill>
            <a:schemeClr val="accent1"/>
          </a:solidFill>
          <a:ln/>
        </p:spPr>
      </p:sp>
      <p:sp>
        <p:nvSpPr>
          <p:cNvPr id="6" name="Text 3"/>
          <p:cNvSpPr txBox="1"/>
          <p:nvPr/>
        </p:nvSpPr>
        <p:spPr>
          <a:xfrm>
            <a:off x="548640" y="1743891"/>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4"/>
          <p:cNvSpPr txBox="1"/>
          <p:nvPr/>
        </p:nvSpPr>
        <p:spPr>
          <a:xfrm>
            <a:off x="1188720" y="1691640"/>
            <a:ext cx="6035040" cy="561703"/>
          </a:xfrm>
          <a:prstGeom prst="rect">
            <a:avLst/>
          </a:prstGeom>
          <a:noFill/>
          <a:ln/>
        </p:spPr>
        <p:txBody>
          <a:bodyPr wrap="square" lIns="0" tIns="0" rIns="0" bIns="0" rtlCol="0" anchor="ctr"/>
          <a:lstStyle/>
          <a:p>
            <a:pPr indent="0" marL="0">
              <a:buNone/>
            </a:pPr>
            <a:r>
              <a:rPr lang="en-US" sz="1600" b="1" dirty="0">
                <a:solidFill>
                  <a:schemeClr val="accent1"/>
                </a:solidFill>
              </a:rPr>
              <a:t>8.1  </a:t>
            </a:r>
            <a:pPr indent="0" marL="0">
              <a:buNone/>
            </a:pPr>
            <a:r>
              <a:rPr lang="en-US" sz="1600" dirty="0">
                <a:solidFill>
                  <a:schemeClr val="tx1"/>
                </a:solidFill>
              </a:rPr>
              <a:t>Try a prebuilt agent: Writing Coach</a:t>
            </a:r>
            <a:endParaRPr lang="en-US" sz="1600" dirty="0"/>
          </a:p>
        </p:txBody>
      </p:sp>
      <p:sp>
        <p:nvSpPr>
          <p:cNvPr id="8" name="Number 2"/>
          <p:cNvSpPr/>
          <p:nvPr/>
        </p:nvSpPr>
        <p:spPr>
          <a:xfrm>
            <a:off x="548640" y="2305594"/>
            <a:ext cx="457200" cy="457200"/>
          </a:xfrm>
          <a:prstGeom prst="ellipse">
            <a:avLst/>
          </a:prstGeom>
          <a:solidFill>
            <a:schemeClr val="accent1"/>
          </a:solidFill>
          <a:ln/>
        </p:spPr>
      </p:sp>
      <p:sp>
        <p:nvSpPr>
          <p:cNvPr id="9" name="Text 6"/>
          <p:cNvSpPr txBox="1"/>
          <p:nvPr/>
        </p:nvSpPr>
        <p:spPr>
          <a:xfrm>
            <a:off x="548640" y="230559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1188720" y="2253343"/>
            <a:ext cx="6035040" cy="561703"/>
          </a:xfrm>
          <a:prstGeom prst="rect">
            <a:avLst/>
          </a:prstGeom>
          <a:noFill/>
          <a:ln/>
        </p:spPr>
        <p:txBody>
          <a:bodyPr wrap="square" lIns="0" tIns="0" rIns="0" bIns="0" rtlCol="0" anchor="ctr"/>
          <a:lstStyle/>
          <a:p>
            <a:pPr indent="0" marL="0">
              <a:buNone/>
            </a:pPr>
            <a:r>
              <a:rPr lang="en-US" sz="1600" b="1" dirty="0">
                <a:solidFill>
                  <a:schemeClr val="accent1"/>
                </a:solidFill>
              </a:rPr>
              <a:t>8.2  </a:t>
            </a:r>
            <a:pPr indent="0" marL="0">
              <a:buNone/>
            </a:pPr>
            <a:r>
              <a:rPr lang="en-US" sz="1600" dirty="0">
                <a:solidFill>
                  <a:schemeClr val="tx1"/>
                </a:solidFill>
              </a:rPr>
              <a:t>Agents &gt; New agent &gt; Skip</a:t>
            </a:r>
            <a:endParaRPr lang="en-US" sz="1600" dirty="0"/>
          </a:p>
        </p:txBody>
      </p:sp>
      <p:sp>
        <p:nvSpPr>
          <p:cNvPr id="11" name="Number 3"/>
          <p:cNvSpPr/>
          <p:nvPr/>
        </p:nvSpPr>
        <p:spPr>
          <a:xfrm>
            <a:off x="548640" y="2867297"/>
            <a:ext cx="457200" cy="457200"/>
          </a:xfrm>
          <a:prstGeom prst="ellipse">
            <a:avLst/>
          </a:prstGeom>
          <a:solidFill>
            <a:schemeClr val="accent1"/>
          </a:solidFill>
          <a:ln/>
        </p:spPr>
      </p:sp>
      <p:sp>
        <p:nvSpPr>
          <p:cNvPr id="12" name="Text 9"/>
          <p:cNvSpPr txBox="1"/>
          <p:nvPr/>
        </p:nvSpPr>
        <p:spPr>
          <a:xfrm>
            <a:off x="548640" y="2867297"/>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0"/>
          <p:cNvSpPr txBox="1"/>
          <p:nvPr/>
        </p:nvSpPr>
        <p:spPr>
          <a:xfrm>
            <a:off x="1188720" y="2815046"/>
            <a:ext cx="6035040" cy="561703"/>
          </a:xfrm>
          <a:prstGeom prst="rect">
            <a:avLst/>
          </a:prstGeom>
          <a:noFill/>
          <a:ln/>
        </p:spPr>
        <p:txBody>
          <a:bodyPr wrap="square" lIns="0" tIns="0" rIns="0" bIns="0" rtlCol="0" anchor="ctr"/>
          <a:lstStyle/>
          <a:p>
            <a:pPr indent="0" marL="0">
              <a:buNone/>
            </a:pPr>
            <a:r>
              <a:rPr lang="en-US" sz="1600" b="1" dirty="0">
                <a:solidFill>
                  <a:schemeClr val="accent1"/>
                </a:solidFill>
              </a:rPr>
              <a:t>8.3  </a:t>
            </a:r>
            <a:pPr indent="0" marL="0">
              <a:buNone/>
            </a:pPr>
            <a:r>
              <a:rPr lang="en-US" sz="1600" dirty="0">
                <a:solidFill>
                  <a:schemeClr val="tx1"/>
                </a:solidFill>
              </a:rPr>
              <a:t>Name and describe the agent</a:t>
            </a:r>
            <a:endParaRPr lang="en-US" sz="1600" dirty="0"/>
          </a:p>
        </p:txBody>
      </p:sp>
      <p:sp>
        <p:nvSpPr>
          <p:cNvPr id="14" name="Number 4"/>
          <p:cNvSpPr/>
          <p:nvPr/>
        </p:nvSpPr>
        <p:spPr>
          <a:xfrm>
            <a:off x="548640" y="3429000"/>
            <a:ext cx="457200" cy="457200"/>
          </a:xfrm>
          <a:prstGeom prst="ellipse">
            <a:avLst/>
          </a:prstGeom>
          <a:solidFill>
            <a:schemeClr val="accent1"/>
          </a:solidFill>
          <a:ln/>
        </p:spPr>
      </p:sp>
      <p:sp>
        <p:nvSpPr>
          <p:cNvPr id="15" name="Text 12"/>
          <p:cNvSpPr txBox="1"/>
          <p:nvPr/>
        </p:nvSpPr>
        <p:spPr>
          <a:xfrm>
            <a:off x="548640" y="34290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6" name="Text 13"/>
          <p:cNvSpPr txBox="1"/>
          <p:nvPr/>
        </p:nvSpPr>
        <p:spPr>
          <a:xfrm>
            <a:off x="1188720" y="3376749"/>
            <a:ext cx="6035040" cy="561703"/>
          </a:xfrm>
          <a:prstGeom prst="rect">
            <a:avLst/>
          </a:prstGeom>
          <a:noFill/>
          <a:ln/>
        </p:spPr>
        <p:txBody>
          <a:bodyPr wrap="square" lIns="0" tIns="0" rIns="0" bIns="0" rtlCol="0" anchor="ctr"/>
          <a:lstStyle/>
          <a:p>
            <a:pPr indent="0" marL="0">
              <a:buNone/>
            </a:pPr>
            <a:r>
              <a:rPr lang="en-US" sz="1600" b="1" dirty="0">
                <a:solidFill>
                  <a:schemeClr val="accent1"/>
                </a:solidFill>
              </a:rPr>
              <a:t>8.4  </a:t>
            </a:r>
            <a:pPr indent="0" marL="0">
              <a:buNone/>
            </a:pPr>
            <a:r>
              <a:rPr lang="en-US" sz="1600" dirty="0">
                <a:solidFill>
                  <a:schemeClr val="tx1"/>
                </a:solidFill>
              </a:rPr>
              <a:t>Paste the instructions, turn Web search off</a:t>
            </a:r>
            <a:endParaRPr lang="en-US" sz="1600" dirty="0"/>
          </a:p>
        </p:txBody>
      </p:sp>
      <p:sp>
        <p:nvSpPr>
          <p:cNvPr id="17" name="Number 5"/>
          <p:cNvSpPr/>
          <p:nvPr/>
        </p:nvSpPr>
        <p:spPr>
          <a:xfrm>
            <a:off x="548640" y="3990703"/>
            <a:ext cx="457200" cy="457200"/>
          </a:xfrm>
          <a:prstGeom prst="ellipse">
            <a:avLst/>
          </a:prstGeom>
          <a:solidFill>
            <a:schemeClr val="accent1"/>
          </a:solidFill>
          <a:ln/>
        </p:spPr>
      </p:sp>
      <p:sp>
        <p:nvSpPr>
          <p:cNvPr id="18" name="Text 15"/>
          <p:cNvSpPr txBox="1"/>
          <p:nvPr/>
        </p:nvSpPr>
        <p:spPr>
          <a:xfrm>
            <a:off x="548640" y="3990703"/>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9" name="Text 16"/>
          <p:cNvSpPr txBox="1"/>
          <p:nvPr/>
        </p:nvSpPr>
        <p:spPr>
          <a:xfrm>
            <a:off x="1188720" y="3938451"/>
            <a:ext cx="6035040" cy="561703"/>
          </a:xfrm>
          <a:prstGeom prst="rect">
            <a:avLst/>
          </a:prstGeom>
          <a:noFill/>
          <a:ln/>
        </p:spPr>
        <p:txBody>
          <a:bodyPr wrap="square" lIns="0" tIns="0" rIns="0" bIns="0" rtlCol="0" anchor="ctr"/>
          <a:lstStyle/>
          <a:p>
            <a:pPr indent="0" marL="0">
              <a:buNone/>
            </a:pPr>
            <a:r>
              <a:rPr lang="en-US" sz="1600" b="1" dirty="0">
                <a:solidFill>
                  <a:schemeClr val="accent1"/>
                </a:solidFill>
              </a:rPr>
              <a:t>8.5  </a:t>
            </a:r>
            <a:pPr indent="0" marL="0">
              <a:buNone/>
            </a:pPr>
            <a:r>
              <a:rPr lang="en-US" sz="1600" dirty="0">
                <a:solidFill>
                  <a:schemeClr val="tx1"/>
                </a:solidFill>
              </a:rPr>
              <a:t>Add three suggested prompts</a:t>
            </a:r>
            <a:endParaRPr lang="en-US" sz="1600" dirty="0"/>
          </a:p>
        </p:txBody>
      </p:sp>
      <p:sp>
        <p:nvSpPr>
          <p:cNvPr id="20" name="Number 6"/>
          <p:cNvSpPr/>
          <p:nvPr/>
        </p:nvSpPr>
        <p:spPr>
          <a:xfrm>
            <a:off x="548640" y="4552406"/>
            <a:ext cx="457200" cy="457200"/>
          </a:xfrm>
          <a:prstGeom prst="ellipse">
            <a:avLst/>
          </a:prstGeom>
          <a:solidFill>
            <a:schemeClr val="accent1"/>
          </a:solidFill>
          <a:ln/>
        </p:spPr>
      </p:sp>
      <p:sp>
        <p:nvSpPr>
          <p:cNvPr id="21" name="Text 18"/>
          <p:cNvSpPr txBox="1"/>
          <p:nvPr/>
        </p:nvSpPr>
        <p:spPr>
          <a:xfrm>
            <a:off x="548640" y="455240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2" name="Text 19"/>
          <p:cNvSpPr txBox="1"/>
          <p:nvPr/>
        </p:nvSpPr>
        <p:spPr>
          <a:xfrm>
            <a:off x="1188720" y="4500154"/>
            <a:ext cx="6035040" cy="561703"/>
          </a:xfrm>
          <a:prstGeom prst="rect">
            <a:avLst/>
          </a:prstGeom>
          <a:noFill/>
          <a:ln/>
        </p:spPr>
        <p:txBody>
          <a:bodyPr wrap="square" lIns="0" tIns="0" rIns="0" bIns="0" rtlCol="0" anchor="ctr"/>
          <a:lstStyle/>
          <a:p>
            <a:pPr indent="0" marL="0">
              <a:buNone/>
            </a:pPr>
            <a:r>
              <a:rPr lang="en-US" sz="1600" b="1" dirty="0">
                <a:solidFill>
                  <a:schemeClr val="accent1"/>
                </a:solidFill>
              </a:rPr>
              <a:t>8.6  </a:t>
            </a:r>
            <a:pPr indent="0" marL="0">
              <a:buNone/>
            </a:pPr>
            <a:r>
              <a:rPr lang="en-US" sz="1600" dirty="0">
                <a:solidFill>
                  <a:schemeClr val="tx1"/>
                </a:solidFill>
              </a:rPr>
              <a:t>Create, test with a quotation, add the fix line</a:t>
            </a:r>
            <a:endParaRPr lang="en-US" sz="1600" dirty="0"/>
          </a:p>
        </p:txBody>
      </p:sp>
      <p:sp>
        <p:nvSpPr>
          <p:cNvPr id="23" name="Number 7"/>
          <p:cNvSpPr/>
          <p:nvPr/>
        </p:nvSpPr>
        <p:spPr>
          <a:xfrm>
            <a:off x="548640" y="5114109"/>
            <a:ext cx="457200" cy="457200"/>
          </a:xfrm>
          <a:prstGeom prst="ellipse">
            <a:avLst/>
          </a:prstGeom>
          <a:solidFill>
            <a:schemeClr val="accent1"/>
          </a:solidFill>
          <a:ln/>
        </p:spPr>
      </p:sp>
      <p:sp>
        <p:nvSpPr>
          <p:cNvPr id="24" name="Text 21"/>
          <p:cNvSpPr txBox="1"/>
          <p:nvPr/>
        </p:nvSpPr>
        <p:spPr>
          <a:xfrm>
            <a:off x="548640" y="5114109"/>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5" name="Text 22"/>
          <p:cNvSpPr txBox="1"/>
          <p:nvPr/>
        </p:nvSpPr>
        <p:spPr>
          <a:xfrm>
            <a:off x="1188720" y="5061857"/>
            <a:ext cx="6035040" cy="561703"/>
          </a:xfrm>
          <a:prstGeom prst="rect">
            <a:avLst/>
          </a:prstGeom>
          <a:noFill/>
          <a:ln/>
        </p:spPr>
        <p:txBody>
          <a:bodyPr wrap="square" lIns="0" tIns="0" rIns="0" bIns="0" rtlCol="0" anchor="ctr"/>
          <a:lstStyle/>
          <a:p>
            <a:pPr indent="0" marL="0">
              <a:buNone/>
            </a:pPr>
            <a:r>
              <a:rPr lang="en-US" sz="1600" b="1" dirty="0">
                <a:solidFill>
                  <a:schemeClr val="accent1"/>
                </a:solidFill>
              </a:rPr>
              <a:t>8.7  </a:t>
            </a:r>
            <a:pPr indent="0" marL="0">
              <a:buNone/>
            </a:pPr>
            <a:r>
              <a:rPr lang="en-US" sz="1600" dirty="0">
                <a:solidFill>
                  <a:schemeClr val="tx1"/>
                </a:solidFill>
              </a:rPr>
              <a:t>Copy the sharing link</a:t>
            </a:r>
            <a:endParaRPr lang="en-US" sz="1600" dirty="0"/>
          </a:p>
        </p:txBody>
      </p:sp>
      <p:sp>
        <p:nvSpPr>
          <p:cNvPr id="26" name="Checkpoint card"/>
          <p:cNvSpPr/>
          <p:nvPr/>
        </p:nvSpPr>
        <p:spPr>
          <a:xfrm>
            <a:off x="7680960" y="1691640"/>
            <a:ext cx="3959352" cy="2743200"/>
          </a:xfrm>
          <a:prstGeom prst="roundRect">
            <a:avLst>
              <a:gd name="adj" fmla="val 2667"/>
            </a:avLst>
          </a:prstGeom>
          <a:solidFill>
            <a:schemeClr val="accent1">
              <a:alpha val="12000"/>
            </a:schemeClr>
          </a:solidFill>
          <a:ln/>
        </p:spPr>
      </p:sp>
      <p:sp>
        <p:nvSpPr>
          <p:cNvPr id="27" name="Icon circle"/>
          <p:cNvSpPr/>
          <p:nvPr/>
        </p:nvSpPr>
        <p:spPr>
          <a:xfrm>
            <a:off x="7955280" y="1920240"/>
            <a:ext cx="548640" cy="548640"/>
          </a:xfrm>
          <a:prstGeom prst="ellipse">
            <a:avLst/>
          </a:prstGeom>
          <a:solidFill>
            <a:schemeClr val="accent1"/>
          </a:solidFill>
          <a:ln/>
        </p:spPr>
      </p:sp>
      <p:pic>
        <p:nvPicPr>
          <p:cNvPr id="28" name="Image 0" descr="preencoded.png">    </p:cNvPr>
          <p:cNvPicPr>
            <a:picLocks noChangeAspect="1"/>
          </p:cNvPicPr>
          <p:nvPr/>
        </p:nvPicPr>
        <p:blipFill>
          <a:blip r:embed="rId1"/>
          <a:stretch>
            <a:fillRect/>
          </a:stretch>
        </p:blipFill>
        <p:spPr>
          <a:xfrm>
            <a:off x="8092440" y="2057400"/>
            <a:ext cx="274320" cy="274320"/>
          </a:xfrm>
          <a:prstGeom prst="rect">
            <a:avLst/>
          </a:prstGeom>
        </p:spPr>
      </p:pic>
      <p:sp>
        <p:nvSpPr>
          <p:cNvPr id="29" name="Text 25"/>
          <p:cNvSpPr txBox="1"/>
          <p:nvPr/>
        </p:nvSpPr>
        <p:spPr>
          <a:xfrm>
            <a:off x="8641080" y="1920240"/>
            <a:ext cx="2834640" cy="548640"/>
          </a:xfrm>
          <a:prstGeom prst="rect">
            <a:avLst/>
          </a:prstGeom>
          <a:noFill/>
          <a:ln/>
        </p:spPr>
        <p:txBody>
          <a:bodyPr wrap="square" lIns="0" tIns="0" rIns="0" bIns="0" rtlCol="0" anchor="ctr"/>
          <a:lstStyle/>
          <a:p>
            <a:pPr indent="0" marL="0">
              <a:buNone/>
            </a:pPr>
            <a:r>
              <a:rPr lang="en-US" sz="1800" b="1" dirty="0">
                <a:solidFill>
                  <a:schemeClr val="tx2"/>
                </a:solidFill>
              </a:rPr>
              <a:t>Checkpoint</a:t>
            </a:r>
            <a:endParaRPr lang="en-US" sz="1800" dirty="0"/>
          </a:p>
        </p:txBody>
      </p:sp>
      <p:sp>
        <p:nvSpPr>
          <p:cNvPr id="30" name="Text 26"/>
          <p:cNvSpPr txBox="1"/>
          <p:nvPr/>
        </p:nvSpPr>
        <p:spPr>
          <a:xfrm>
            <a:off x="7955280" y="2606040"/>
            <a:ext cx="3474720" cy="1737360"/>
          </a:xfrm>
          <a:prstGeom prst="rect">
            <a:avLst/>
          </a:prstGeom>
          <a:noFill/>
          <a:ln/>
        </p:spPr>
        <p:txBody>
          <a:bodyPr wrap="square" lIns="0" tIns="0" rIns="0" bIns="0" rtlCol="0" anchor="t"/>
          <a:lstStyle/>
          <a:p>
            <a:pPr indent="0" marL="0">
              <a:buNone/>
            </a:pPr>
            <a:r>
              <a:rPr lang="en-US" sz="1500" dirty="0">
                <a:solidFill>
                  <a:schemeClr val="tx1"/>
                </a:solidFill>
              </a:rPr>
              <a:t>Your agent flags the arithmetic difference, asks for today's date, and lists questions for the supplier.</a:t>
            </a:r>
            <a:endParaRPr lang="en-US" sz="1500" dirty="0"/>
          </a:p>
        </p:txBody>
      </p:sp>
      <p:sp>
        <p:nvSpPr>
          <p:cNvPr id="31" name="Prompts card"/>
          <p:cNvSpPr/>
          <p:nvPr/>
        </p:nvSpPr>
        <p:spPr>
          <a:xfrm>
            <a:off x="7680960" y="4617720"/>
            <a:ext cx="3959352" cy="1234440"/>
          </a:xfrm>
          <a:prstGeom prst="roundRect">
            <a:avLst>
              <a:gd name="adj" fmla="val 5926"/>
            </a:avLst>
          </a:prstGeom>
          <a:solidFill>
            <a:schemeClr val="bg2"/>
          </a:solidFill>
          <a:ln/>
        </p:spPr>
      </p:sp>
      <p:sp>
        <p:nvSpPr>
          <p:cNvPr id="32" name="Icon circle"/>
          <p:cNvSpPr/>
          <p:nvPr/>
        </p:nvSpPr>
        <p:spPr>
          <a:xfrm>
            <a:off x="7955280" y="4892040"/>
            <a:ext cx="548640" cy="548640"/>
          </a:xfrm>
          <a:prstGeom prst="ellipse">
            <a:avLst/>
          </a:prstGeom>
          <a:solidFill>
            <a:schemeClr val="tx2"/>
          </a:solidFill>
          <a:ln/>
        </p:spPr>
      </p:sp>
      <p:pic>
        <p:nvPicPr>
          <p:cNvPr id="33" name="Image 1" descr="preencoded.png">    </p:cNvPr>
          <p:cNvPicPr>
            <a:picLocks noChangeAspect="1"/>
          </p:cNvPicPr>
          <p:nvPr/>
        </p:nvPicPr>
        <p:blipFill>
          <a:blip r:embed="rId2"/>
          <a:stretch>
            <a:fillRect/>
          </a:stretch>
        </p:blipFill>
        <p:spPr>
          <a:xfrm>
            <a:off x="8092440" y="5029200"/>
            <a:ext cx="274320" cy="274320"/>
          </a:xfrm>
          <a:prstGeom prst="rect">
            <a:avLst/>
          </a:prstGeom>
        </p:spPr>
      </p:pic>
      <p:sp>
        <p:nvSpPr>
          <p:cNvPr id="34" name="Text 29"/>
          <p:cNvSpPr txBox="1"/>
          <p:nvPr/>
        </p:nvSpPr>
        <p:spPr>
          <a:xfrm>
            <a:off x="8641080" y="4754880"/>
            <a:ext cx="2834640" cy="868680"/>
          </a:xfrm>
          <a:prstGeom prst="rect">
            <a:avLst/>
          </a:prstGeom>
          <a:noFill/>
          <a:ln/>
        </p:spPr>
        <p:txBody>
          <a:bodyPr wrap="square" lIns="0" tIns="0" rIns="0" bIns="0" rtlCol="0" anchor="ctr"/>
          <a:lstStyle/>
          <a:p>
            <a:pPr indent="0" marL="0">
              <a:buNone/>
            </a:pPr>
            <a:r>
              <a:rPr lang="en-US" sz="1600" b="1" dirty="0">
                <a:solidFill>
                  <a:schemeClr val="tx2"/>
                </a:solidFill>
              </a:rPr>
              <a:t>Prompts page</a:t>
            </a:r>
            <a:endParaRPr lang="en-US" sz="1600" dirty="0"/>
          </a:p>
          <a:p>
            <a:pPr indent="0" marL="0">
              <a:buNone/>
            </a:pPr>
            <a:r>
              <a:rPr lang="en-US" sz="1300" dirty="0">
                <a:solidFill>
                  <a:schemeClr val="accent4"/>
                </a:solidFill>
              </a:rPr>
              <a:t>Chapter 08: copy every prompt from there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731520" y="100584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09</a:t>
            </a:r>
            <a:endParaRPr lang="en-US" sz="9600" dirty="0"/>
          </a:p>
        </p:txBody>
      </p:sp>
      <p:sp>
        <p:nvSpPr>
          <p:cNvPr id="3" name="Text 0"/>
          <p:cNvSpPr/>
          <p:nvPr>
            <p:ph idx="101" type="title" hasCustomPrompt="1"/>
          </p:nvPr>
        </p:nvSpPr>
        <p:spPr>
          <a:xfrm>
            <a:off x="731520" y="256032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Optional: Copilot in Word and Excel</a:t>
            </a:r>
            <a:endParaRPr lang="en-US" sz="4400" dirty="0"/>
          </a:p>
        </p:txBody>
      </p:sp>
      <p:sp>
        <p:nvSpPr>
          <p:cNvPr id="4" name="Text 0"/>
          <p:cNvSpPr/>
          <p:nvPr>
            <p:ph idx="102" type="body" hasCustomPrompt="1"/>
          </p:nvPr>
        </p:nvSpPr>
        <p:spPr>
          <a:xfrm>
            <a:off x="731520" y="3840480"/>
            <a:ext cx="9601200" cy="1463040"/>
          </a:xfrm>
          <a:prstGeom prst="rect">
            <a:avLst/>
          </a:prstGeom>
          <a:noFill/>
          <a:ln/>
        </p:spPr>
        <p:txBody>
          <a:bodyPr wrap="square" lIns="0" tIns="0" rIns="0" bIns="0" rtlCol="0" anchor="t"/>
          <a:lstStyle/>
          <a:p>
            <a:pPr indent="0" marL="0">
              <a:buNone/>
            </a:pPr>
            <a:r>
              <a:rPr lang="en-US" sz="1800" b="1" dirty="0">
                <a:solidFill>
                  <a:schemeClr val="bg1"/>
                </a:solidFill>
              </a:rPr>
              <a:t>Stage: Extend  ·  30 minutes</a:t>
            </a:r>
            <a:endParaRPr lang="en-US" sz="1800" dirty="0"/>
          </a:p>
          <a:p>
            <a:pPr indent="0" marL="0">
              <a:buNone/>
            </a:pPr>
            <a:r>
              <a:rPr lang="en-US" sz="800" dirty="0">
                <a:solidFill>
                  <a:schemeClr val="bg2"/>
                </a:solidFill>
              </a:rPr>
              <a:t> </a:t>
            </a:r>
            <a:endParaRPr lang="en-US" sz="1800" dirty="0"/>
          </a:p>
          <a:p>
            <a:pPr indent="0" marL="0">
              <a:buNone/>
            </a:pPr>
            <a:r>
              <a:rPr lang="en-US" sz="1800" b="1" dirty="0">
                <a:solidFill>
                  <a:schemeClr val="bg2"/>
                </a:solidFill>
              </a:rPr>
              <a:t>Your result: </a:t>
            </a:r>
            <a:pPr indent="0" marL="0">
              <a:buNone/>
            </a:pPr>
            <a:r>
              <a:rPr lang="en-US" sz="1800" dirty="0">
                <a:solidFill>
                  <a:schemeClr val="bg2"/>
                </a:solidFill>
              </a:rPr>
              <a:t>a tightened memo in Word and an Excel comparison with a checked total column.</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CHAPTER 09</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Only if Copilot is inside your apps</a:t>
            </a:r>
            <a:endParaRPr lang="en-US" sz="3200" dirty="0"/>
          </a:p>
        </p:txBody>
      </p:sp>
      <p:sp>
        <p:nvSpPr>
          <p:cNvPr id="5" name="Has in-app Copilot card"/>
          <p:cNvSpPr/>
          <p:nvPr/>
        </p:nvSpPr>
        <p:spPr>
          <a:xfrm>
            <a:off x="548640" y="1783080"/>
            <a:ext cx="5440680" cy="4114800"/>
          </a:xfrm>
          <a:prstGeom prst="roundRect">
            <a:avLst>
              <a:gd name="adj" fmla="val 1778"/>
            </a:avLst>
          </a:prstGeom>
          <a:solidFill>
            <a:schemeClr val="accent1">
              <a:alpha val="12000"/>
            </a:schemeClr>
          </a:solidFill>
          <a:ln/>
        </p:spPr>
      </p:sp>
      <p:sp>
        <p:nvSpPr>
          <p:cNvPr id="6" name="Text 3"/>
          <p:cNvSpPr txBox="1"/>
          <p:nvPr/>
        </p:nvSpPr>
        <p:spPr>
          <a:xfrm>
            <a:off x="868680" y="2011680"/>
            <a:ext cx="4846320" cy="457200"/>
          </a:xfrm>
          <a:prstGeom prst="rect">
            <a:avLst/>
          </a:prstGeom>
          <a:noFill/>
          <a:ln/>
        </p:spPr>
        <p:txBody>
          <a:bodyPr wrap="square" lIns="0" tIns="0" rIns="0" bIns="0" rtlCol="0" anchor="ctr"/>
          <a:lstStyle/>
          <a:p>
            <a:pPr indent="0" marL="0">
              <a:buNone/>
            </a:pPr>
            <a:r>
              <a:rPr lang="en-US" sz="2200" b="1" dirty="0">
                <a:solidFill>
                  <a:schemeClr val="tx2"/>
                </a:solidFill>
              </a:rPr>
              <a:t>M365 Copilot (Basic)</a:t>
            </a:r>
            <a:endParaRPr lang="en-US" sz="2200" dirty="0"/>
          </a:p>
        </p:txBody>
      </p:sp>
      <p:sp>
        <p:nvSpPr>
          <p:cNvPr id="7" name="Text 4"/>
          <p:cNvSpPr txBox="1"/>
          <p:nvPr/>
        </p:nvSpPr>
        <p:spPr>
          <a:xfrm>
            <a:off x="868680" y="2697480"/>
            <a:ext cx="4846320" cy="1828800"/>
          </a:xfrm>
          <a:prstGeom prst="rect">
            <a:avLst/>
          </a:prstGeom>
          <a:noFill/>
          <a:ln/>
        </p:spPr>
        <p:txBody>
          <a:bodyPr wrap="square" lIns="0" tIns="0" rIns="0" bIns="0" rtlCol="0" anchor="t"/>
          <a:lstStyle/>
          <a:p>
            <a:pPr indent="0" marL="0">
              <a:spcAft>
                <a:spcPts val="1000"/>
              </a:spcAft>
              <a:buNone/>
            </a:pPr>
            <a:r>
              <a:rPr lang="en-US" sz="1800" dirty="0">
                <a:solidFill>
                  <a:schemeClr val="tx1"/>
                </a:solidFill>
              </a:rPr>
              <a:t>9.1  Check the Copilot button in Word</a:t>
            </a:r>
            <a:endParaRPr lang="en-US" sz="1800" dirty="0"/>
          </a:p>
          <a:p>
            <a:pPr indent="0" marL="0">
              <a:spcAft>
                <a:spcPts val="1000"/>
              </a:spcAft>
              <a:buNone/>
            </a:pPr>
            <a:r>
              <a:rPr lang="en-US" sz="1800" dirty="0">
                <a:solidFill>
                  <a:schemeClr val="tx1"/>
                </a:solidFill>
              </a:rPr>
              <a:t>9.2  Tighten the memo's recommendation</a:t>
            </a:r>
            <a:endParaRPr lang="en-US" sz="1800" dirty="0"/>
          </a:p>
          <a:p>
            <a:pPr indent="0" marL="0">
              <a:spcAft>
                <a:spcPts val="1000"/>
              </a:spcAft>
              <a:buNone/>
            </a:pPr>
            <a:r>
              <a:rPr lang="en-US" sz="1800" dirty="0">
                <a:solidFill>
                  <a:schemeClr val="tx1"/>
                </a:solidFill>
              </a:rPr>
              <a:t>9.3  Add a check row in Excel</a:t>
            </a:r>
            <a:endParaRPr lang="en-US" sz="1800" dirty="0"/>
          </a:p>
        </p:txBody>
      </p:sp>
      <p:sp>
        <p:nvSpPr>
          <p:cNvPr id="8" name="Text 5"/>
          <p:cNvSpPr txBox="1"/>
          <p:nvPr/>
        </p:nvSpPr>
        <p:spPr>
          <a:xfrm>
            <a:off x="868680" y="4846320"/>
            <a:ext cx="4846320" cy="822960"/>
          </a:xfrm>
          <a:prstGeom prst="rect">
            <a:avLst/>
          </a:prstGeom>
          <a:noFill/>
          <a:ln/>
        </p:spPr>
        <p:txBody>
          <a:bodyPr wrap="square" lIns="0" tIns="0" rIns="0" bIns="0" rtlCol="0" anchor="t"/>
          <a:lstStyle/>
          <a:p>
            <a:pPr indent="0" marL="0">
              <a:buNone/>
            </a:pPr>
            <a:r>
              <a:rPr lang="en-US" sz="1500" i="1" dirty="0">
                <a:solidFill>
                  <a:schemeClr val="accent4"/>
                </a:solidFill>
              </a:rPr>
              <a:t>Read any rewrite against the original before you keep it.</a:t>
            </a:r>
            <a:endParaRPr lang="en-US" sz="1500" dirty="0"/>
          </a:p>
        </p:txBody>
      </p:sp>
      <p:sp>
        <p:nvSpPr>
          <p:cNvPr id="9" name="No in-app Copilot card"/>
          <p:cNvSpPr/>
          <p:nvPr/>
        </p:nvSpPr>
        <p:spPr>
          <a:xfrm>
            <a:off x="6172200" y="1783080"/>
            <a:ext cx="5440680" cy="4114800"/>
          </a:xfrm>
          <a:prstGeom prst="roundRect">
            <a:avLst>
              <a:gd name="adj" fmla="val 1778"/>
            </a:avLst>
          </a:prstGeom>
          <a:solidFill>
            <a:schemeClr val="bg2"/>
          </a:solidFill>
          <a:ln/>
        </p:spPr>
      </p:sp>
      <p:sp>
        <p:nvSpPr>
          <p:cNvPr id="10" name="Text 7"/>
          <p:cNvSpPr txBox="1"/>
          <p:nvPr/>
        </p:nvSpPr>
        <p:spPr>
          <a:xfrm>
            <a:off x="6492240" y="2011680"/>
            <a:ext cx="4846320" cy="457200"/>
          </a:xfrm>
          <a:prstGeom prst="rect">
            <a:avLst/>
          </a:prstGeom>
          <a:noFill/>
          <a:ln/>
        </p:spPr>
        <p:txBody>
          <a:bodyPr wrap="square" lIns="0" tIns="0" rIns="0" bIns="0" rtlCol="0" anchor="ctr"/>
          <a:lstStyle/>
          <a:p>
            <a:pPr indent="0" marL="0">
              <a:buNone/>
            </a:pPr>
            <a:r>
              <a:rPr lang="en-US" sz="2200" b="1" dirty="0">
                <a:solidFill>
                  <a:schemeClr val="tx2"/>
                </a:solidFill>
              </a:rPr>
              <a:t>Copilot Chat (Basic)</a:t>
            </a:r>
            <a:endParaRPr lang="en-US" sz="2200" dirty="0"/>
          </a:p>
        </p:txBody>
      </p:sp>
      <p:sp>
        <p:nvSpPr>
          <p:cNvPr id="11" name="Text 8"/>
          <p:cNvSpPr txBox="1"/>
          <p:nvPr/>
        </p:nvSpPr>
        <p:spPr>
          <a:xfrm>
            <a:off x="6492240" y="2697480"/>
            <a:ext cx="4846320" cy="1828800"/>
          </a:xfrm>
          <a:prstGeom prst="rect">
            <a:avLst/>
          </a:prstGeom>
          <a:noFill/>
          <a:ln/>
        </p:spPr>
        <p:txBody>
          <a:bodyPr wrap="square" lIns="0" tIns="0" rIns="0" bIns="0" rtlCol="0" anchor="t"/>
          <a:lstStyle/>
          <a:p>
            <a:pPr indent="0" marL="0">
              <a:spcAft>
                <a:spcPts val="1000"/>
              </a:spcAft>
              <a:buNone/>
            </a:pPr>
            <a:r>
              <a:rPr lang="en-US" sz="1800" dirty="0">
                <a:solidFill>
                  <a:schemeClr val="tx1"/>
                </a:solidFill>
              </a:rPr>
              <a:t>No Copilot inside Word or Excel</a:t>
            </a:r>
            <a:endParaRPr lang="en-US" sz="1800" dirty="0"/>
          </a:p>
          <a:p>
            <a:pPr indent="0" marL="0">
              <a:spcAft>
                <a:spcPts val="1000"/>
              </a:spcAft>
              <a:buNone/>
            </a:pPr>
            <a:r>
              <a:rPr lang="en-US" sz="1800" dirty="0">
                <a:solidFill>
                  <a:schemeClr val="tx1"/>
                </a:solidFill>
              </a:rPr>
              <a:t>Start the capstone (Chapter 10) early</a:t>
            </a:r>
            <a:endParaRPr lang="en-US" sz="1800" dirty="0"/>
          </a:p>
          <a:p>
            <a:pPr indent="0" marL="0">
              <a:spcAft>
                <a:spcPts val="1000"/>
              </a:spcAft>
              <a:buNone/>
            </a:pPr>
            <a:r>
              <a:rPr lang="en-US" sz="1800" dirty="0">
                <a:solidFill>
                  <a:schemeClr val="tx1"/>
                </a:solidFill>
              </a:rPr>
              <a:t>Or try an exercise from Chapter 11</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731520" y="100584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10</a:t>
            </a:r>
            <a:endParaRPr lang="en-US" sz="9600" dirty="0"/>
          </a:p>
        </p:txBody>
      </p:sp>
      <p:sp>
        <p:nvSpPr>
          <p:cNvPr id="3" name="Text 0"/>
          <p:cNvSpPr/>
          <p:nvPr>
            <p:ph idx="101" type="title" hasCustomPrompt="1"/>
          </p:nvPr>
        </p:nvSpPr>
        <p:spPr>
          <a:xfrm>
            <a:off x="731520" y="256032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Capstone: the training vendor purchase</a:t>
            </a:r>
            <a:endParaRPr lang="en-US" sz="4400" dirty="0"/>
          </a:p>
        </p:txBody>
      </p:sp>
      <p:sp>
        <p:nvSpPr>
          <p:cNvPr id="4" name="Text 0"/>
          <p:cNvSpPr/>
          <p:nvPr>
            <p:ph idx="102" type="body" hasCustomPrompt="1"/>
          </p:nvPr>
        </p:nvSpPr>
        <p:spPr>
          <a:xfrm>
            <a:off x="731520" y="3840480"/>
            <a:ext cx="9601200" cy="1463040"/>
          </a:xfrm>
          <a:prstGeom prst="rect">
            <a:avLst/>
          </a:prstGeom>
          <a:noFill/>
          <a:ln/>
        </p:spPr>
        <p:txBody>
          <a:bodyPr wrap="square" lIns="0" tIns="0" rIns="0" bIns="0" rtlCol="0" anchor="t"/>
          <a:lstStyle/>
          <a:p>
            <a:pPr indent="0" marL="0">
              <a:buNone/>
            </a:pPr>
            <a:r>
              <a:rPr lang="en-US" sz="1800" b="1" dirty="0">
                <a:solidFill>
                  <a:schemeClr val="bg1"/>
                </a:solidFill>
              </a:rPr>
              <a:t>Stage: Repeat  ·  45 minutes</a:t>
            </a:r>
            <a:endParaRPr lang="en-US" sz="1800" dirty="0"/>
          </a:p>
          <a:p>
            <a:pPr indent="0" marL="0">
              <a:buNone/>
            </a:pPr>
            <a:r>
              <a:rPr lang="en-US" sz="800" dirty="0">
                <a:solidFill>
                  <a:schemeClr val="bg2"/>
                </a:solidFill>
              </a:rPr>
              <a:t> </a:t>
            </a:r>
            <a:endParaRPr lang="en-US" sz="1800" dirty="0"/>
          </a:p>
          <a:p>
            <a:pPr indent="0" marL="0">
              <a:buNone/>
            </a:pPr>
            <a:r>
              <a:rPr lang="en-US" sz="1800" b="1" dirty="0">
                <a:solidFill>
                  <a:schemeClr val="bg2"/>
                </a:solidFill>
              </a:rPr>
              <a:t>Your result: </a:t>
            </a:r>
            <a:pPr indent="0" marL="0">
              <a:buNone/>
            </a:pPr>
            <a:r>
              <a:rPr lang="en-US" sz="1800" dirty="0">
                <a:solidFill>
                  <a:schemeClr val="bg2"/>
                </a:solidFill>
              </a:rPr>
              <a:t>a checked comparison of three training quotations, chasing emails, a memo on a Page, and everything in a Notebook.</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CHAPTER 10</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The brief from your HOD</a:t>
            </a:r>
            <a:endParaRPr lang="en-US" sz="3200" dirty="0"/>
          </a:p>
        </p:txBody>
      </p:sp>
      <p:sp>
        <p:nvSpPr>
          <p:cNvPr id="5" name="Brief card"/>
          <p:cNvSpPr/>
          <p:nvPr/>
        </p:nvSpPr>
        <p:spPr>
          <a:xfrm>
            <a:off x="548640" y="1691640"/>
            <a:ext cx="11064240" cy="1737360"/>
          </a:xfrm>
          <a:prstGeom prst="roundRect">
            <a:avLst>
              <a:gd name="adj" fmla="val 4211"/>
            </a:avLst>
          </a:prstGeom>
          <a:solidFill>
            <a:schemeClr val="tx2"/>
          </a:solidFill>
          <a:ln/>
        </p:spPr>
      </p:sp>
      <p:sp>
        <p:nvSpPr>
          <p:cNvPr id="6" name="Text 3"/>
          <p:cNvSpPr txBox="1"/>
          <p:nvPr/>
        </p:nvSpPr>
        <p:spPr>
          <a:xfrm>
            <a:off x="868680" y="1783080"/>
            <a:ext cx="10424160" cy="1554480"/>
          </a:xfrm>
          <a:prstGeom prst="rect">
            <a:avLst/>
          </a:prstGeom>
          <a:noFill/>
          <a:ln/>
        </p:spPr>
        <p:txBody>
          <a:bodyPr wrap="square" lIns="0" tIns="0" rIns="0" bIns="0" rtlCol="0" anchor="ctr"/>
          <a:lstStyle/>
          <a:p>
            <a:pPr indent="0" marL="0">
              <a:buNone/>
            </a:pPr>
            <a:r>
              <a:rPr lang="en-US" sz="1700" i="1" dirty="0">
                <a:solidFill>
                  <a:schemeClr val="bg1"/>
                </a:solidFill>
              </a:rPr>
              <a:t>"The department needs a two-day in-house Effective Business Writing course for 30 executives, at Menara Teratai, in November 2026. HR says it must be HRD Corp claimable. Please check the quotations, compare them, and send me a recommendation with a memo."</a:t>
            </a:r>
            <a:endParaRPr lang="en-US" sz="1700" dirty="0"/>
          </a:p>
        </p:txBody>
      </p:sp>
      <p:sp>
        <p:nvSpPr>
          <p:cNvPr id="7" name="Text 4"/>
          <p:cNvSpPr txBox="1"/>
          <p:nvPr/>
        </p:nvSpPr>
        <p:spPr>
          <a:xfrm>
            <a:off x="548640" y="3657600"/>
            <a:ext cx="10972800" cy="411480"/>
          </a:xfrm>
          <a:prstGeom prst="rect">
            <a:avLst/>
          </a:prstGeom>
          <a:noFill/>
          <a:ln/>
        </p:spPr>
        <p:txBody>
          <a:bodyPr wrap="square" lIns="0" tIns="0" rIns="0" bIns="0" rtlCol="0" anchor="ctr"/>
          <a:lstStyle/>
          <a:p>
            <a:pPr indent="0" marL="0">
              <a:buNone/>
            </a:pPr>
            <a:r>
              <a:rPr lang="en-US" sz="1800" b="1" dirty="0">
                <a:solidFill>
                  <a:schemeClr val="tx2"/>
                </a:solidFill>
              </a:rPr>
              <a:t>Every quotation must match all four</a:t>
            </a:r>
            <a:endParaRPr lang="en-US" sz="1800" dirty="0"/>
          </a:p>
        </p:txBody>
      </p:sp>
      <p:sp>
        <p:nvSpPr>
          <p:cNvPr id="8" name="Must-match card"/>
          <p:cNvSpPr/>
          <p:nvPr/>
        </p:nvSpPr>
        <p:spPr>
          <a:xfrm>
            <a:off x="548640" y="4206240"/>
            <a:ext cx="2633472" cy="1691640"/>
          </a:xfrm>
          <a:prstGeom prst="roundRect">
            <a:avLst>
              <a:gd name="adj" fmla="val 4324"/>
            </a:avLst>
          </a:prstGeom>
          <a:solidFill>
            <a:schemeClr val="bg2"/>
          </a:solidFill>
          <a:ln/>
        </p:spPr>
      </p:sp>
      <p:sp>
        <p:nvSpPr>
          <p:cNvPr id="9" name="Icon circle"/>
          <p:cNvSpPr/>
          <p:nvPr/>
        </p:nvSpPr>
        <p:spPr>
          <a:xfrm>
            <a:off x="822960" y="4526280"/>
            <a:ext cx="731520" cy="731520"/>
          </a:xfrm>
          <a:prstGeom prst="ellipse">
            <a:avLst/>
          </a:prstGeom>
          <a:solidFill>
            <a:schemeClr val="accent1"/>
          </a:solidFill>
          <a:ln/>
        </p:spPr>
      </p:sp>
      <p:pic>
        <p:nvPicPr>
          <p:cNvPr id="10" name="Image 0" descr="preencoded.png">    </p:cNvPr>
          <p:cNvPicPr>
            <a:picLocks noChangeAspect="1"/>
          </p:cNvPicPr>
          <p:nvPr/>
        </p:nvPicPr>
        <p:blipFill>
          <a:blip r:embed="rId1"/>
          <a:stretch>
            <a:fillRect/>
          </a:stretch>
        </p:blipFill>
        <p:spPr>
          <a:xfrm>
            <a:off x="1005840" y="4709160"/>
            <a:ext cx="365760" cy="365760"/>
          </a:xfrm>
          <a:prstGeom prst="rect">
            <a:avLst/>
          </a:prstGeom>
        </p:spPr>
      </p:pic>
      <p:sp>
        <p:nvSpPr>
          <p:cNvPr id="11" name="Text 7"/>
          <p:cNvSpPr txBox="1"/>
          <p:nvPr/>
        </p:nvSpPr>
        <p:spPr>
          <a:xfrm>
            <a:off x="1691640" y="4206240"/>
            <a:ext cx="1417320" cy="1691640"/>
          </a:xfrm>
          <a:prstGeom prst="rect">
            <a:avLst/>
          </a:prstGeom>
          <a:noFill/>
          <a:ln/>
        </p:spPr>
        <p:txBody>
          <a:bodyPr wrap="square" lIns="0" tIns="0" rIns="0" bIns="0" rtlCol="0" anchor="ctr"/>
          <a:lstStyle/>
          <a:p>
            <a:pPr indent="0" marL="0">
              <a:buNone/>
            </a:pPr>
            <a:r>
              <a:rPr lang="en-US" sz="1800" b="1" dirty="0">
                <a:solidFill>
                  <a:schemeClr val="tx2"/>
                </a:solidFill>
              </a:rPr>
              <a:t>Two days</a:t>
            </a:r>
            <a:endParaRPr lang="en-US" sz="1800" dirty="0"/>
          </a:p>
        </p:txBody>
      </p:sp>
      <p:sp>
        <p:nvSpPr>
          <p:cNvPr id="12" name="Must-match card"/>
          <p:cNvSpPr/>
          <p:nvPr/>
        </p:nvSpPr>
        <p:spPr>
          <a:xfrm>
            <a:off x="3364992" y="4206240"/>
            <a:ext cx="2633472" cy="1691640"/>
          </a:xfrm>
          <a:prstGeom prst="roundRect">
            <a:avLst>
              <a:gd name="adj" fmla="val 4324"/>
            </a:avLst>
          </a:prstGeom>
          <a:solidFill>
            <a:schemeClr val="bg2"/>
          </a:solidFill>
          <a:ln/>
        </p:spPr>
      </p:sp>
      <p:sp>
        <p:nvSpPr>
          <p:cNvPr id="13" name="Icon circle"/>
          <p:cNvSpPr/>
          <p:nvPr/>
        </p:nvSpPr>
        <p:spPr>
          <a:xfrm>
            <a:off x="3639312" y="4526280"/>
            <a:ext cx="731520" cy="731520"/>
          </a:xfrm>
          <a:prstGeom prst="ellipse">
            <a:avLst/>
          </a:prstGeom>
          <a:solidFill>
            <a:schemeClr val="accent1"/>
          </a:solidFill>
          <a:ln/>
        </p:spPr>
      </p:sp>
      <p:pic>
        <p:nvPicPr>
          <p:cNvPr id="14" name="Image 1" descr="preencoded.png">    </p:cNvPr>
          <p:cNvPicPr>
            <a:picLocks noChangeAspect="1"/>
          </p:cNvPicPr>
          <p:nvPr/>
        </p:nvPicPr>
        <p:blipFill>
          <a:blip r:embed="rId2"/>
          <a:stretch>
            <a:fillRect/>
          </a:stretch>
        </p:blipFill>
        <p:spPr>
          <a:xfrm>
            <a:off x="3822192" y="4709160"/>
            <a:ext cx="365760" cy="365760"/>
          </a:xfrm>
          <a:prstGeom prst="rect">
            <a:avLst/>
          </a:prstGeom>
        </p:spPr>
      </p:pic>
      <p:sp>
        <p:nvSpPr>
          <p:cNvPr id="15" name="Text 10"/>
          <p:cNvSpPr txBox="1"/>
          <p:nvPr/>
        </p:nvSpPr>
        <p:spPr>
          <a:xfrm>
            <a:off x="4507992" y="4206240"/>
            <a:ext cx="1417320" cy="1691640"/>
          </a:xfrm>
          <a:prstGeom prst="rect">
            <a:avLst/>
          </a:prstGeom>
          <a:noFill/>
          <a:ln/>
        </p:spPr>
        <p:txBody>
          <a:bodyPr wrap="square" lIns="0" tIns="0" rIns="0" bIns="0" rtlCol="0" anchor="ctr"/>
          <a:lstStyle/>
          <a:p>
            <a:pPr indent="0" marL="0">
              <a:buNone/>
            </a:pPr>
            <a:r>
              <a:rPr lang="en-US" sz="1800" b="1" dirty="0">
                <a:solidFill>
                  <a:schemeClr val="tx2"/>
                </a:solidFill>
              </a:rPr>
              <a:t>30 participants</a:t>
            </a:r>
            <a:endParaRPr lang="en-US" sz="1800" dirty="0"/>
          </a:p>
        </p:txBody>
      </p:sp>
      <p:sp>
        <p:nvSpPr>
          <p:cNvPr id="16" name="Must-match card"/>
          <p:cNvSpPr/>
          <p:nvPr/>
        </p:nvSpPr>
        <p:spPr>
          <a:xfrm>
            <a:off x="6181344" y="4206240"/>
            <a:ext cx="2633472" cy="1691640"/>
          </a:xfrm>
          <a:prstGeom prst="roundRect">
            <a:avLst>
              <a:gd name="adj" fmla="val 4324"/>
            </a:avLst>
          </a:prstGeom>
          <a:solidFill>
            <a:schemeClr val="bg2"/>
          </a:solidFill>
          <a:ln/>
        </p:spPr>
      </p:sp>
      <p:sp>
        <p:nvSpPr>
          <p:cNvPr id="17" name="Icon circle"/>
          <p:cNvSpPr/>
          <p:nvPr/>
        </p:nvSpPr>
        <p:spPr>
          <a:xfrm>
            <a:off x="6455664" y="4526280"/>
            <a:ext cx="731520" cy="731520"/>
          </a:xfrm>
          <a:prstGeom prst="ellipse">
            <a:avLst/>
          </a:prstGeom>
          <a:solidFill>
            <a:schemeClr val="accent1"/>
          </a:solidFill>
          <a:ln/>
        </p:spPr>
      </p:sp>
      <p:pic>
        <p:nvPicPr>
          <p:cNvPr id="18" name="Image 2" descr="preencoded.png">    </p:cNvPr>
          <p:cNvPicPr>
            <a:picLocks noChangeAspect="1"/>
          </p:cNvPicPr>
          <p:nvPr/>
        </p:nvPicPr>
        <p:blipFill>
          <a:blip r:embed="rId3"/>
          <a:stretch>
            <a:fillRect/>
          </a:stretch>
        </p:blipFill>
        <p:spPr>
          <a:xfrm>
            <a:off x="6638544" y="4709160"/>
            <a:ext cx="365760" cy="365760"/>
          </a:xfrm>
          <a:prstGeom prst="rect">
            <a:avLst/>
          </a:prstGeom>
        </p:spPr>
      </p:pic>
      <p:sp>
        <p:nvSpPr>
          <p:cNvPr id="19" name="Text 13"/>
          <p:cNvSpPr txBox="1"/>
          <p:nvPr/>
        </p:nvSpPr>
        <p:spPr>
          <a:xfrm>
            <a:off x="7324344" y="4206240"/>
            <a:ext cx="1417320" cy="1691640"/>
          </a:xfrm>
          <a:prstGeom prst="rect">
            <a:avLst/>
          </a:prstGeom>
          <a:noFill/>
          <a:ln/>
        </p:spPr>
        <p:txBody>
          <a:bodyPr wrap="square" lIns="0" tIns="0" rIns="0" bIns="0" rtlCol="0" anchor="ctr"/>
          <a:lstStyle/>
          <a:p>
            <a:pPr indent="0" marL="0">
              <a:buNone/>
            </a:pPr>
            <a:r>
              <a:rPr lang="en-US" sz="1800" b="1" dirty="0">
                <a:solidFill>
                  <a:schemeClr val="tx2"/>
                </a:solidFill>
              </a:rPr>
              <a:t>In-house</a:t>
            </a:r>
            <a:endParaRPr lang="en-US" sz="1800" dirty="0"/>
          </a:p>
        </p:txBody>
      </p:sp>
      <p:sp>
        <p:nvSpPr>
          <p:cNvPr id="20" name="Must-match card"/>
          <p:cNvSpPr/>
          <p:nvPr/>
        </p:nvSpPr>
        <p:spPr>
          <a:xfrm>
            <a:off x="8997696" y="4206240"/>
            <a:ext cx="2633472" cy="1691640"/>
          </a:xfrm>
          <a:prstGeom prst="roundRect">
            <a:avLst>
              <a:gd name="adj" fmla="val 4324"/>
            </a:avLst>
          </a:prstGeom>
          <a:solidFill>
            <a:schemeClr val="bg2"/>
          </a:solidFill>
          <a:ln/>
        </p:spPr>
      </p:sp>
      <p:sp>
        <p:nvSpPr>
          <p:cNvPr id="21" name="Icon circle"/>
          <p:cNvSpPr/>
          <p:nvPr/>
        </p:nvSpPr>
        <p:spPr>
          <a:xfrm>
            <a:off x="9272016" y="4526280"/>
            <a:ext cx="731520" cy="731520"/>
          </a:xfrm>
          <a:prstGeom prst="ellipse">
            <a:avLst/>
          </a:prstGeom>
          <a:solidFill>
            <a:schemeClr val="accent1"/>
          </a:solidFill>
          <a:ln/>
        </p:spPr>
      </p:sp>
      <p:pic>
        <p:nvPicPr>
          <p:cNvPr id="22" name="Image 3" descr="preencoded.png">    </p:cNvPr>
          <p:cNvPicPr>
            <a:picLocks noChangeAspect="1"/>
          </p:cNvPicPr>
          <p:nvPr/>
        </p:nvPicPr>
        <p:blipFill>
          <a:blip r:embed="rId4"/>
          <a:stretch>
            <a:fillRect/>
          </a:stretch>
        </p:blipFill>
        <p:spPr>
          <a:xfrm>
            <a:off x="9454896" y="4709160"/>
            <a:ext cx="365760" cy="365760"/>
          </a:xfrm>
          <a:prstGeom prst="rect">
            <a:avLst/>
          </a:prstGeom>
        </p:spPr>
      </p:pic>
      <p:sp>
        <p:nvSpPr>
          <p:cNvPr id="23" name="Text 16"/>
          <p:cNvSpPr txBox="1"/>
          <p:nvPr/>
        </p:nvSpPr>
        <p:spPr>
          <a:xfrm>
            <a:off x="10140696" y="4206240"/>
            <a:ext cx="1417320" cy="1691640"/>
          </a:xfrm>
          <a:prstGeom prst="rect">
            <a:avLst/>
          </a:prstGeom>
          <a:noFill/>
          <a:ln/>
        </p:spPr>
        <p:txBody>
          <a:bodyPr wrap="square" lIns="0" tIns="0" rIns="0" bIns="0" rtlCol="0" anchor="ctr"/>
          <a:lstStyle/>
          <a:p>
            <a:pPr indent="0" marL="0">
              <a:buNone/>
            </a:pPr>
            <a:r>
              <a:rPr lang="en-US" sz="1800" b="1" dirty="0">
                <a:solidFill>
                  <a:schemeClr val="tx2"/>
                </a:solidFill>
              </a:rPr>
              <a:t>HRD Corp claimable</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YOUR TURN  ·  CHAPTER 10</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Run the second purchase on your own</a:t>
            </a:r>
            <a:endParaRPr lang="en-US" sz="3200" dirty="0"/>
          </a:p>
        </p:txBody>
      </p:sp>
      <p:sp>
        <p:nvSpPr>
          <p:cNvPr id="5" name="Number 1"/>
          <p:cNvSpPr/>
          <p:nvPr/>
        </p:nvSpPr>
        <p:spPr>
          <a:xfrm>
            <a:off x="548640" y="1790700"/>
            <a:ext cx="457200" cy="457200"/>
          </a:xfrm>
          <a:prstGeom prst="ellipse">
            <a:avLst/>
          </a:prstGeom>
          <a:solidFill>
            <a:schemeClr val="accent1"/>
          </a:solidFill>
          <a:ln/>
        </p:spPr>
      </p:sp>
      <p:sp>
        <p:nvSpPr>
          <p:cNvPr id="6" name="Text 3"/>
          <p:cNvSpPr txBox="1"/>
          <p:nvPr/>
        </p:nvSpPr>
        <p:spPr>
          <a:xfrm>
            <a:off x="548640" y="17907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4"/>
          <p:cNvSpPr txBox="1"/>
          <p:nvPr/>
        </p:nvSpPr>
        <p:spPr>
          <a:xfrm>
            <a:off x="1188720" y="1691640"/>
            <a:ext cx="6035040" cy="655320"/>
          </a:xfrm>
          <a:prstGeom prst="rect">
            <a:avLst/>
          </a:prstGeom>
          <a:noFill/>
          <a:ln/>
        </p:spPr>
        <p:txBody>
          <a:bodyPr wrap="square" lIns="0" tIns="0" rIns="0" bIns="0" rtlCol="0" anchor="ctr"/>
          <a:lstStyle/>
          <a:p>
            <a:pPr indent="0" marL="0">
              <a:buNone/>
            </a:pPr>
            <a:r>
              <a:rPr lang="en-US" sz="1600" b="1" dirty="0">
                <a:solidFill>
                  <a:schemeClr val="accent1"/>
                </a:solidFill>
              </a:rPr>
              <a:t>10.3  </a:t>
            </a:r>
            <a:pPr indent="0" marL="0">
              <a:buNone/>
            </a:pPr>
            <a:r>
              <a:rPr lang="en-US" sz="1600" dirty="0">
                <a:solidFill>
                  <a:schemeClr val="tx1"/>
                </a:solidFill>
              </a:rPr>
              <a:t>Draft the requirements with GCSE</a:t>
            </a:r>
            <a:endParaRPr lang="en-US" sz="1600" dirty="0"/>
          </a:p>
        </p:txBody>
      </p:sp>
      <p:sp>
        <p:nvSpPr>
          <p:cNvPr id="8" name="Number 2"/>
          <p:cNvSpPr/>
          <p:nvPr/>
        </p:nvSpPr>
        <p:spPr>
          <a:xfrm>
            <a:off x="548640" y="2446020"/>
            <a:ext cx="457200" cy="457200"/>
          </a:xfrm>
          <a:prstGeom prst="ellipse">
            <a:avLst/>
          </a:prstGeom>
          <a:solidFill>
            <a:schemeClr val="accent1"/>
          </a:solidFill>
          <a:ln/>
        </p:spPr>
      </p:sp>
      <p:sp>
        <p:nvSpPr>
          <p:cNvPr id="9" name="Text 6"/>
          <p:cNvSpPr txBox="1"/>
          <p:nvPr/>
        </p:nvSpPr>
        <p:spPr>
          <a:xfrm>
            <a:off x="548640" y="24460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1188720" y="2346960"/>
            <a:ext cx="6035040" cy="655320"/>
          </a:xfrm>
          <a:prstGeom prst="rect">
            <a:avLst/>
          </a:prstGeom>
          <a:noFill/>
          <a:ln/>
        </p:spPr>
        <p:txBody>
          <a:bodyPr wrap="square" lIns="0" tIns="0" rIns="0" bIns="0" rtlCol="0" anchor="ctr"/>
          <a:lstStyle/>
          <a:p>
            <a:pPr indent="0" marL="0">
              <a:buNone/>
            </a:pPr>
            <a:r>
              <a:rPr lang="en-US" sz="1600" b="1" dirty="0">
                <a:solidFill>
                  <a:schemeClr val="accent1"/>
                </a:solidFill>
              </a:rPr>
              <a:t>10.4  </a:t>
            </a:r>
            <a:pPr indent="0" marL="0">
              <a:buNone/>
            </a:pPr>
            <a:r>
              <a:rPr lang="en-US" sz="1600" dirty="0">
                <a:solidFill>
                  <a:schemeClr val="tx1"/>
                </a:solidFill>
              </a:rPr>
              <a:t>Check with your agent, then compare in Copilot Chat</a:t>
            </a:r>
            <a:endParaRPr lang="en-US" sz="1600" dirty="0"/>
          </a:p>
        </p:txBody>
      </p:sp>
      <p:sp>
        <p:nvSpPr>
          <p:cNvPr id="11" name="Number 3"/>
          <p:cNvSpPr/>
          <p:nvPr/>
        </p:nvSpPr>
        <p:spPr>
          <a:xfrm>
            <a:off x="548640" y="3101340"/>
            <a:ext cx="457200" cy="457200"/>
          </a:xfrm>
          <a:prstGeom prst="ellipse">
            <a:avLst/>
          </a:prstGeom>
          <a:solidFill>
            <a:schemeClr val="accent1"/>
          </a:solidFill>
          <a:ln/>
        </p:spPr>
      </p:sp>
      <p:sp>
        <p:nvSpPr>
          <p:cNvPr id="12" name="Text 9"/>
          <p:cNvSpPr txBox="1"/>
          <p:nvPr/>
        </p:nvSpPr>
        <p:spPr>
          <a:xfrm>
            <a:off x="548640" y="31013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0"/>
          <p:cNvSpPr txBox="1"/>
          <p:nvPr/>
        </p:nvSpPr>
        <p:spPr>
          <a:xfrm>
            <a:off x="1188720" y="3002280"/>
            <a:ext cx="6035040" cy="655320"/>
          </a:xfrm>
          <a:prstGeom prst="rect">
            <a:avLst/>
          </a:prstGeom>
          <a:noFill/>
          <a:ln/>
        </p:spPr>
        <p:txBody>
          <a:bodyPr wrap="square" lIns="0" tIns="0" rIns="0" bIns="0" rtlCol="0" anchor="ctr"/>
          <a:lstStyle/>
          <a:p>
            <a:pPr indent="0" marL="0">
              <a:buNone/>
            </a:pPr>
            <a:r>
              <a:rPr lang="en-US" sz="1600" b="1" dirty="0">
                <a:solidFill>
                  <a:schemeClr val="accent1"/>
                </a:solidFill>
              </a:rPr>
              <a:t>10.5  </a:t>
            </a:r>
            <a:pPr indent="0" marL="0">
              <a:buNone/>
            </a:pPr>
            <a:r>
              <a:rPr lang="en-US" sz="1600" dirty="0">
                <a:solidFill>
                  <a:schemeClr val="tx1"/>
                </a:solidFill>
              </a:rPr>
              <a:t>Draft one chasing email per provider</a:t>
            </a:r>
            <a:endParaRPr lang="en-US" sz="1600" dirty="0"/>
          </a:p>
        </p:txBody>
      </p:sp>
      <p:sp>
        <p:nvSpPr>
          <p:cNvPr id="14" name="Number 4"/>
          <p:cNvSpPr/>
          <p:nvPr/>
        </p:nvSpPr>
        <p:spPr>
          <a:xfrm>
            <a:off x="548640" y="3756660"/>
            <a:ext cx="457200" cy="457200"/>
          </a:xfrm>
          <a:prstGeom prst="ellipse">
            <a:avLst/>
          </a:prstGeom>
          <a:solidFill>
            <a:schemeClr val="accent1"/>
          </a:solidFill>
          <a:ln/>
        </p:spPr>
      </p:sp>
      <p:sp>
        <p:nvSpPr>
          <p:cNvPr id="15" name="Text 12"/>
          <p:cNvSpPr txBox="1"/>
          <p:nvPr/>
        </p:nvSpPr>
        <p:spPr>
          <a:xfrm>
            <a:off x="548640" y="37566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6" name="Text 13"/>
          <p:cNvSpPr txBox="1"/>
          <p:nvPr/>
        </p:nvSpPr>
        <p:spPr>
          <a:xfrm>
            <a:off x="1188720" y="3657600"/>
            <a:ext cx="6035040" cy="655320"/>
          </a:xfrm>
          <a:prstGeom prst="rect">
            <a:avLst/>
          </a:prstGeom>
          <a:noFill/>
          <a:ln/>
        </p:spPr>
        <p:txBody>
          <a:bodyPr wrap="square" lIns="0" tIns="0" rIns="0" bIns="0" rtlCol="0" anchor="ctr"/>
          <a:lstStyle/>
          <a:p>
            <a:pPr indent="0" marL="0">
              <a:buNone/>
            </a:pPr>
            <a:r>
              <a:rPr lang="en-US" sz="1600" b="1" dirty="0">
                <a:solidFill>
                  <a:schemeClr val="accent1"/>
                </a:solidFill>
              </a:rPr>
              <a:t>10.6  </a:t>
            </a:r>
            <a:pPr indent="0" marL="0">
              <a:buNone/>
            </a:pPr>
            <a:r>
              <a:rPr lang="en-US" sz="1600" dirty="0">
                <a:solidFill>
                  <a:schemeClr val="tx1"/>
                </a:solidFill>
              </a:rPr>
              <a:t>Write the memo on a Page</a:t>
            </a:r>
            <a:endParaRPr lang="en-US" sz="1600" dirty="0"/>
          </a:p>
        </p:txBody>
      </p:sp>
      <p:sp>
        <p:nvSpPr>
          <p:cNvPr id="17" name="Number 5"/>
          <p:cNvSpPr/>
          <p:nvPr/>
        </p:nvSpPr>
        <p:spPr>
          <a:xfrm>
            <a:off x="548640" y="4411980"/>
            <a:ext cx="457200" cy="457200"/>
          </a:xfrm>
          <a:prstGeom prst="ellipse">
            <a:avLst/>
          </a:prstGeom>
          <a:solidFill>
            <a:schemeClr val="accent1"/>
          </a:solidFill>
          <a:ln/>
        </p:spPr>
      </p:sp>
      <p:sp>
        <p:nvSpPr>
          <p:cNvPr id="18" name="Text 15"/>
          <p:cNvSpPr txBox="1"/>
          <p:nvPr/>
        </p:nvSpPr>
        <p:spPr>
          <a:xfrm>
            <a:off x="548640" y="44119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9" name="Text 16"/>
          <p:cNvSpPr txBox="1"/>
          <p:nvPr/>
        </p:nvSpPr>
        <p:spPr>
          <a:xfrm>
            <a:off x="1188720" y="4312920"/>
            <a:ext cx="6035040" cy="655320"/>
          </a:xfrm>
          <a:prstGeom prst="rect">
            <a:avLst/>
          </a:prstGeom>
          <a:noFill/>
          <a:ln/>
        </p:spPr>
        <p:txBody>
          <a:bodyPr wrap="square" lIns="0" tIns="0" rIns="0" bIns="0" rtlCol="0" anchor="ctr"/>
          <a:lstStyle/>
          <a:p>
            <a:pPr indent="0" marL="0">
              <a:buNone/>
            </a:pPr>
            <a:r>
              <a:rPr lang="en-US" sz="1600" b="1" dirty="0">
                <a:solidFill>
                  <a:schemeClr val="accent1"/>
                </a:solidFill>
              </a:rPr>
              <a:t>10.7  </a:t>
            </a:r>
            <a:pPr indent="0" marL="0">
              <a:buNone/>
            </a:pPr>
            <a:r>
              <a:rPr lang="en-US" sz="1600" dirty="0">
                <a:solidFill>
                  <a:schemeClr val="tx1"/>
                </a:solidFill>
              </a:rPr>
              <a:t>File it all in a Training purchase 2026 Notebook</a:t>
            </a:r>
            <a:endParaRPr lang="en-US" sz="1600" dirty="0"/>
          </a:p>
        </p:txBody>
      </p:sp>
      <p:sp>
        <p:nvSpPr>
          <p:cNvPr id="20" name="Number 6"/>
          <p:cNvSpPr/>
          <p:nvPr/>
        </p:nvSpPr>
        <p:spPr>
          <a:xfrm>
            <a:off x="548640" y="5067300"/>
            <a:ext cx="457200" cy="457200"/>
          </a:xfrm>
          <a:prstGeom prst="ellipse">
            <a:avLst/>
          </a:prstGeom>
          <a:solidFill>
            <a:schemeClr val="accent1"/>
          </a:solidFill>
          <a:ln/>
        </p:spPr>
      </p:sp>
      <p:sp>
        <p:nvSpPr>
          <p:cNvPr id="21" name="Text 18"/>
          <p:cNvSpPr txBox="1"/>
          <p:nvPr/>
        </p:nvSpPr>
        <p:spPr>
          <a:xfrm>
            <a:off x="548640" y="50673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2" name="Text 19"/>
          <p:cNvSpPr txBox="1"/>
          <p:nvPr/>
        </p:nvSpPr>
        <p:spPr>
          <a:xfrm>
            <a:off x="1188720" y="4968240"/>
            <a:ext cx="6035040" cy="655320"/>
          </a:xfrm>
          <a:prstGeom prst="rect">
            <a:avLst/>
          </a:prstGeom>
          <a:noFill/>
          <a:ln/>
        </p:spPr>
        <p:txBody>
          <a:bodyPr wrap="square" lIns="0" tIns="0" rIns="0" bIns="0" rtlCol="0" anchor="ctr"/>
          <a:lstStyle/>
          <a:p>
            <a:pPr indent="0" marL="0">
              <a:buNone/>
            </a:pPr>
            <a:r>
              <a:rPr lang="en-US" sz="1600" b="1" dirty="0">
                <a:solidFill>
                  <a:schemeClr val="accent1"/>
                </a:solidFill>
              </a:rPr>
              <a:t>10.8  </a:t>
            </a:r>
            <a:pPr indent="0" marL="0">
              <a:buNone/>
            </a:pPr>
            <a:r>
              <a:rPr lang="en-US" sz="1600" dirty="0">
                <a:solidFill>
                  <a:schemeClr val="tx1"/>
                </a:solidFill>
              </a:rPr>
              <a:t>Run your Quotation Checker as a final check</a:t>
            </a:r>
            <a:endParaRPr lang="en-US" sz="1600" dirty="0"/>
          </a:p>
        </p:txBody>
      </p:sp>
      <p:sp>
        <p:nvSpPr>
          <p:cNvPr id="23" name="Checkpoint card"/>
          <p:cNvSpPr/>
          <p:nvPr/>
        </p:nvSpPr>
        <p:spPr>
          <a:xfrm>
            <a:off x="7680960" y="1691640"/>
            <a:ext cx="3959352" cy="2743200"/>
          </a:xfrm>
          <a:prstGeom prst="roundRect">
            <a:avLst>
              <a:gd name="adj" fmla="val 2667"/>
            </a:avLst>
          </a:prstGeom>
          <a:solidFill>
            <a:schemeClr val="accent1">
              <a:alpha val="12000"/>
            </a:schemeClr>
          </a:solidFill>
          <a:ln/>
        </p:spPr>
      </p:sp>
      <p:sp>
        <p:nvSpPr>
          <p:cNvPr id="24" name="Icon circle"/>
          <p:cNvSpPr/>
          <p:nvPr/>
        </p:nvSpPr>
        <p:spPr>
          <a:xfrm>
            <a:off x="7955280" y="1920240"/>
            <a:ext cx="548640" cy="548640"/>
          </a:xfrm>
          <a:prstGeom prst="ellipse">
            <a:avLst/>
          </a:prstGeom>
          <a:solidFill>
            <a:schemeClr val="accent1"/>
          </a:solidFill>
          <a:ln/>
        </p:spPr>
      </p:sp>
      <p:pic>
        <p:nvPicPr>
          <p:cNvPr id="25" name="Image 0" descr="preencoded.png">    </p:cNvPr>
          <p:cNvPicPr>
            <a:picLocks noChangeAspect="1"/>
          </p:cNvPicPr>
          <p:nvPr/>
        </p:nvPicPr>
        <p:blipFill>
          <a:blip r:embed="rId1"/>
          <a:stretch>
            <a:fillRect/>
          </a:stretch>
        </p:blipFill>
        <p:spPr>
          <a:xfrm>
            <a:off x="8092440" y="2057400"/>
            <a:ext cx="274320" cy="274320"/>
          </a:xfrm>
          <a:prstGeom prst="rect">
            <a:avLst/>
          </a:prstGeom>
        </p:spPr>
      </p:pic>
      <p:sp>
        <p:nvSpPr>
          <p:cNvPr id="26" name="Text 22"/>
          <p:cNvSpPr txBox="1"/>
          <p:nvPr/>
        </p:nvSpPr>
        <p:spPr>
          <a:xfrm>
            <a:off x="8641080" y="1920240"/>
            <a:ext cx="2834640" cy="548640"/>
          </a:xfrm>
          <a:prstGeom prst="rect">
            <a:avLst/>
          </a:prstGeom>
          <a:noFill/>
          <a:ln/>
        </p:spPr>
        <p:txBody>
          <a:bodyPr wrap="square" lIns="0" tIns="0" rIns="0" bIns="0" rtlCol="0" anchor="ctr"/>
          <a:lstStyle/>
          <a:p>
            <a:pPr indent="0" marL="0">
              <a:buNone/>
            </a:pPr>
            <a:r>
              <a:rPr lang="en-US" sz="1800" b="1" dirty="0">
                <a:solidFill>
                  <a:schemeClr val="tx2"/>
                </a:solidFill>
              </a:rPr>
              <a:t>Checkpoint</a:t>
            </a:r>
            <a:endParaRPr lang="en-US" sz="1800" dirty="0"/>
          </a:p>
        </p:txBody>
      </p:sp>
      <p:sp>
        <p:nvSpPr>
          <p:cNvPr id="27" name="Text 23"/>
          <p:cNvSpPr txBox="1"/>
          <p:nvPr/>
        </p:nvSpPr>
        <p:spPr>
          <a:xfrm>
            <a:off x="7955280" y="2606040"/>
            <a:ext cx="3474720" cy="1737360"/>
          </a:xfrm>
          <a:prstGeom prst="rect">
            <a:avLst/>
          </a:prstGeom>
          <a:noFill/>
          <a:ln/>
        </p:spPr>
        <p:txBody>
          <a:bodyPr wrap="square" lIns="0" tIns="0" rIns="0" bIns="0" rtlCol="0" anchor="t"/>
          <a:lstStyle/>
          <a:p>
            <a:pPr indent="0" marL="0">
              <a:buNone/>
            </a:pPr>
            <a:r>
              <a:rPr lang="en-US" sz="1500" dirty="0">
                <a:solidFill>
                  <a:schemeClr val="tx1"/>
                </a:solidFill>
              </a:rPr>
              <a:t>One problem found in each quotation, the policy section named for each, and every number in the memo explained without Copilot.</a:t>
            </a:r>
            <a:endParaRPr lang="en-US" sz="1500" dirty="0"/>
          </a:p>
        </p:txBody>
      </p:sp>
      <p:sp>
        <p:nvSpPr>
          <p:cNvPr id="28" name="Prompts card"/>
          <p:cNvSpPr/>
          <p:nvPr/>
        </p:nvSpPr>
        <p:spPr>
          <a:xfrm>
            <a:off x="7680960" y="4617720"/>
            <a:ext cx="3959352" cy="1234440"/>
          </a:xfrm>
          <a:prstGeom prst="roundRect">
            <a:avLst>
              <a:gd name="adj" fmla="val 5926"/>
            </a:avLst>
          </a:prstGeom>
          <a:solidFill>
            <a:schemeClr val="bg2"/>
          </a:solidFill>
          <a:ln/>
        </p:spPr>
      </p:sp>
      <p:sp>
        <p:nvSpPr>
          <p:cNvPr id="29" name="Icon circle"/>
          <p:cNvSpPr/>
          <p:nvPr/>
        </p:nvSpPr>
        <p:spPr>
          <a:xfrm>
            <a:off x="7955280" y="4892040"/>
            <a:ext cx="548640" cy="548640"/>
          </a:xfrm>
          <a:prstGeom prst="ellipse">
            <a:avLst/>
          </a:prstGeom>
          <a:solidFill>
            <a:schemeClr val="tx2"/>
          </a:solidFill>
          <a:ln/>
        </p:spPr>
      </p:sp>
      <p:pic>
        <p:nvPicPr>
          <p:cNvPr id="30" name="Image 1" descr="preencoded.png">    </p:cNvPr>
          <p:cNvPicPr>
            <a:picLocks noChangeAspect="1"/>
          </p:cNvPicPr>
          <p:nvPr/>
        </p:nvPicPr>
        <p:blipFill>
          <a:blip r:embed="rId2"/>
          <a:stretch>
            <a:fillRect/>
          </a:stretch>
        </p:blipFill>
        <p:spPr>
          <a:xfrm>
            <a:off x="8092440" y="5029200"/>
            <a:ext cx="274320" cy="274320"/>
          </a:xfrm>
          <a:prstGeom prst="rect">
            <a:avLst/>
          </a:prstGeom>
        </p:spPr>
      </p:pic>
      <p:sp>
        <p:nvSpPr>
          <p:cNvPr id="31" name="Text 26"/>
          <p:cNvSpPr txBox="1"/>
          <p:nvPr/>
        </p:nvSpPr>
        <p:spPr>
          <a:xfrm>
            <a:off x="8641080" y="4754880"/>
            <a:ext cx="2834640" cy="868680"/>
          </a:xfrm>
          <a:prstGeom prst="rect">
            <a:avLst/>
          </a:prstGeom>
          <a:noFill/>
          <a:ln/>
        </p:spPr>
        <p:txBody>
          <a:bodyPr wrap="square" lIns="0" tIns="0" rIns="0" bIns="0" rtlCol="0" anchor="ctr"/>
          <a:lstStyle/>
          <a:p>
            <a:pPr indent="0" marL="0">
              <a:buNone/>
            </a:pPr>
            <a:r>
              <a:rPr lang="en-US" sz="1600" b="1" dirty="0">
                <a:solidFill>
                  <a:schemeClr val="tx2"/>
                </a:solidFill>
              </a:rPr>
              <a:t>Prompts page</a:t>
            </a:r>
            <a:endParaRPr lang="en-US" sz="1600" dirty="0"/>
          </a:p>
          <a:p>
            <a:pPr indent="0" marL="0">
              <a:buNone/>
            </a:pPr>
            <a:r>
              <a:rPr lang="en-US" sz="1300" dirty="0">
                <a:solidFill>
                  <a:schemeClr val="accent4"/>
                </a:solidFill>
              </a:rPr>
              <a:t>Chapter 10: copy every prompt from there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CHAPTER 11  ·  SELF-PACED</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Finished early? Four short exercises</a:t>
            </a:r>
            <a:endParaRPr lang="en-US" sz="3200" dirty="0"/>
          </a:p>
        </p:txBody>
      </p:sp>
      <p:sp>
        <p:nvSpPr>
          <p:cNvPr id="5" name="Exercise card"/>
          <p:cNvSpPr/>
          <p:nvPr/>
        </p:nvSpPr>
        <p:spPr>
          <a:xfrm>
            <a:off x="548640" y="1783080"/>
            <a:ext cx="5440680" cy="1874520"/>
          </a:xfrm>
          <a:prstGeom prst="roundRect">
            <a:avLst>
              <a:gd name="adj" fmla="val 3902"/>
            </a:avLst>
          </a:prstGeom>
          <a:solidFill>
            <a:schemeClr val="bg2"/>
          </a:solidFill>
          <a:ln/>
        </p:spPr>
      </p:sp>
      <p:sp>
        <p:nvSpPr>
          <p:cNvPr id="6" name="Icon circle"/>
          <p:cNvSpPr/>
          <p:nvPr/>
        </p:nvSpPr>
        <p:spPr>
          <a:xfrm>
            <a:off x="868680" y="2286000"/>
            <a:ext cx="822960" cy="822960"/>
          </a:xfrm>
          <a:prstGeom prst="ellipse">
            <a:avLst/>
          </a:prstGeom>
          <a:solidFill>
            <a:schemeClr val="accent1"/>
          </a:solidFill>
          <a:ln/>
        </p:spPr>
      </p:sp>
      <p:pic>
        <p:nvPicPr>
          <p:cNvPr id="7" name="Image 0" descr="preencoded.png">    </p:cNvPr>
          <p:cNvPicPr>
            <a:picLocks noChangeAspect="1"/>
          </p:cNvPicPr>
          <p:nvPr/>
        </p:nvPicPr>
        <p:blipFill>
          <a:blip r:embed="rId1"/>
          <a:stretch>
            <a:fillRect/>
          </a:stretch>
        </p:blipFill>
        <p:spPr>
          <a:xfrm>
            <a:off x="1074420" y="2491740"/>
            <a:ext cx="411480" cy="411480"/>
          </a:xfrm>
          <a:prstGeom prst="rect">
            <a:avLst/>
          </a:prstGeom>
        </p:spPr>
      </p:pic>
      <p:sp>
        <p:nvSpPr>
          <p:cNvPr id="8" name="Text 4"/>
          <p:cNvSpPr txBox="1"/>
          <p:nvPr/>
        </p:nvSpPr>
        <p:spPr>
          <a:xfrm>
            <a:off x="1920240" y="2011680"/>
            <a:ext cx="3840480" cy="1417320"/>
          </a:xfrm>
          <a:prstGeom prst="rect">
            <a:avLst/>
          </a:prstGeom>
          <a:noFill/>
          <a:ln/>
        </p:spPr>
        <p:txBody>
          <a:bodyPr wrap="square" lIns="0" tIns="0" rIns="0" bIns="0" rtlCol="0" anchor="ctr"/>
          <a:lstStyle/>
          <a:p>
            <a:pPr indent="0" marL="0">
              <a:buNone/>
            </a:pPr>
            <a:r>
              <a:rPr lang="en-US" sz="2000" b="1" dirty="0">
                <a:solidFill>
                  <a:schemeClr val="tx2"/>
                </a:solidFill>
              </a:rPr>
              <a:t>A.  Polish an announcement</a:t>
            </a:r>
            <a:endParaRPr lang="en-US" sz="2000" dirty="0"/>
          </a:p>
          <a:p>
            <a:pPr indent="0" marL="0">
              <a:buNone/>
            </a:pPr>
            <a:r>
              <a:rPr lang="en-US" sz="1600" dirty="0">
                <a:solidFill>
                  <a:schemeClr val="tx1"/>
                </a:solidFill>
              </a:rPr>
              <a:t>Laptop collection day, under 120 words, in your voice</a:t>
            </a:r>
            <a:endParaRPr lang="en-US" sz="2000" dirty="0"/>
          </a:p>
        </p:txBody>
      </p:sp>
      <p:sp>
        <p:nvSpPr>
          <p:cNvPr id="9" name="Exercise card"/>
          <p:cNvSpPr/>
          <p:nvPr/>
        </p:nvSpPr>
        <p:spPr>
          <a:xfrm>
            <a:off x="6217920" y="1783080"/>
            <a:ext cx="5440680" cy="1874520"/>
          </a:xfrm>
          <a:prstGeom prst="roundRect">
            <a:avLst>
              <a:gd name="adj" fmla="val 3902"/>
            </a:avLst>
          </a:prstGeom>
          <a:solidFill>
            <a:schemeClr val="bg2"/>
          </a:solidFill>
          <a:ln/>
        </p:spPr>
      </p:sp>
      <p:sp>
        <p:nvSpPr>
          <p:cNvPr id="10" name="Icon circle"/>
          <p:cNvSpPr/>
          <p:nvPr/>
        </p:nvSpPr>
        <p:spPr>
          <a:xfrm>
            <a:off x="6537960" y="2286000"/>
            <a:ext cx="822960" cy="822960"/>
          </a:xfrm>
          <a:prstGeom prst="ellipse">
            <a:avLst/>
          </a:prstGeom>
          <a:solidFill>
            <a:schemeClr val="accent1"/>
          </a:solidFill>
          <a:ln/>
        </p:spPr>
      </p:sp>
      <p:pic>
        <p:nvPicPr>
          <p:cNvPr id="11" name="Image 1" descr="preencoded.png">    </p:cNvPr>
          <p:cNvPicPr>
            <a:picLocks noChangeAspect="1"/>
          </p:cNvPicPr>
          <p:nvPr/>
        </p:nvPicPr>
        <p:blipFill>
          <a:blip r:embed="rId2"/>
          <a:stretch>
            <a:fillRect/>
          </a:stretch>
        </p:blipFill>
        <p:spPr>
          <a:xfrm>
            <a:off x="6743700" y="2491740"/>
            <a:ext cx="411480" cy="411480"/>
          </a:xfrm>
          <a:prstGeom prst="rect">
            <a:avLst/>
          </a:prstGeom>
        </p:spPr>
      </p:pic>
      <p:sp>
        <p:nvSpPr>
          <p:cNvPr id="12" name="Text 7"/>
          <p:cNvSpPr txBox="1"/>
          <p:nvPr/>
        </p:nvSpPr>
        <p:spPr>
          <a:xfrm>
            <a:off x="7589520" y="2011680"/>
            <a:ext cx="3840480" cy="1417320"/>
          </a:xfrm>
          <a:prstGeom prst="rect">
            <a:avLst/>
          </a:prstGeom>
          <a:noFill/>
          <a:ln/>
        </p:spPr>
        <p:txBody>
          <a:bodyPr wrap="square" lIns="0" tIns="0" rIns="0" bIns="0" rtlCol="0" anchor="ctr"/>
          <a:lstStyle/>
          <a:p>
            <a:pPr indent="0" marL="0">
              <a:buNone/>
            </a:pPr>
            <a:r>
              <a:rPr lang="en-US" sz="2000" b="1" dirty="0">
                <a:solidFill>
                  <a:schemeClr val="tx2"/>
                </a:solidFill>
              </a:rPr>
              <a:t>B.  Make a notice image</a:t>
            </a:r>
            <a:endParaRPr lang="en-US" sz="2000" dirty="0"/>
          </a:p>
          <a:p>
            <a:pPr indent="0" marL="0">
              <a:buNone/>
            </a:pPr>
            <a:r>
              <a:rPr lang="en-US" sz="1600" dirty="0">
                <a:solidFill>
                  <a:schemeClr val="tx1"/>
                </a:solidFill>
              </a:rPr>
              <a:t>An image with no text in it, for the notice board</a:t>
            </a:r>
            <a:endParaRPr lang="en-US" sz="2000" dirty="0"/>
          </a:p>
        </p:txBody>
      </p:sp>
      <p:sp>
        <p:nvSpPr>
          <p:cNvPr id="13" name="Exercise card"/>
          <p:cNvSpPr/>
          <p:nvPr/>
        </p:nvSpPr>
        <p:spPr>
          <a:xfrm>
            <a:off x="548640" y="3886200"/>
            <a:ext cx="5440680" cy="1874520"/>
          </a:xfrm>
          <a:prstGeom prst="roundRect">
            <a:avLst>
              <a:gd name="adj" fmla="val 3902"/>
            </a:avLst>
          </a:prstGeom>
          <a:solidFill>
            <a:schemeClr val="bg2"/>
          </a:solidFill>
          <a:ln/>
        </p:spPr>
      </p:sp>
      <p:sp>
        <p:nvSpPr>
          <p:cNvPr id="14" name="Icon circle"/>
          <p:cNvSpPr/>
          <p:nvPr/>
        </p:nvSpPr>
        <p:spPr>
          <a:xfrm>
            <a:off x="868680" y="4389120"/>
            <a:ext cx="822960" cy="82296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1074420" y="4594860"/>
            <a:ext cx="411480" cy="411480"/>
          </a:xfrm>
          <a:prstGeom prst="rect">
            <a:avLst/>
          </a:prstGeom>
        </p:spPr>
      </p:pic>
      <p:sp>
        <p:nvSpPr>
          <p:cNvPr id="16" name="Text 10"/>
          <p:cNvSpPr txBox="1"/>
          <p:nvPr/>
        </p:nvSpPr>
        <p:spPr>
          <a:xfrm>
            <a:off x="1920240" y="4114800"/>
            <a:ext cx="3840480" cy="1417320"/>
          </a:xfrm>
          <a:prstGeom prst="rect">
            <a:avLst/>
          </a:prstGeom>
          <a:noFill/>
          <a:ln/>
        </p:spPr>
        <p:txBody>
          <a:bodyPr wrap="square" lIns="0" tIns="0" rIns="0" bIns="0" rtlCol="0" anchor="ctr"/>
          <a:lstStyle/>
          <a:p>
            <a:pPr indent="0" marL="0">
              <a:buNone/>
            </a:pPr>
            <a:r>
              <a:rPr lang="en-US" sz="2000" b="1" dirty="0">
                <a:solidFill>
                  <a:schemeClr val="tx2"/>
                </a:solidFill>
              </a:rPr>
              <a:t>C.  Improve a weak prompt</a:t>
            </a:r>
            <a:endParaRPr lang="en-US" sz="2000" dirty="0"/>
          </a:p>
          <a:p>
            <a:pPr indent="0" marL="0">
              <a:buNone/>
            </a:pPr>
            <a:r>
              <a:rPr lang="en-US" sz="1600" dirty="0">
                <a:solidFill>
                  <a:schemeClr val="tx1"/>
                </a:solidFill>
              </a:rPr>
              <a:t>Fix a colleague's four-word memo prompt</a:t>
            </a:r>
            <a:endParaRPr lang="en-US" sz="2000" dirty="0"/>
          </a:p>
        </p:txBody>
      </p:sp>
      <p:sp>
        <p:nvSpPr>
          <p:cNvPr id="17" name="Exercise card"/>
          <p:cNvSpPr/>
          <p:nvPr/>
        </p:nvSpPr>
        <p:spPr>
          <a:xfrm>
            <a:off x="6217920" y="3886200"/>
            <a:ext cx="5440680" cy="1874520"/>
          </a:xfrm>
          <a:prstGeom prst="roundRect">
            <a:avLst>
              <a:gd name="adj" fmla="val 3902"/>
            </a:avLst>
          </a:prstGeom>
          <a:solidFill>
            <a:schemeClr val="bg2"/>
          </a:solidFill>
          <a:ln/>
        </p:spPr>
      </p:sp>
      <p:sp>
        <p:nvSpPr>
          <p:cNvPr id="18" name="Icon circle"/>
          <p:cNvSpPr/>
          <p:nvPr/>
        </p:nvSpPr>
        <p:spPr>
          <a:xfrm>
            <a:off x="6537960" y="4389120"/>
            <a:ext cx="822960" cy="822960"/>
          </a:xfrm>
          <a:prstGeom prst="ellipse">
            <a:avLst/>
          </a:prstGeom>
          <a:solidFill>
            <a:schemeClr val="accent1"/>
          </a:solidFill>
          <a:ln/>
        </p:spPr>
      </p:sp>
      <p:pic>
        <p:nvPicPr>
          <p:cNvPr id="19" name="Image 3" descr="preencoded.png">    </p:cNvPr>
          <p:cNvPicPr>
            <a:picLocks noChangeAspect="1"/>
          </p:cNvPicPr>
          <p:nvPr/>
        </p:nvPicPr>
        <p:blipFill>
          <a:blip r:embed="rId4"/>
          <a:stretch>
            <a:fillRect/>
          </a:stretch>
        </p:blipFill>
        <p:spPr>
          <a:xfrm>
            <a:off x="6743700" y="4594860"/>
            <a:ext cx="411480" cy="411480"/>
          </a:xfrm>
          <a:prstGeom prst="rect">
            <a:avLst/>
          </a:prstGeom>
        </p:spPr>
      </p:pic>
      <p:sp>
        <p:nvSpPr>
          <p:cNvPr id="20" name="Text 13"/>
          <p:cNvSpPr txBox="1"/>
          <p:nvPr/>
        </p:nvSpPr>
        <p:spPr>
          <a:xfrm>
            <a:off x="7589520" y="4114800"/>
            <a:ext cx="3840480" cy="1417320"/>
          </a:xfrm>
          <a:prstGeom prst="rect">
            <a:avLst/>
          </a:prstGeom>
          <a:noFill/>
          <a:ln/>
        </p:spPr>
        <p:txBody>
          <a:bodyPr wrap="square" lIns="0" tIns="0" rIns="0" bIns="0" rtlCol="0" anchor="ctr"/>
          <a:lstStyle/>
          <a:p>
            <a:pPr indent="0" marL="0">
              <a:buNone/>
            </a:pPr>
            <a:r>
              <a:rPr lang="en-US" sz="2000" b="1" dirty="0">
                <a:solidFill>
                  <a:schemeClr val="tx2"/>
                </a:solidFill>
              </a:rPr>
              <a:t>D.  Research with sources</a:t>
            </a:r>
            <a:endParaRPr lang="en-US" sz="2000" dirty="0"/>
          </a:p>
          <a:p>
            <a:pPr indent="0" marL="0">
              <a:buNone/>
            </a:pPr>
            <a:r>
              <a:rPr lang="en-US" sz="1600" dirty="0">
                <a:solidFill>
                  <a:schemeClr val="tx1"/>
                </a:solidFill>
              </a:rPr>
              <a:t>Disposing of old laptops properly in Malaysia</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972800" cy="320040"/>
          </a:xfrm>
          <a:prstGeom prst="rect">
            <a:avLst/>
          </a:prstGeom>
          <a:noFill/>
          <a:ln/>
        </p:spPr>
        <p:txBody>
          <a:bodyPr wrap="square" lIns="0" tIns="0" rIns="0" bIns="0" rtlCol="0"/>
          <a:lstStyle/>
          <a:p>
            <a:pPr indent="0" marL="0">
              <a:buNone/>
            </a:pPr>
            <a:r>
              <a:rPr lang="en-US" sz="1200" b="1" spc="200" kern="0" dirty="0">
                <a:solidFill>
                  <a:schemeClr val="accent1"/>
                </a:solidFill>
              </a:rPr>
              <a:t>WRAP-UP</a:t>
            </a:r>
            <a:endParaRPr lang="en-US" sz="12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3200" b="1" dirty="0">
                <a:solidFill>
                  <a:schemeClr val="tx2"/>
                </a:solidFill>
              </a:rPr>
              <a:t>Five habits to take back to your desk</a:t>
            </a:r>
            <a:endParaRPr lang="en-US" sz="3200" dirty="0"/>
          </a:p>
        </p:txBody>
      </p:sp>
      <p:sp>
        <p:nvSpPr>
          <p:cNvPr id="5" name="Icon circle"/>
          <p:cNvSpPr/>
          <p:nvPr/>
        </p:nvSpPr>
        <p:spPr>
          <a:xfrm>
            <a:off x="548640" y="1691640"/>
            <a:ext cx="685800" cy="68580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720090" y="1863090"/>
            <a:ext cx="342900" cy="342900"/>
          </a:xfrm>
          <a:prstGeom prst="rect">
            <a:avLst/>
          </a:prstGeom>
        </p:spPr>
      </p:pic>
      <p:sp>
        <p:nvSpPr>
          <p:cNvPr id="7" name="Text 3"/>
          <p:cNvSpPr txBox="1"/>
          <p:nvPr/>
        </p:nvSpPr>
        <p:spPr>
          <a:xfrm>
            <a:off x="1463040" y="1691640"/>
            <a:ext cx="10149840" cy="685800"/>
          </a:xfrm>
          <a:prstGeom prst="rect">
            <a:avLst/>
          </a:prstGeom>
          <a:noFill/>
          <a:ln/>
        </p:spPr>
        <p:txBody>
          <a:bodyPr wrap="square" lIns="0" tIns="0" rIns="0" bIns="0" rtlCol="0" anchor="ctr"/>
          <a:lstStyle/>
          <a:p>
            <a:pPr indent="0" marL="0">
              <a:buNone/>
            </a:pPr>
            <a:r>
              <a:rPr lang="en-US" sz="2000" b="1" dirty="0">
                <a:solidFill>
                  <a:schemeClr val="tx2"/>
                </a:solidFill>
              </a:rPr>
              <a:t>Check the label and the shield</a:t>
            </a:r>
            <a:pPr indent="0" marL="0">
              <a:buNone/>
            </a:pPr>
            <a:r>
              <a:rPr lang="en-US" sz="2000" dirty="0">
                <a:solidFill>
                  <a:schemeClr val="accent4"/>
                </a:solidFill>
              </a:rPr>
              <a:t>   before you paste or upload anything</a:t>
            </a:r>
            <a:endParaRPr lang="en-US" sz="2000" dirty="0"/>
          </a:p>
        </p:txBody>
      </p:sp>
      <p:sp>
        <p:nvSpPr>
          <p:cNvPr id="8" name="Icon circle"/>
          <p:cNvSpPr/>
          <p:nvPr/>
        </p:nvSpPr>
        <p:spPr>
          <a:xfrm>
            <a:off x="548640" y="2560320"/>
            <a:ext cx="685800" cy="685800"/>
          </a:xfrm>
          <a:prstGeom prst="ellipse">
            <a:avLst/>
          </a:prstGeom>
          <a:solidFill>
            <a:schemeClr val="tx2"/>
          </a:solidFill>
          <a:ln/>
        </p:spPr>
      </p:sp>
      <p:pic>
        <p:nvPicPr>
          <p:cNvPr id="9" name="Image 1" descr="preencoded.png">    </p:cNvPr>
          <p:cNvPicPr>
            <a:picLocks noChangeAspect="1"/>
          </p:cNvPicPr>
          <p:nvPr/>
        </p:nvPicPr>
        <p:blipFill>
          <a:blip r:embed="rId2"/>
          <a:stretch>
            <a:fillRect/>
          </a:stretch>
        </p:blipFill>
        <p:spPr>
          <a:xfrm>
            <a:off x="720090" y="2731770"/>
            <a:ext cx="342900" cy="342900"/>
          </a:xfrm>
          <a:prstGeom prst="rect">
            <a:avLst/>
          </a:prstGeom>
        </p:spPr>
      </p:pic>
      <p:sp>
        <p:nvSpPr>
          <p:cNvPr id="10" name="Text 5"/>
          <p:cNvSpPr txBox="1"/>
          <p:nvPr/>
        </p:nvSpPr>
        <p:spPr>
          <a:xfrm>
            <a:off x="1463040" y="2560320"/>
            <a:ext cx="10149840" cy="685800"/>
          </a:xfrm>
          <a:prstGeom prst="rect">
            <a:avLst/>
          </a:prstGeom>
          <a:noFill/>
          <a:ln/>
        </p:spPr>
        <p:txBody>
          <a:bodyPr wrap="square" lIns="0" tIns="0" rIns="0" bIns="0" rtlCol="0" anchor="ctr"/>
          <a:lstStyle/>
          <a:p>
            <a:pPr indent="0" marL="0">
              <a:buNone/>
            </a:pPr>
            <a:r>
              <a:rPr lang="en-US" sz="2000" b="1" dirty="0">
                <a:solidFill>
                  <a:schemeClr val="tx2"/>
                </a:solidFill>
              </a:rPr>
              <a:t>Use GCSE</a:t>
            </a:r>
            <a:pPr indent="0" marL="0">
              <a:buNone/>
            </a:pPr>
            <a:r>
              <a:rPr lang="en-US" sz="2000" dirty="0">
                <a:solidFill>
                  <a:schemeClr val="accent4"/>
                </a:solidFill>
              </a:rPr>
              <a:t>   Goal, Context, Source, Expectations</a:t>
            </a:r>
            <a:endParaRPr lang="en-US" sz="2000" dirty="0"/>
          </a:p>
        </p:txBody>
      </p:sp>
      <p:sp>
        <p:nvSpPr>
          <p:cNvPr id="11" name="Icon circle"/>
          <p:cNvSpPr/>
          <p:nvPr/>
        </p:nvSpPr>
        <p:spPr>
          <a:xfrm>
            <a:off x="548640" y="3429000"/>
            <a:ext cx="685800" cy="685800"/>
          </a:xfrm>
          <a:prstGeom prst="ellipse">
            <a:avLst/>
          </a:prstGeom>
          <a:solidFill>
            <a:schemeClr val="accent1"/>
          </a:solidFill>
          <a:ln/>
        </p:spPr>
      </p:sp>
      <p:pic>
        <p:nvPicPr>
          <p:cNvPr id="12" name="Image 2" descr="preencoded.png">    </p:cNvPr>
          <p:cNvPicPr>
            <a:picLocks noChangeAspect="1"/>
          </p:cNvPicPr>
          <p:nvPr/>
        </p:nvPicPr>
        <p:blipFill>
          <a:blip r:embed="rId3"/>
          <a:stretch>
            <a:fillRect/>
          </a:stretch>
        </p:blipFill>
        <p:spPr>
          <a:xfrm>
            <a:off x="720090" y="3600450"/>
            <a:ext cx="342900" cy="342900"/>
          </a:xfrm>
          <a:prstGeom prst="rect">
            <a:avLst/>
          </a:prstGeom>
        </p:spPr>
      </p:pic>
      <p:sp>
        <p:nvSpPr>
          <p:cNvPr id="13" name="Text 7"/>
          <p:cNvSpPr txBox="1"/>
          <p:nvPr/>
        </p:nvSpPr>
        <p:spPr>
          <a:xfrm>
            <a:off x="1463040" y="3429000"/>
            <a:ext cx="10149840" cy="685800"/>
          </a:xfrm>
          <a:prstGeom prst="rect">
            <a:avLst/>
          </a:prstGeom>
          <a:noFill/>
          <a:ln/>
        </p:spPr>
        <p:txBody>
          <a:bodyPr wrap="square" lIns="0" tIns="0" rIns="0" bIns="0" rtlCol="0" anchor="ctr"/>
          <a:lstStyle/>
          <a:p>
            <a:pPr indent="0" marL="0">
              <a:buNone/>
            </a:pPr>
            <a:r>
              <a:rPr lang="en-US" sz="2000" b="1" dirty="0">
                <a:solidFill>
                  <a:schemeClr val="tx2"/>
                </a:solidFill>
              </a:rPr>
              <a:t>Check every number yourself</a:t>
            </a:r>
            <a:pPr indent="0" marL="0">
              <a:buNone/>
            </a:pPr>
            <a:r>
              <a:rPr lang="en-US" sz="2000" dirty="0">
                <a:solidFill>
                  <a:schemeClr val="accent4"/>
                </a:solidFill>
              </a:rPr>
              <a:t>   Copilot recommends, you decide</a:t>
            </a:r>
            <a:endParaRPr lang="en-US" sz="2000" dirty="0"/>
          </a:p>
        </p:txBody>
      </p:sp>
      <p:sp>
        <p:nvSpPr>
          <p:cNvPr id="14" name="Icon circle"/>
          <p:cNvSpPr/>
          <p:nvPr/>
        </p:nvSpPr>
        <p:spPr>
          <a:xfrm>
            <a:off x="548640" y="4297680"/>
            <a:ext cx="685800" cy="685800"/>
          </a:xfrm>
          <a:prstGeom prst="ellipse">
            <a:avLst/>
          </a:prstGeom>
          <a:solidFill>
            <a:schemeClr val="tx2"/>
          </a:solidFill>
          <a:ln/>
        </p:spPr>
      </p:sp>
      <p:pic>
        <p:nvPicPr>
          <p:cNvPr id="15" name="Image 3" descr="preencoded.png">    </p:cNvPr>
          <p:cNvPicPr>
            <a:picLocks noChangeAspect="1"/>
          </p:cNvPicPr>
          <p:nvPr/>
        </p:nvPicPr>
        <p:blipFill>
          <a:blip r:embed="rId4"/>
          <a:stretch>
            <a:fillRect/>
          </a:stretch>
        </p:blipFill>
        <p:spPr>
          <a:xfrm>
            <a:off x="720090" y="4469130"/>
            <a:ext cx="342900" cy="342900"/>
          </a:xfrm>
          <a:prstGeom prst="rect">
            <a:avLst/>
          </a:prstGeom>
        </p:spPr>
      </p:pic>
      <p:sp>
        <p:nvSpPr>
          <p:cNvPr id="16" name="Text 9"/>
          <p:cNvSpPr txBox="1"/>
          <p:nvPr/>
        </p:nvSpPr>
        <p:spPr>
          <a:xfrm>
            <a:off x="1463040" y="4297680"/>
            <a:ext cx="10149840" cy="685800"/>
          </a:xfrm>
          <a:prstGeom prst="rect">
            <a:avLst/>
          </a:prstGeom>
          <a:noFill/>
          <a:ln/>
        </p:spPr>
        <p:txBody>
          <a:bodyPr wrap="square" lIns="0" tIns="0" rIns="0" bIns="0" rtlCol="0" anchor="ctr"/>
          <a:lstStyle/>
          <a:p>
            <a:pPr indent="0" marL="0">
              <a:buNone/>
            </a:pPr>
            <a:r>
              <a:rPr lang="en-US" sz="2000" b="1" dirty="0">
                <a:solidFill>
                  <a:schemeClr val="tx2"/>
                </a:solidFill>
              </a:rPr>
              <a:t>Move answers that matter to a Page</a:t>
            </a:r>
            <a:pPr indent="0" marL="0">
              <a:buNone/>
            </a:pPr>
            <a:r>
              <a:rPr lang="en-US" sz="2000" dirty="0">
                <a:solidFill>
                  <a:schemeClr val="accent4"/>
                </a:solidFill>
              </a:rPr>
              <a:t>   so they can't drift</a:t>
            </a:r>
            <a:endParaRPr lang="en-US" sz="2000" dirty="0"/>
          </a:p>
        </p:txBody>
      </p:sp>
      <p:sp>
        <p:nvSpPr>
          <p:cNvPr id="17" name="Icon circle"/>
          <p:cNvSpPr/>
          <p:nvPr/>
        </p:nvSpPr>
        <p:spPr>
          <a:xfrm>
            <a:off x="548640" y="5166360"/>
            <a:ext cx="685800" cy="685800"/>
          </a:xfrm>
          <a:prstGeom prst="ellipse">
            <a:avLst/>
          </a:prstGeom>
          <a:solidFill>
            <a:schemeClr val="accent1"/>
          </a:solidFill>
          <a:ln/>
        </p:spPr>
      </p:sp>
      <p:pic>
        <p:nvPicPr>
          <p:cNvPr id="18" name="Image 4" descr="preencoded.png">    </p:cNvPr>
          <p:cNvPicPr>
            <a:picLocks noChangeAspect="1"/>
          </p:cNvPicPr>
          <p:nvPr/>
        </p:nvPicPr>
        <p:blipFill>
          <a:blip r:embed="rId5"/>
          <a:stretch>
            <a:fillRect/>
          </a:stretch>
        </p:blipFill>
        <p:spPr>
          <a:xfrm>
            <a:off x="720090" y="5337810"/>
            <a:ext cx="342900" cy="342900"/>
          </a:xfrm>
          <a:prstGeom prst="rect">
            <a:avLst/>
          </a:prstGeom>
        </p:spPr>
      </p:pic>
      <p:sp>
        <p:nvSpPr>
          <p:cNvPr id="19" name="Text 11"/>
          <p:cNvSpPr txBox="1"/>
          <p:nvPr/>
        </p:nvSpPr>
        <p:spPr>
          <a:xfrm>
            <a:off x="1463040" y="5166360"/>
            <a:ext cx="10149840" cy="685800"/>
          </a:xfrm>
          <a:prstGeom prst="rect">
            <a:avLst/>
          </a:prstGeom>
          <a:noFill/>
          <a:ln/>
        </p:spPr>
        <p:txBody>
          <a:bodyPr wrap="square" lIns="0" tIns="0" rIns="0" bIns="0" rtlCol="0" anchor="ctr"/>
          <a:lstStyle/>
          <a:p>
            <a:pPr indent="0" marL="0">
              <a:buNone/>
            </a:pPr>
            <a:r>
              <a:rPr lang="en-US" sz="2000" b="1" dirty="0">
                <a:solidFill>
                  <a:schemeClr val="tx2"/>
                </a:solidFill>
              </a:rPr>
              <a:t>Read every draft before you send it</a:t>
            </a:r>
            <a:pPr indent="0" marL="0">
              <a:buNone/>
            </a:pPr>
            <a:r>
              <a:rPr lang="en-US" sz="2000" dirty="0">
                <a:solidFill>
                  <a:schemeClr val="accent4"/>
                </a:solidFill>
              </a:rPr>
              <a:t>   names, numbers and promises</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731520" y="1371600"/>
            <a:ext cx="10058400" cy="365760"/>
          </a:xfrm>
          <a:prstGeom prst="rect">
            <a:avLst/>
          </a:prstGeom>
          <a:noFill/>
          <a:ln/>
        </p:spPr>
        <p:txBody>
          <a:bodyPr wrap="square" lIns="0" tIns="0" rIns="0" bIns="0" rtlCol="0"/>
          <a:lstStyle/>
          <a:p>
            <a:pPr indent="0" marL="0">
              <a:buNone/>
            </a:pPr>
            <a:r>
              <a:rPr lang="en-US" sz="1400" b="1" spc="300" kern="0" dirty="0">
                <a:solidFill>
                  <a:schemeClr val="accent1"/>
                </a:solidFill>
              </a:rPr>
              <a:t>THANK YOU</a:t>
            </a:r>
            <a:endParaRPr lang="en-US" sz="1400" dirty="0"/>
          </a:p>
        </p:txBody>
      </p:sp>
      <p:sp>
        <p:nvSpPr>
          <p:cNvPr id="3" name="Text 0"/>
          <p:cNvSpPr/>
          <p:nvPr>
            <p:ph idx="101" type="title" hasCustomPrompt="1"/>
          </p:nvPr>
        </p:nvSpPr>
        <p:spPr>
          <a:xfrm>
            <a:off x="731520" y="1828800"/>
            <a:ext cx="10515600" cy="1463040"/>
          </a:xfrm>
          <a:prstGeom prst="rect">
            <a:avLst/>
          </a:prstGeom>
          <a:noFill/>
          <a:ln/>
        </p:spPr>
        <p:txBody>
          <a:bodyPr wrap="square" lIns="0" tIns="0" rIns="0" bIns="0" rtlCol="0" anchor="t"/>
          <a:lstStyle/>
          <a:p>
            <a:pPr algn="l" indent="0" marL="0">
              <a:buNone/>
            </a:pPr>
            <a:r>
              <a:rPr lang="en-US" sz="4800" b="1" dirty="0">
                <a:solidFill>
                  <a:schemeClr val="bg1"/>
                </a:solidFill>
              </a:rPr>
              <a:t>Keep practising</a:t>
            </a:r>
            <a:endParaRPr lang="en-US" sz="4800" dirty="0"/>
          </a:p>
        </p:txBody>
      </p:sp>
      <p:sp>
        <p:nvSpPr>
          <p:cNvPr id="4" name="Text 0"/>
          <p:cNvSpPr/>
          <p:nvPr>
            <p:ph idx="102" type="body" hasCustomPrompt="1"/>
          </p:nvPr>
        </p:nvSpPr>
        <p:spPr>
          <a:xfrm>
            <a:off x="731520" y="3383280"/>
            <a:ext cx="9601200" cy="822960"/>
          </a:xfrm>
          <a:prstGeom prst="rect">
            <a:avLst/>
          </a:prstGeom>
          <a:noFill/>
          <a:ln/>
        </p:spPr>
        <p:txBody>
          <a:bodyPr wrap="square" lIns="0" tIns="0" rIns="0" bIns="0" rtlCol="0" anchor="t"/>
          <a:lstStyle/>
          <a:p>
            <a:pPr indent="0" marL="0">
              <a:buNone/>
            </a:pPr>
            <a:r>
              <a:rPr lang="en-US" sz="2200" dirty="0">
                <a:solidFill>
                  <a:schemeClr val="bg2"/>
                </a:solidFill>
              </a:rPr>
              <a:t>Notes, prompts, the course book and the sample files stay online after today.</a:t>
            </a:r>
            <a:endParaRPr lang="en-US" sz="2200" dirty="0"/>
          </a:p>
        </p:txBody>
      </p:sp>
      <p:sp>
        <p:nvSpPr>
          <p:cNvPr id="5" name="Text 0"/>
          <p:cNvSpPr/>
          <p:nvPr>
            <p:ph idx="103" type="body" hasCustomPrompt="1"/>
          </p:nvPr>
        </p:nvSpPr>
        <p:spPr>
          <a:xfrm>
            <a:off x="731520" y="5394960"/>
            <a:ext cx="9601200" cy="457200"/>
          </a:xfrm>
          <a:prstGeom prst="rect">
            <a:avLst/>
          </a:prstGeom>
          <a:noFill/>
          <a:ln/>
        </p:spPr>
        <p:txBody>
          <a:bodyPr wrap="square" lIns="0" tIns="0" rIns="0" bIns="0" rtlCol="0"/>
          <a:lstStyle/>
          <a:p>
            <a:pPr indent="0" marL="0">
              <a:buNone/>
            </a:pPr>
            <a:r>
              <a:rPr lang="en-US" sz="1400" dirty="0">
                <a:solidFill>
                  <a:schemeClr val="bg2"/>
                </a:solidFill>
              </a:rPr>
              <a:t>asraf-js.github.io/Copilot-Chat-Basic-Workshop</a:t>
            </a:r>
            <a:endParaRPr lang="en-US" sz="1400" dirty="0"/>
          </a:p>
        </p:txBody>
      </p:sp>
    </p:spTree>
  </p:cSld>
  <p:clrMapOvr>
    <a:masterClrMapping/>
  </p:clrMapOvr>
</p:sld>
</file>

<file path=ppt/theme/theme1.xml><?xml version="1.0" encoding="utf-8"?>
<a:theme xmlns:a="http://schemas.openxmlformats.org/drawingml/2006/main" name="Copilot Chat Basic">
  <a:themeElements>
    <a:clrScheme name="Copilot Chat Basic">
      <a:dk1>
        <a:srgbClr val="1A1A2E"/>
      </a:dk1>
      <a:lt1>
        <a:srgbClr val="FFFFFF"/>
      </a:lt1>
      <a:dk2>
        <a:srgbClr val="1E2761"/>
      </a:dk2>
      <a:lt2>
        <a:srgbClr val="F1F4F7"/>
      </a:lt2>
      <a:accent1>
        <a:srgbClr val="028090"/>
      </a:accent1>
      <a:accent2>
        <a:srgbClr val="1E2761"/>
      </a:accent2>
      <a:accent3>
        <a:srgbClr val="C2410C"/>
      </a:accent3>
      <a:accent4>
        <a:srgbClr val="4A5568"/>
      </a:accent4>
      <a:accent5>
        <a:srgbClr val="2E9E6B"/>
      </a:accent5>
      <a:accent6>
        <a:srgbClr val="B91C1C"/>
      </a:accent6>
      <a:hlink>
        <a:srgbClr val="028090"/>
      </a:hlink>
      <a:folHlink>
        <a:srgbClr val="1E2761"/>
      </a:folHlink>
    </a:clrScheme>
    <a:fontScheme name="Copilot Chat Basic">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Chat Basic Workshop</dc:title>
  <dc:subject>PptxGenJS Presentation</dc:subject>
  <dc:creator>Asraf Jaafar Sidik</dc:creator>
  <cp:lastModifiedBy>Asraf Jaafar Sidik</cp:lastModifiedBy>
  <cp:revision>1</cp:revision>
  <dcterms:created xsi:type="dcterms:W3CDTF">2026-10-08T01:10:34Z</dcterms:created>
  <dcterms:modified xsi:type="dcterms:W3CDTF">2026-10-08T01:10:34Z</dcterms:modified>
</cp:coreProperties>
</file>