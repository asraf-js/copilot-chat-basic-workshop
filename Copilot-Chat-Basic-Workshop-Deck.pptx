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8565717-8674-ee6c-fdf5-1813fbbe56b4}">
          <p14:sldIdLst>
            <p14:sldId id="256"/>
            <p14:sldId id="257"/>
            <p14:sldId id="258"/>
            <p14:sldId id="259"/>
            <p14:sldId id="260"/>
            <p14:sldId id="261"/>
            <p14:sldId id="262"/>
          </p14:sldIdLst>
        </p14:section>
        <p14:section name="01 Which Copilot do I have?" id="{061ab101-5dc3-7411-acd6-7effc1c718c6}">
          <p14:sldIdLst>
            <p14:sldId id="263"/>
            <p14:sldId id="264"/>
            <p14:sldId id="265"/>
            <p14:sldId id="266"/>
            <p14:sldId id="267"/>
          </p14:sldIdLst>
        </p14:section>
        <p14:section name="02 Find your way around" id="{3f654f21-731f-e108-831f-c997395211df}">
          <p14:sldIdLst>
            <p14:sldId id="268"/>
            <p14:sldId id="269"/>
            <p14:sldId id="270"/>
            <p14:sldId id="271"/>
          </p14:sldIdLst>
        </p14:section>
        <p14:section name="03 Write better prompts" id="{a5fa54b1-4ba0-4c17-f7b2-0f8ab9cc50a3}">
          <p14:sldIdLst>
            <p14:sldId id="272"/>
            <p14:sldId id="273"/>
            <p14:sldId id="274"/>
            <p14:sldId id="275"/>
            <p14:sldId id="276"/>
          </p14:sldIdLst>
        </p14:section>
        <p14:section name="04 Compare the quotations" id="{c208fff1-1db3-985c-e19f-935aa1a53e0b}">
          <p14:sldIdLst>
            <p14:sldId id="277"/>
            <p14:sldId id="278"/>
            <p14:sldId id="279"/>
            <p14:sldId id="280"/>
            <p14:sldId id="281"/>
            <p14:sldId id="282"/>
          </p14:sldIdLst>
        </p14:section>
        <p14:section name="05 Chase vendors in Outlook" id="{66e6f423-293b-d4c2-d9de-1bfd96982bac}">
          <p14:sldIdLst>
            <p14:sldId id="283"/>
            <p14:sldId id="284"/>
            <p14:sldId id="285"/>
            <p14:sldId id="286"/>
          </p14:sldIdLst>
        </p14:section>
        <p14:section name="06 From chat to Pages" id="{3d8cf0a8-0e8e-334d-4b9e-be7399682401}">
          <p14:sldIdLst>
            <p14:sldId id="287"/>
            <p14:sldId id="288"/>
            <p14:sldId id="289"/>
            <p14:sldId id="290"/>
          </p14:sldIdLst>
        </p14:section>
        <p14:section name="07 Keep it together in a Notebook" id="{f04ffef0-d35d-2cbc-9e4a-668596c5d19a}">
          <p14:sldIdLst>
            <p14:sldId id="291"/>
            <p14:sldId id="292"/>
            <p14:sldId id="293"/>
          </p14:sldIdLst>
        </p14:section>
        <p14:section name="08 Build a Quotation Checker agent" id="{bb0340b6-7e14-5194-a071-97d3f8394f30}">
          <p14:sldIdLst>
            <p14:sldId id="294"/>
            <p14:sldId id="295"/>
            <p14:sldId id="296"/>
            <p14:sldId id="297"/>
            <p14:sldId id="298"/>
          </p14:sldIdLst>
        </p14:section>
        <p14:section name="09 Optional: Word and Excel" id="{00d3fe9c-69b7-7cf8-6fcd-819a44113799}">
          <p14:sldIdLst>
            <p14:sldId id="299"/>
            <p14:sldId id="300"/>
          </p14:sldIdLst>
        </p14:section>
        <p14:section name="10 Capstone" id="{5bf6a2fb-4ad2-ec5a-549d-33d7a0581e96}">
          <p14:sldIdLst>
            <p14:sldId id="301"/>
            <p14:sldId id="302"/>
            <p14:sldId id="303"/>
          </p14:sldIdLst>
        </p14:section>
        <p14:section name="11 Extra practice" id="{9e23a077-25b8-adba-67d0-2ace0787b220}">
          <p14:sldIdLst>
            <p14:sldId id="304"/>
          </p14:sldIdLst>
        </p14:section>
        <p14:section name="Close" id="{dc132fb2-dbe0-b2c2-de18-e771b865d768}">
          <p14:sldIdLst>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Introduce yourself. Today is hands-on: you will spend most of the day in Copilot, not watching slides.
Ask the room: who has used Copilot at work before? Who has been told they don't have Copilot because they have no license? Today shows what you can do with what you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scenario out. Everything today serves this one purchase, so participants always know why they are doing a step.
Teratai Holdings, the vendors and every person in the sample files are fictional. The policy threshold is RM20,000: above it you need three written quotations, a comparison and a justification memo before the HOD signs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chapter moves the purchase one stage on. Chapter 9 is optional: only people whose label is M365 Copilot (Basic) have Copilot inside Word and Excel.
Chapter 10 is the capstone: a second purchase (a training course) that they run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 are the chapter estimates from the notes. Add breaks and lunch to suit the venue. Chapter 4 is the longest and the most important: protect its hour.
Chapter 11 has four short exercises for anyone who finishes early, and for practice after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address on the whiteboard as well. No GitHub account is needed.
Stress copying prompts from the Prompts page, using the copy icon on each grey box. Copying from the PDF can add line breaks in the middle of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each one live on the Chapter 1 page before the first exercise, so nobody discovers them halfway through the day.
Pop out: in Edge or Chrome the page moves into a window that stays on top. Edge places it, usually bottom right: drag it to the right edge once. A link inside it opens in the main window, so press Pop out again on the next chapter. In other browsers it's an ordinary window on the right.
What should you see?: try the step first, then open the box to check. The answers are the same ones you'll go through in the debriefs.
Screenshots: one click opens a screenshot in its own window. If the browser blocks pop-ups, it enlarges in the page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protect the participants and their company. Repeat rule 2 whenever someone is about to upload a file.
Training emails always start with [CCB TRAINING] in the subject and go only to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touches a company document, they need to know which Copilot they are in and whether enterprise data protection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 sits under your name at the bottom left of the Copilot app.
Copilot Chat (Basic): organisations with more than 2,000 users and no paid license. Since 15 April 2026 they have no Copilot inside Word, Excel, PowerPoint or OneNote.
M365 Copilot (Basic): smaller organisations, in-app Copilot with standard access.
Microsoft Copilot at copilot.microsoft.com with a personal account is the consumer product: consumer terms, no shield. Not for company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shield live. Point at it, don't click, to show the tooltip.
Enterprise data protection means prompts and uploaded files stay inside the organisation's Microsoft 365 boundary, like email and OneDrive, and aren't used to train the AI models.
If someone has no shield, they are almost always signed in with a personal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features appear in Microsoft videos and articles. They need the paid license or a preview.
Researcher and Analyst may still be listed under Pinned in the left pane. Tell people to leave them alone: they are not part of this course.
If an admin has turned something off (file upload, images, agents), the button can be missing for one person and not the next. Tell the trainer.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minutes. Walk the room and check each person's label. Note anyone without a shield and fix their sign-in before Chapter 2.
Ask two or three people to read out their label: in a large organisation it will be Copilot Chat (Basic), in a smaller one M365 Copilot (Basic). That tells you who can do Chapter 9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purchase so far: labels and shields checked. Nothing bought yet. The first job is knowing what a good laptop quotation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Copilot app in the browser is the main path today. The others are the same Copilot Chat in different places.
Edge sidebar: can read the web page you have open, useful for a supplier's website.
Teams: Copilot is in the left app rail. Basic can't search Teams messages or meetings from there.
Outlook: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controls live. Add (the plus) uploads files; the Prompt Gallery button disappears once you start typing; Auto in the top bar picks the response mode.
Chats: hover a chat in the left pane, open its menu: Rename, Move to notebook, Delete.
Share response is a Frontier feature, so on Basic, Copy is the main way to pass an answer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minutes. The first prompt is on the Prompts page for Chapter 2.
The screenshot tool is only in the Windows desktop app, not in the browser. Skip 2.7 for anyone working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purchase so far: they know what a complete laptop quotation should include. Now they write the requirements they'll send to three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all four every time. The more you include, the less Copilot has to guess.
With Basic, the sources are the public web, files you upload and anything you paste in. Naming the source tells Copilot which to rely on.
In 3.2 they build the prompt one part at a time and watch the answer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open in a Sources pane (References). In 3.4 they open at least one source and check that it says what Copilot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Gallery opens as Prompt Lab. Hover a prompt and choose Save prompt; it appears under Your saved prompts.
Custom instructions: Settings and more (gear, bottom left) &gt; Settings &gt; Personalization &gt; Edit instructions, then Save instructions.
Memory: Saved memories has a switch, a delete for each memory, and Delete all memories. Preferences and role only, never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minutes. The fourth prompt in 3.2 is long, and that's fine: a long, clear prompt gets a usable answer first time.
Remind people not to ask Copilot to remember anything confidential.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purchase so far: requirements went out to three vendors, and their quotations are back.
This is the core chapter of the day. Don't give away the problems: participants should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files are in sample-files.zip in the Chapter 4 folder. Extract the zip first.
Copilot takes at most three files per message, and a second upload doesn't add a fourth. So: send the policy first, in its own message, then the three quotations together. Everything must be in the same chat, or Copilot can't compare them.
The policy's Sections 5 to 7 matter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a section of the notes with its own prompt.
4.4: the table must show every figure exactly as printed. If Copilot quietly fixes a figure, the evidence is gone.
4.5: participants recalculate with their own calculator too.
4.6 and 4.7: check against the policy and ask whether the three are quoting for the same thing.
4.8: Copilot recommends, the participant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they start, and again at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minutes. Name the chat Laptop purchase - comparison: Chapters 6 and 8 come back to it.
Don't reveal the problems. If someone is stuck, point them to the matching section of the notes or ask: is every total right? Is every quotation still valid today? Is each one quoting for the same thing?
Screenshots for 4.5 to 4.8 in the notes are blurred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answers from the room before you confirm anything. The answers are in the trainer answer key, which is kept out of the public repository. This deck is public, so the answers aren't on the slides.
For each vendor, ask: what is the problem, which section of the policy applies, and what must the vendor do? The point to land: it's the vendor's job to fix its quotation, not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purchase so far: the comparison found a problem in each quotation. Before the HOD sees a memo, each vendor has to fix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this email sits above the open message and opens the Copilot pane.
Questions in the pane are answered from the open email only. In testing, an inbox-wide question about all three vendors found just the open thread.
There's no Draft with Copilot in compose on Basic. Draft in the pane, then copy the text into your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5.4 exercise shows this: a question about all three vendors comes back with one. To ask about another vendor, open that email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minutes. Emails go only to the participant's own address. Never to a real vendor or a colleague.
Summaries can give equal weight to an early message and a later one that replaced it: check the summary against the latest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purchase so far: quotations compared, vendors chased. Now the HOD needs a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reads the whole chat each time, but doesn't treat every earlier message equally. After several rounds of changes, a settled point can quietly disappear.
In 6.1 they send three changes in the comparison chat and check whether their Chapter 4 findings survived. In most classes at least one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ask for one complete comparison that lists everything it must include, then More options &gt; Edit in Pages. Name the Page Laptop purchase - comparison and memo.
6.3: Copilot on the Page suggests changes in chat rather than editing the Page directly. Add to page appends a response.
6.4: write the memo in the same chat, where the policy is uploaded, following Section 7.
6.5: Share offers Copy link. 6.6: More actions &gt; Export gives Document or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minutes. Read every sentence of the memo as if you'd written it: you're the one signing it. Delete anything you can't back up from the quotations or the policy.
Placeholders: budget code ADM-IT-2026-07, HOD Encik Faizal Rahman (both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purchase so far: comparison and memo on a Page and exported to Word. The vendors' revised quotations are still on their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 Notebook: name, Next, Create.
Add references offers Upload files and OneDrive files.
There are no notes in a Notebook, so a fact that lives only in your inbox (such as Seri Mutiara's 7-day stock hold) goes in a New Page under Creations, or in your prompt.
Remove superseded documents: if both the expired and the revalidated quotation are in, Copilot may quote the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minutes. Copilot answers only from the references added. If an answer is missing a fact, ask where that fact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purchase so far: everything sits in one Notebook. Before the next purchase comes along, make the Chapter 4 checks reusable.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&gt; New agent &gt; Skip opens the form.
The instructions are the Chapter 4 checks, written once. Rule 1 (ask for today's date) and the never-correct-silently line fix the two mistakes Copilot made most often in Chapter 4.
Under Knowledge, turn Web search off so the agent sticks to the uploaded quotations. Basic can't add files or SharePoint as knowledge.
Writing Coach (8.1) can be blocked by an admin. If it is, skip to 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test pane in Agent Builder on Basic: create the agent, then test it in its own chat.
In testing, the agent missed the Pinnacle total until this line was added to the instructions. That's the lesson: when an agent misses something, don't just re-ask, change the instructions so it can't miss it again.
The screenshot shows the agent catching the RM270 difference after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has a name field, Org-wide sharing and Copy chat link. For today, copy the link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minutes. The instructions are on the Prompts page for Chapter 8.
When testing, give the agent today's class date: 14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for people whose label is M365 Copilot (Basic). Everyone else moves on to the capstone or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labels you collected in Chapter 1. Copilot Chat (Basic) users have had no Copilot inside Word, Excel, PowerPoint or OneNote since 15 April 2026.
For those who can: 9.2 tightens the memo in Word (check every figure against the old version before keeping a rewrite). 9.3 adds a TRUE or FALSE check row in Excel that catches the same arithmetic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purchase lands on their desk, and this time they run it themselves. Each stage gives a goal, a hint and how to know they're done.
Don't reveal the problems in the three training quotations. They're in the trainer answer key, not in this public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brief aloud. Ask the room to name the four things every quotation must match before anyone opens the files.
Sample files: sample-files.zip in the Chapter 10 folder. Three fictional training providers plus the same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minutes. Step back: let them use the notes from earlier chapters. Hints only if someone is stuck, such as: read the pricing lines carefully, and check each quotation quotes for the same course as the brief.
The capstone checklist is at the end of Chapter 10 in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takes 10 to 15 minutes and uses skills from Chapters 2 to 8. Good for fast finishers, and for practice after the course.
B: AI images often get text wrong. Ask for an image without words and put the date and place in the notice text yourself. No logos or real brand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person which habit they'll use first, and on what task.
Recap the purchase: requirements, comparison, chasing, memo, Notebook, and an agent for next time, all without the paid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them to Chapter 11 for practice and to What to Learn Next on the home page for free Microsoft resources.
After the course, questions go to the training coordinator who arranged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Title-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ivider-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ontent-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Content-2-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Content-3-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Content-4-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Statement-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raf JS logo">    </p:cNvPr>
          <p:cNvPicPr>
            <a:picLocks noChangeAspect="1"/>
          </p:cNvPicPr>
          <p:nvPr/>
        </p:nvPicPr>
        <p:blipFill>
          <a:blip r:embed="rId1"/>
          <a:stretch>
            <a:fillRect/>
          </a:stretch>
        </p:blipFill>
        <p:spPr>
          <a:xfrm>
            <a:off x="658368" y="457200"/>
            <a:ext cx="777240" cy="777240"/>
          </a:xfrm>
          <a:prstGeom prst="rect">
            <a:avLst/>
          </a:prstGeom>
        </p:spPr>
      </p:pic>
      <p:sp>
        <p:nvSpPr>
          <p:cNvPr id="3" name="Text 0"/>
          <p:cNvSpPr/>
          <p:nvPr>
            <p:ph idx="101" type="body" hasCustomPrompt="1"/>
          </p:nvPr>
        </p:nvSpPr>
        <p:spPr>
          <a:xfrm>
            <a:off x="731520" y="1463040"/>
            <a:ext cx="10058400" cy="365760"/>
          </a:xfrm>
          <a:prstGeom prst="rect">
            <a:avLst/>
          </a:prstGeom>
          <a:noFill/>
          <a:ln/>
        </p:spPr>
        <p:txBody>
          <a:bodyPr wrap="square" rtlCol="0"/>
          <a:lstStyle>
            <a:lvl1pPr indent="0" marL="0">
              <a:buNone/>
              <a:defRPr lang="en-US" sz="1600" dirty="0">
                <a:solidFill>
                  <a:srgbClr val="00EEFC"/>
                </a:solidFill>
              </a:defRPr>
            </a:lvl1pPr>
          </a:lstStyle>
          <a:p>
            <a:pPr indent="0" marL="0">
              <a:buNone/>
            </a:pPr>
            <a:endParaRPr lang="en-US" sz="1600" dirty="0"/>
          </a:p>
        </p:txBody>
      </p:sp>
      <p:sp>
        <p:nvSpPr>
          <p:cNvPr id="4" name="Text 0"/>
          <p:cNvSpPr/>
          <p:nvPr>
            <p:ph idx="102" type="title" hasCustomPrompt="1"/>
          </p:nvPr>
        </p:nvSpPr>
        <p:spPr>
          <a:xfrm>
            <a:off x="731520" y="1920240"/>
            <a:ext cx="10515600" cy="1371600"/>
          </a:xfrm>
          <a:prstGeom prst="rect">
            <a:avLst/>
          </a:prstGeom>
          <a:noFill/>
          <a:ln/>
        </p:spPr>
        <p:txBody>
          <a:bodyPr wrap="square" rtlCol="0"/>
          <a:lstStyle>
            <a:lvl1pPr algn="l" indent="0" marL="0">
              <a:buNone/>
              <a:defRPr lang="en-US" sz="4800" dirty="0">
                <a:solidFill>
                  <a:schemeClr val="bg1"/>
                </a:solidFill>
              </a:defRPr>
            </a:lvl1pPr>
          </a:lstStyle>
          <a:p>
            <a:pPr algn="l" indent="0" marL="0">
              <a:buNone/>
            </a:pPr>
            <a:endParaRPr lang="en-US" sz="4800" dirty="0"/>
          </a:p>
        </p:txBody>
      </p:sp>
      <p:sp>
        <p:nvSpPr>
          <p:cNvPr id="5" name="Text 0"/>
          <p:cNvSpPr/>
          <p:nvPr>
            <p:ph idx="103" type="body" hasCustomPrompt="1"/>
          </p:nvPr>
        </p:nvSpPr>
        <p:spPr>
          <a:xfrm>
            <a:off x="731520" y="3383280"/>
            <a:ext cx="91440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6" name="Text 0"/>
          <p:cNvSpPr/>
          <p:nvPr>
            <p:ph idx="104" type="body" hasCustomPrompt="1"/>
          </p:nvPr>
        </p:nvSpPr>
        <p:spPr>
          <a:xfrm>
            <a:off x="731520" y="5669280"/>
            <a:ext cx="9601200" cy="36576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raf JS logo">    </p:cNvPr>
          <p:cNvPicPr>
            <a:picLocks noChangeAspect="1"/>
          </p:cNvPicPr>
          <p:nvPr/>
        </p:nvPicPr>
        <p:blipFill>
          <a:blip r:embed="rId1"/>
          <a:stretch>
            <a:fillRect/>
          </a:stretch>
        </p:blipFill>
        <p:spPr>
          <a:xfrm>
            <a:off x="685800" y="5989320"/>
            <a:ext cx="502920" cy="502920"/>
          </a:xfrm>
          <a:prstGeom prst="rect">
            <a:avLst/>
          </a:prstGeom>
        </p:spPr>
      </p:pic>
      <p:sp>
        <p:nvSpPr>
          <p:cNvPr id="3" name="Text 0"/>
          <p:cNvSpPr/>
          <p:nvPr>
            <p:ph idx="101" type="body" hasCustomPrompt="1"/>
          </p:nvPr>
        </p:nvSpPr>
        <p:spPr>
          <a:xfrm>
            <a:off x="731520" y="914400"/>
            <a:ext cx="3657600" cy="1463040"/>
          </a:xfrm>
          <a:prstGeom prst="rect">
            <a:avLst/>
          </a:prstGeom>
          <a:noFill/>
          <a:ln/>
        </p:spPr>
        <p:txBody>
          <a:bodyPr wrap="square" rtlCol="0"/>
          <a:lstStyle>
            <a:lvl1pPr indent="0" marL="0">
              <a:buNone/>
              <a:defRPr lang="en-US" sz="8800" dirty="0">
                <a:solidFill>
                  <a:srgbClr val="00EEFC"/>
                </a:solidFill>
                <a:latin typeface="Segoe UI Light" pitchFamily="34" charset="0"/>
                <a:ea typeface="Segoe UI Light" pitchFamily="34" charset="-122"/>
                <a:cs typeface="Segoe UI Light" pitchFamily="34" charset="-120"/>
              </a:defRPr>
            </a:lvl1pPr>
          </a:lstStyle>
          <a:p>
            <a:pPr indent="0" marL="0">
              <a:buNone/>
            </a:pPr>
            <a:endParaRPr lang="en-US" sz="8800" dirty="0"/>
          </a:p>
        </p:txBody>
      </p:sp>
      <p:sp>
        <p:nvSpPr>
          <p:cNvPr id="4" name="Text 0"/>
          <p:cNvSpPr/>
          <p:nvPr>
            <p:ph idx="102" type="title" hasCustomPrompt="1"/>
          </p:nvPr>
        </p:nvSpPr>
        <p:spPr>
          <a:xfrm>
            <a:off x="731520" y="2606040"/>
            <a:ext cx="10515600" cy="1097280"/>
          </a:xfrm>
          <a:prstGeom prst="rect">
            <a:avLst/>
          </a:prstGeom>
          <a:noFill/>
          <a:ln/>
        </p:spPr>
        <p:txBody>
          <a:bodyPr wrap="square" rtlCol="0"/>
          <a:lstStyle>
            <a:lvl1pPr algn="l" indent="0" marL="0">
              <a:buNone/>
              <a:defRPr lang="en-US" sz="4000" dirty="0">
                <a:solidFill>
                  <a:schemeClr val="bg1"/>
                </a:solidFill>
              </a:defRPr>
            </a:lvl1pPr>
          </a:lstStyle>
          <a:p>
            <a:pPr algn="l" indent="0" marL="0">
              <a:buNone/>
            </a:pPr>
            <a:endParaRPr lang="en-US" sz="4000" dirty="0"/>
          </a:p>
        </p:txBody>
      </p:sp>
      <p:sp>
        <p:nvSpPr>
          <p:cNvPr id="5" name="Text 0"/>
          <p:cNvSpPr/>
          <p:nvPr>
            <p:ph idx="103" type="body" hasCustomPrompt="1"/>
          </p:nvPr>
        </p:nvSpPr>
        <p:spPr>
          <a:xfrm>
            <a:off x="731520" y="3931920"/>
            <a:ext cx="6949440" cy="14630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pic>
        <p:nvPicPr>
          <p:cNvPr id="4" name="Image 0" descr="Asraf JS logo">    </p:cNvPr>
          <p:cNvPicPr>
            <a:picLocks noChangeAspect="1"/>
          </p:cNvPicPr>
          <p:nvPr/>
        </p:nvPicPr>
        <p:blipFill>
          <a:blip r:embed="rId1"/>
          <a:stretch>
            <a:fillRect/>
          </a:stretch>
        </p:blipFill>
        <p:spPr>
          <a:xfrm>
            <a:off x="502920" y="6245352"/>
            <a:ext cx="384048" cy="384048"/>
          </a:xfrm>
          <a:prstGeom prst="rect">
            <a:avLst/>
          </a:prstGeom>
        </p:spPr>
      </p:pic>
      <p:sp>
        <p:nvSpPr>
          <p:cNvPr id="5" name="Text 0"/>
          <p:cNvSpPr/>
          <p:nvPr/>
        </p:nvSpPr>
        <p:spPr>
          <a:xfrm>
            <a:off x="96012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Copilot Chat Basic Workshop</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pic>
        <p:nvPicPr>
          <p:cNvPr id="4" name="Image 0" descr="Asraf JS logo">    </p:cNvPr>
          <p:cNvPicPr>
            <a:picLocks noChangeAspect="1"/>
          </p:cNvPicPr>
          <p:nvPr/>
        </p:nvPicPr>
        <p:blipFill>
          <a:blip r:embed="rId1"/>
          <a:stretch>
            <a:fillRect/>
          </a:stretch>
        </p:blipFill>
        <p:spPr>
          <a:xfrm>
            <a:off x="502920" y="6245352"/>
            <a:ext cx="384048" cy="384048"/>
          </a:xfrm>
          <a:prstGeom prst="rect">
            <a:avLst/>
          </a:prstGeom>
        </p:spPr>
      </p:pic>
      <p:sp>
        <p:nvSpPr>
          <p:cNvPr id="5" name="Text 0"/>
          <p:cNvSpPr/>
          <p:nvPr/>
        </p:nvSpPr>
        <p:spPr>
          <a:xfrm>
            <a:off x="96012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Copilot Chat Basic Workshop</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pic>
        <p:nvPicPr>
          <p:cNvPr id="4" name="Image 0" descr="Asraf JS logo">    </p:cNvPr>
          <p:cNvPicPr>
            <a:picLocks noChangeAspect="1"/>
          </p:cNvPicPr>
          <p:nvPr/>
        </p:nvPicPr>
        <p:blipFill>
          <a:blip r:embed="rId1"/>
          <a:stretch>
            <a:fillRect/>
          </a:stretch>
        </p:blipFill>
        <p:spPr>
          <a:xfrm>
            <a:off x="502920" y="6245352"/>
            <a:ext cx="384048" cy="384048"/>
          </a:xfrm>
          <a:prstGeom prst="rect">
            <a:avLst/>
          </a:prstGeom>
        </p:spPr>
      </p:pic>
      <p:sp>
        <p:nvSpPr>
          <p:cNvPr id="5" name="Text 0"/>
          <p:cNvSpPr/>
          <p:nvPr/>
        </p:nvSpPr>
        <p:spPr>
          <a:xfrm>
            <a:off x="96012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Copilot Chat Basic Workshop</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pic>
        <p:nvPicPr>
          <p:cNvPr id="4" name="Image 0" descr="Asraf JS logo">    </p:cNvPr>
          <p:cNvPicPr>
            <a:picLocks noChangeAspect="1"/>
          </p:cNvPicPr>
          <p:nvPr/>
        </p:nvPicPr>
        <p:blipFill>
          <a:blip r:embed="rId1"/>
          <a:stretch>
            <a:fillRect/>
          </a:stretch>
        </p:blipFill>
        <p:spPr>
          <a:xfrm>
            <a:off x="502920" y="6245352"/>
            <a:ext cx="384048" cy="384048"/>
          </a:xfrm>
          <a:prstGeom prst="rect">
            <a:avLst/>
          </a:prstGeom>
        </p:spPr>
      </p:pic>
      <p:sp>
        <p:nvSpPr>
          <p:cNvPr id="5" name="Text 0"/>
          <p:cNvSpPr/>
          <p:nvPr/>
        </p:nvSpPr>
        <p:spPr>
          <a:xfrm>
            <a:off x="96012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Copilot Chat Basic Workshop</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raf JS logo">    </p:cNvPr>
          <p:cNvPicPr>
            <a:picLocks noChangeAspect="1"/>
          </p:cNvPicPr>
          <p:nvPr/>
        </p:nvPicPr>
        <p:blipFill>
          <a:blip r:embed="rId1"/>
          <a:stretch>
            <a:fillRect/>
          </a:stretch>
        </p:blipFill>
        <p:spPr>
          <a:xfrm>
            <a:off x="685800" y="502920"/>
            <a:ext cx="548640" cy="548640"/>
          </a:xfrm>
          <a:prstGeom prst="rect">
            <a:avLst/>
          </a:prstGeom>
        </p:spPr>
      </p:pic>
      <p:sp>
        <p:nvSpPr>
          <p:cNvPr id="3" name="Text 0"/>
          <p:cNvSpPr/>
          <p:nvPr>
            <p:ph idx="101" type="title" hasCustomPrompt="1"/>
          </p:nvPr>
        </p:nvSpPr>
        <p:spPr>
          <a:xfrm>
            <a:off x="731520" y="2011680"/>
            <a:ext cx="10241280" cy="1828800"/>
          </a:xfrm>
          <a:prstGeom prst="rect">
            <a:avLst/>
          </a:prstGeom>
          <a:noFill/>
          <a:ln/>
        </p:spPr>
        <p:txBody>
          <a:bodyPr wrap="square" rtlCol="0"/>
          <a:lstStyle>
            <a:lvl1pPr algn="l" indent="0" marL="0">
              <a:buNone/>
              <a:defRPr lang="en-US" sz="4000" dirty="0">
                <a:solidFill>
                  <a:schemeClr val="accent1"/>
                </a:solidFill>
              </a:defRPr>
            </a:lvl1pPr>
          </a:lstStyle>
          <a:p>
            <a:pPr algn="l" indent="0" marL="0">
              <a:buNone/>
            </a:pPr>
            <a:endParaRPr lang="en-US" sz="4000" dirty="0"/>
          </a:p>
        </p:txBody>
      </p:sp>
      <p:sp>
        <p:nvSpPr>
          <p:cNvPr id="4" name="Text 0"/>
          <p:cNvSpPr/>
          <p:nvPr>
            <p:ph idx="102" type="body" hasCustomPrompt="1"/>
          </p:nvPr>
        </p:nvSpPr>
        <p:spPr>
          <a:xfrm>
            <a:off x="731520" y="4069080"/>
            <a:ext cx="9601200" cy="91440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7.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6.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7.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6.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7.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7.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5.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slideLayout" Target="../slideLayouts/slideLayout6.xml"/><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png"/><Relationship Id="rId3" Type="http://schemas.openxmlformats.org/officeDocument/2006/relationships/slideLayout" Target="../slideLayouts/slideLayout7.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png"/><Relationship Id="rId3" Type="http://schemas.openxmlformats.org/officeDocument/2006/relationships/slideLayout" Target="../slideLayouts/slideLayout5.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6.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7.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41-2.png"/><Relationship Id="rId3" Type="http://schemas.openxmlformats.org/officeDocument/2006/relationships/slideLayout" Target="../slideLayouts/slideLayout4.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5.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6.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7.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5.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6.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731520" y="1463040"/>
            <a:ext cx="10058400" cy="365760"/>
          </a:xfrm>
          <a:prstGeom prst="rect">
            <a:avLst/>
          </a:prstGeom>
          <a:noFill/>
          <a:ln/>
        </p:spPr>
        <p:txBody>
          <a:bodyPr wrap="square" lIns="0" tIns="0" rIns="0" bIns="0" rtlCol="0"/>
          <a:lstStyle/>
          <a:p>
            <a:pPr indent="0" marL="0">
              <a:buNone/>
            </a:pPr>
            <a:r>
              <a:rPr lang="en-US" sz="1600" dirty="0">
                <a:solidFill>
                  <a:srgbClr val="00EEFC"/>
                </a:solidFill>
              </a:rPr>
              <a:t>One-day workshop</a:t>
            </a:r>
            <a:endParaRPr lang="en-US" sz="1600" dirty="0"/>
          </a:p>
        </p:txBody>
      </p:sp>
      <p:sp>
        <p:nvSpPr>
          <p:cNvPr id="3" name="Text 0"/>
          <p:cNvSpPr/>
          <p:nvPr>
            <p:ph idx="102" type="title" hasCustomPrompt="1"/>
          </p:nvPr>
        </p:nvSpPr>
        <p:spPr>
          <a:xfrm>
            <a:off x="731520" y="1920240"/>
            <a:ext cx="10515600" cy="1371600"/>
          </a:xfrm>
          <a:prstGeom prst="rect">
            <a:avLst/>
          </a:prstGeom>
          <a:noFill/>
          <a:ln/>
        </p:spPr>
        <p:txBody>
          <a:bodyPr wrap="square" lIns="0" tIns="0" rIns="0" bIns="0" rtlCol="0" anchor="t"/>
          <a:lstStyle/>
          <a:p>
            <a:pPr algn="l" indent="0" marL="0">
              <a:buNone/>
            </a:pPr>
            <a:r>
              <a:rPr lang="en-US" sz="4800" dirty="0">
                <a:solidFill>
                  <a:schemeClr val="bg1"/>
                </a:solidFill>
              </a:rPr>
              <a:t>Copilot Chat Basic Workshop</a:t>
            </a:r>
            <a:endParaRPr lang="en-US" sz="4800" dirty="0"/>
          </a:p>
        </p:txBody>
      </p:sp>
      <p:sp>
        <p:nvSpPr>
          <p:cNvPr id="4" name="Text 0"/>
          <p:cNvSpPr/>
          <p:nvPr>
            <p:ph idx="103" type="body" hasCustomPrompt="1"/>
          </p:nvPr>
        </p:nvSpPr>
        <p:spPr>
          <a:xfrm>
            <a:off x="731520" y="3383280"/>
            <a:ext cx="9144000" cy="914400"/>
          </a:xfrm>
          <a:prstGeom prst="rect">
            <a:avLst/>
          </a:prstGeom>
          <a:noFill/>
          <a:ln/>
        </p:spPr>
        <p:txBody>
          <a:bodyPr wrap="square" lIns="0" tIns="0" rIns="0" bIns="0" rtlCol="0" anchor="t"/>
          <a:lstStyle/>
          <a:p>
            <a:pPr indent="0" marL="0">
              <a:buNone/>
            </a:pPr>
            <a:r>
              <a:rPr lang="en-US" sz="2200" dirty="0">
                <a:solidFill>
                  <a:schemeClr val="bg2"/>
                </a:solidFill>
              </a:rPr>
              <a:t>Getting real work done with Microsoft Copilot, without the paid license</a:t>
            </a:r>
            <a:endParaRPr lang="en-US" sz="2200" dirty="0"/>
          </a:p>
        </p:txBody>
      </p:sp>
      <p:sp>
        <p:nvSpPr>
          <p:cNvPr id="5" name="Text 0"/>
          <p:cNvSpPr/>
          <p:nvPr>
            <p:ph idx="104" type="body" hasCustomPrompt="1"/>
          </p:nvPr>
        </p:nvSpPr>
        <p:spPr>
          <a:xfrm>
            <a:off x="731520" y="5669280"/>
            <a:ext cx="9601200" cy="365760"/>
          </a:xfrm>
          <a:prstGeom prst="rect">
            <a:avLst/>
          </a:prstGeom>
          <a:noFill/>
          <a:ln/>
        </p:spPr>
        <p:txBody>
          <a:bodyPr wrap="square" lIns="0" tIns="0" rIns="0" bIns="0" rtlCol="0"/>
          <a:lstStyle/>
          <a:p>
            <a:pPr indent="0" marL="0">
              <a:buNone/>
            </a:pPr>
            <a:r>
              <a:rPr lang="en-US" sz="1400" dirty="0">
                <a:solidFill>
                  <a:schemeClr val="bg2"/>
                </a:solidFill>
              </a:rPr>
              <a:t>Asraf Jaafar Sidik  |  Microsoft Certified Trainer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Today's task</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Today you run one real purchase, start to finish</a:t>
            </a:r>
            <a:endParaRPr lang="en-US" sz="3200" dirty="0"/>
          </a:p>
        </p:txBody>
      </p:sp>
      <p:sp>
        <p:nvSpPr>
          <p:cNvPr id="5" name="Scenario panel"/>
          <p:cNvSpPr/>
          <p:nvPr/>
        </p:nvSpPr>
        <p:spPr>
          <a:xfrm>
            <a:off x="548640" y="1783080"/>
            <a:ext cx="6035040" cy="4160520"/>
          </a:xfrm>
          <a:prstGeom prst="roundRect">
            <a:avLst>
              <a:gd name="adj" fmla="val 2198"/>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14400" y="2148840"/>
            <a:ext cx="548640" cy="548640"/>
          </a:xfrm>
          <a:prstGeom prst="rect">
            <a:avLst/>
          </a:prstGeom>
        </p:spPr>
      </p:pic>
      <p:sp>
        <p:nvSpPr>
          <p:cNvPr id="7" name="Text 3"/>
          <p:cNvSpPr txBox="1"/>
          <p:nvPr/>
        </p:nvSpPr>
        <p:spPr>
          <a:xfrm>
            <a:off x="914400" y="2926080"/>
            <a:ext cx="5303520" cy="274320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You're an executive in the Admin and Facilities department at Teratai Holdings Berhad.</a:t>
            </a:r>
            <a:endParaRPr lang="en-US" sz="1800" dirty="0"/>
          </a:p>
          <a:p>
            <a:pPr indent="0" marL="0">
              <a:buNone/>
            </a:pPr>
            <a:r>
              <a:rPr lang="en-US" sz="1000" dirty="0">
                <a:solidFill>
                  <a:schemeClr val="bg1"/>
                </a:solidFill>
              </a:rPr>
              <a:t> </a:t>
            </a:r>
            <a:endParaRPr lang="en-US" sz="1800" dirty="0"/>
          </a:p>
          <a:p>
            <a:pPr indent="0" marL="0">
              <a:buNone/>
            </a:pPr>
            <a:r>
              <a:rPr lang="en-US" sz="1800" dirty="0">
                <a:solidFill>
                  <a:schemeClr val="bg1"/>
                </a:solidFill>
              </a:rPr>
              <a:t>The department needs 25 new laptops for next quarter's hires. Company policy says any purchase above RM20,000 needs three written quotations, a comparison and a justification memo before the HOD signs off.</a:t>
            </a:r>
            <a:endParaRPr lang="en-US" sz="1800" dirty="0"/>
          </a:p>
        </p:txBody>
      </p:sp>
      <p:sp>
        <p:nvSpPr>
          <p:cNvPr id="8" name="Text 4"/>
          <p:cNvSpPr txBox="1"/>
          <p:nvPr/>
        </p:nvSpPr>
        <p:spPr>
          <a:xfrm>
            <a:off x="7132320" y="1783080"/>
            <a:ext cx="4480560" cy="731520"/>
          </a:xfrm>
          <a:prstGeom prst="rect">
            <a:avLst/>
          </a:prstGeom>
          <a:noFill/>
          <a:ln/>
        </p:spPr>
        <p:txBody>
          <a:bodyPr wrap="square" lIns="0" tIns="0" rIns="0" bIns="0" rtlCol="0" anchor="t"/>
          <a:lstStyle/>
          <a:p>
            <a:pPr indent="0" marL="0">
              <a:buNone/>
            </a:pPr>
            <a:r>
              <a:rPr lang="en-US" sz="4000" dirty="0">
                <a:solidFill>
                  <a:schemeClr val="accent1"/>
                </a:solidFill>
                <a:latin typeface="Segoe UI Light" pitchFamily="34" charset="0"/>
                <a:ea typeface="Segoe UI Light" pitchFamily="34" charset="-122"/>
                <a:cs typeface="Segoe UI Light" pitchFamily="34" charset="-120"/>
              </a:rPr>
              <a:t>25</a:t>
            </a:r>
            <a:endParaRPr lang="en-US" sz="4000" dirty="0"/>
          </a:p>
        </p:txBody>
      </p:sp>
      <p:sp>
        <p:nvSpPr>
          <p:cNvPr id="9" name="Text 5"/>
          <p:cNvSpPr txBox="1"/>
          <p:nvPr/>
        </p:nvSpPr>
        <p:spPr>
          <a:xfrm>
            <a:off x="7132320" y="2514600"/>
            <a:ext cx="4480560" cy="365760"/>
          </a:xfrm>
          <a:prstGeom prst="rect">
            <a:avLst/>
          </a:prstGeom>
          <a:noFill/>
          <a:ln/>
        </p:spPr>
        <p:txBody>
          <a:bodyPr wrap="square" lIns="0" tIns="0" rIns="0" bIns="0" rtlCol="0" anchor="t"/>
          <a:lstStyle/>
          <a:p>
            <a:pPr indent="0" marL="0">
              <a:buNone/>
            </a:pPr>
            <a:r>
              <a:rPr lang="en-US" sz="1600" dirty="0">
                <a:solidFill>
                  <a:schemeClr val="accent4"/>
                </a:solidFill>
              </a:rPr>
              <a:t>laptops for new hires</a:t>
            </a:r>
            <a:endParaRPr lang="en-US" sz="1600" dirty="0"/>
          </a:p>
        </p:txBody>
      </p:sp>
      <p:sp>
        <p:nvSpPr>
          <p:cNvPr id="10" name="Divider line"/>
          <p:cNvSpPr/>
          <p:nvPr/>
        </p:nvSpPr>
        <p:spPr>
          <a:xfrm>
            <a:off x="7132320" y="3044952"/>
            <a:ext cx="4480560" cy="0"/>
          </a:xfrm>
          <a:prstGeom prst="line">
            <a:avLst/>
          </a:prstGeom>
          <a:noFill/>
          <a:ln w="12700">
            <a:solidFill>
              <a:srgbClr val="E0E0E0"/>
            </a:solidFill>
            <a:prstDash val="solid"/>
          </a:ln>
        </p:spPr>
      </p:sp>
      <p:sp>
        <p:nvSpPr>
          <p:cNvPr id="11" name="Text 7"/>
          <p:cNvSpPr txBox="1"/>
          <p:nvPr/>
        </p:nvSpPr>
        <p:spPr>
          <a:xfrm>
            <a:off x="7132320" y="3200400"/>
            <a:ext cx="4480560" cy="731520"/>
          </a:xfrm>
          <a:prstGeom prst="rect">
            <a:avLst/>
          </a:prstGeom>
          <a:noFill/>
          <a:ln/>
        </p:spPr>
        <p:txBody>
          <a:bodyPr wrap="square" lIns="0" tIns="0" rIns="0" bIns="0" rtlCol="0" anchor="t"/>
          <a:lstStyle/>
          <a:p>
            <a:pPr indent="0" marL="0">
              <a:buNone/>
            </a:pPr>
            <a:r>
              <a:rPr lang="en-US" sz="4000" dirty="0">
                <a:solidFill>
                  <a:schemeClr val="accent1"/>
                </a:solidFill>
                <a:latin typeface="Segoe UI Light" pitchFamily="34" charset="0"/>
                <a:ea typeface="Segoe UI Light" pitchFamily="34" charset="-122"/>
                <a:cs typeface="Segoe UI Light" pitchFamily="34" charset="-120"/>
              </a:rPr>
              <a:t>RM20,000</a:t>
            </a:r>
            <a:endParaRPr lang="en-US" sz="4000" dirty="0"/>
          </a:p>
        </p:txBody>
      </p:sp>
      <p:sp>
        <p:nvSpPr>
          <p:cNvPr id="12" name="Text 8"/>
          <p:cNvSpPr txBox="1"/>
          <p:nvPr/>
        </p:nvSpPr>
        <p:spPr>
          <a:xfrm>
            <a:off x="7132320" y="3931920"/>
            <a:ext cx="4480560" cy="365760"/>
          </a:xfrm>
          <a:prstGeom prst="rect">
            <a:avLst/>
          </a:prstGeom>
          <a:noFill/>
          <a:ln/>
        </p:spPr>
        <p:txBody>
          <a:bodyPr wrap="square" lIns="0" tIns="0" rIns="0" bIns="0" rtlCol="0" anchor="t"/>
          <a:lstStyle/>
          <a:p>
            <a:pPr indent="0" marL="0">
              <a:buNone/>
            </a:pPr>
            <a:r>
              <a:rPr lang="en-US" sz="1600" dirty="0">
                <a:solidFill>
                  <a:schemeClr val="accent4"/>
                </a:solidFill>
              </a:rPr>
              <a:t>the policy threshold</a:t>
            </a:r>
            <a:endParaRPr lang="en-US" sz="1600" dirty="0"/>
          </a:p>
        </p:txBody>
      </p:sp>
      <p:sp>
        <p:nvSpPr>
          <p:cNvPr id="13" name="Divider line"/>
          <p:cNvSpPr/>
          <p:nvPr/>
        </p:nvSpPr>
        <p:spPr>
          <a:xfrm>
            <a:off x="7132320" y="4462272"/>
            <a:ext cx="4480560" cy="0"/>
          </a:xfrm>
          <a:prstGeom prst="line">
            <a:avLst/>
          </a:prstGeom>
          <a:noFill/>
          <a:ln w="12700">
            <a:solidFill>
              <a:srgbClr val="E0E0E0"/>
            </a:solidFill>
            <a:prstDash val="solid"/>
          </a:ln>
        </p:spPr>
      </p:sp>
      <p:sp>
        <p:nvSpPr>
          <p:cNvPr id="14" name="Text 10"/>
          <p:cNvSpPr txBox="1"/>
          <p:nvPr/>
        </p:nvSpPr>
        <p:spPr>
          <a:xfrm>
            <a:off x="7132320" y="4617720"/>
            <a:ext cx="4480560" cy="731520"/>
          </a:xfrm>
          <a:prstGeom prst="rect">
            <a:avLst/>
          </a:prstGeom>
          <a:noFill/>
          <a:ln/>
        </p:spPr>
        <p:txBody>
          <a:bodyPr wrap="square" lIns="0" tIns="0" rIns="0" bIns="0" rtlCol="0" anchor="t"/>
          <a:lstStyle/>
          <a:p>
            <a:pPr indent="0" marL="0">
              <a:buNone/>
            </a:pPr>
            <a:r>
              <a:rPr lang="en-US" sz="4000" dirty="0">
                <a:solidFill>
                  <a:schemeClr val="accent1"/>
                </a:solidFill>
                <a:latin typeface="Segoe UI Light" pitchFamily="34" charset="0"/>
                <a:ea typeface="Segoe UI Light" pitchFamily="34" charset="-122"/>
                <a:cs typeface="Segoe UI Light" pitchFamily="34" charset="-120"/>
              </a:rPr>
              <a:t>3 + 1 + 1</a:t>
            </a:r>
            <a:endParaRPr lang="en-US" sz="4000" dirty="0"/>
          </a:p>
        </p:txBody>
      </p:sp>
      <p:sp>
        <p:nvSpPr>
          <p:cNvPr id="15" name="Text 11"/>
          <p:cNvSpPr txBox="1"/>
          <p:nvPr/>
        </p:nvSpPr>
        <p:spPr>
          <a:xfrm>
            <a:off x="7132320" y="5349240"/>
            <a:ext cx="4480560" cy="365760"/>
          </a:xfrm>
          <a:prstGeom prst="rect">
            <a:avLst/>
          </a:prstGeom>
          <a:noFill/>
          <a:ln/>
        </p:spPr>
        <p:txBody>
          <a:bodyPr wrap="square" lIns="0" tIns="0" rIns="0" bIns="0" rtlCol="0" anchor="t"/>
          <a:lstStyle/>
          <a:p>
            <a:pPr indent="0" marL="0">
              <a:buNone/>
            </a:pPr>
            <a:r>
              <a:rPr lang="en-US" sz="1600" dirty="0">
                <a:solidFill>
                  <a:schemeClr val="accent4"/>
                </a:solidFill>
              </a:rPr>
              <a:t>quotations, comparison and memo</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The day at a glance</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Ten stages, one chapter each</a:t>
            </a:r>
            <a:endParaRPr lang="en-US" sz="3200" dirty="0"/>
          </a:p>
        </p:txBody>
      </p:sp>
      <p:sp>
        <p:nvSpPr>
          <p:cNvPr id="5" name="Divider line"/>
          <p:cNvSpPr/>
          <p:nvPr/>
        </p:nvSpPr>
        <p:spPr>
          <a:xfrm>
            <a:off x="548640" y="1783080"/>
            <a:ext cx="2011680" cy="0"/>
          </a:xfrm>
          <a:prstGeom prst="line">
            <a:avLst/>
          </a:prstGeom>
          <a:noFill/>
          <a:ln w="12700">
            <a:solidFill>
              <a:srgbClr val="E0E0E0"/>
            </a:solidFill>
            <a:prstDash val="solid"/>
          </a:ln>
        </p:spPr>
      </p:sp>
      <p:sp>
        <p:nvSpPr>
          <p:cNvPr id="6" name="Text 3"/>
          <p:cNvSpPr txBox="1"/>
          <p:nvPr/>
        </p:nvSpPr>
        <p:spPr>
          <a:xfrm>
            <a:off x="548640" y="192024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01</a:t>
            </a:r>
            <a:endParaRPr lang="en-US" sz="2800" dirty="0"/>
          </a:p>
        </p:txBody>
      </p:sp>
      <p:sp>
        <p:nvSpPr>
          <p:cNvPr id="7" name="Text 4"/>
          <p:cNvSpPr txBox="1"/>
          <p:nvPr/>
        </p:nvSpPr>
        <p:spPr>
          <a:xfrm>
            <a:off x="548640" y="251460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Check</a:t>
            </a:r>
            <a:endParaRPr lang="en-US" sz="1800" dirty="0"/>
          </a:p>
        </p:txBody>
      </p:sp>
      <p:sp>
        <p:nvSpPr>
          <p:cNvPr id="8" name="Text 5"/>
          <p:cNvSpPr txBox="1"/>
          <p:nvPr/>
        </p:nvSpPr>
        <p:spPr>
          <a:xfrm>
            <a:off x="548640" y="292608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Your label and the green shield</a:t>
            </a:r>
            <a:endParaRPr lang="en-US" sz="1400" dirty="0"/>
          </a:p>
        </p:txBody>
      </p:sp>
      <p:sp>
        <p:nvSpPr>
          <p:cNvPr id="9" name="Divider line"/>
          <p:cNvSpPr/>
          <p:nvPr/>
        </p:nvSpPr>
        <p:spPr>
          <a:xfrm>
            <a:off x="2798064" y="1783080"/>
            <a:ext cx="2011680" cy="0"/>
          </a:xfrm>
          <a:prstGeom prst="line">
            <a:avLst/>
          </a:prstGeom>
          <a:noFill/>
          <a:ln w="12700">
            <a:solidFill>
              <a:srgbClr val="E0E0E0"/>
            </a:solidFill>
            <a:prstDash val="solid"/>
          </a:ln>
        </p:spPr>
      </p:sp>
      <p:sp>
        <p:nvSpPr>
          <p:cNvPr id="10" name="Text 7"/>
          <p:cNvSpPr txBox="1"/>
          <p:nvPr/>
        </p:nvSpPr>
        <p:spPr>
          <a:xfrm>
            <a:off x="2798064" y="192024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02</a:t>
            </a:r>
            <a:endParaRPr lang="en-US" sz="2800" dirty="0"/>
          </a:p>
        </p:txBody>
      </p:sp>
      <p:sp>
        <p:nvSpPr>
          <p:cNvPr id="11" name="Text 8"/>
          <p:cNvSpPr txBox="1"/>
          <p:nvPr/>
        </p:nvSpPr>
        <p:spPr>
          <a:xfrm>
            <a:off x="2798064" y="251460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Explore</a:t>
            </a:r>
            <a:endParaRPr lang="en-US" sz="1800" dirty="0"/>
          </a:p>
        </p:txBody>
      </p:sp>
      <p:sp>
        <p:nvSpPr>
          <p:cNvPr id="12" name="Text 9"/>
          <p:cNvSpPr txBox="1"/>
          <p:nvPr/>
        </p:nvSpPr>
        <p:spPr>
          <a:xfrm>
            <a:off x="2798064" y="292608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Find your way around Copilot</a:t>
            </a:r>
            <a:endParaRPr lang="en-US" sz="1400" dirty="0"/>
          </a:p>
        </p:txBody>
      </p:sp>
      <p:sp>
        <p:nvSpPr>
          <p:cNvPr id="13" name="Divider line"/>
          <p:cNvSpPr/>
          <p:nvPr/>
        </p:nvSpPr>
        <p:spPr>
          <a:xfrm>
            <a:off x="5047488" y="1783080"/>
            <a:ext cx="2011680" cy="0"/>
          </a:xfrm>
          <a:prstGeom prst="line">
            <a:avLst/>
          </a:prstGeom>
          <a:noFill/>
          <a:ln w="12700">
            <a:solidFill>
              <a:srgbClr val="E0E0E0"/>
            </a:solidFill>
            <a:prstDash val="solid"/>
          </a:ln>
        </p:spPr>
      </p:sp>
      <p:sp>
        <p:nvSpPr>
          <p:cNvPr id="14" name="Text 11"/>
          <p:cNvSpPr txBox="1"/>
          <p:nvPr/>
        </p:nvSpPr>
        <p:spPr>
          <a:xfrm>
            <a:off x="5047488" y="192024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03</a:t>
            </a:r>
            <a:endParaRPr lang="en-US" sz="2800" dirty="0"/>
          </a:p>
        </p:txBody>
      </p:sp>
      <p:sp>
        <p:nvSpPr>
          <p:cNvPr id="15" name="Text 12"/>
          <p:cNvSpPr txBox="1"/>
          <p:nvPr/>
        </p:nvSpPr>
        <p:spPr>
          <a:xfrm>
            <a:off x="5047488" y="251460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Ask</a:t>
            </a:r>
            <a:endParaRPr lang="en-US" sz="1800" dirty="0"/>
          </a:p>
        </p:txBody>
      </p:sp>
      <p:sp>
        <p:nvSpPr>
          <p:cNvPr id="16" name="Text 13"/>
          <p:cNvSpPr txBox="1"/>
          <p:nvPr/>
        </p:nvSpPr>
        <p:spPr>
          <a:xfrm>
            <a:off x="5047488" y="292608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Write the vendor requirements</a:t>
            </a:r>
            <a:endParaRPr lang="en-US" sz="1400" dirty="0"/>
          </a:p>
        </p:txBody>
      </p:sp>
      <p:sp>
        <p:nvSpPr>
          <p:cNvPr id="17" name="Divider line"/>
          <p:cNvSpPr/>
          <p:nvPr/>
        </p:nvSpPr>
        <p:spPr>
          <a:xfrm>
            <a:off x="7296912" y="1783080"/>
            <a:ext cx="2011680" cy="0"/>
          </a:xfrm>
          <a:prstGeom prst="line">
            <a:avLst/>
          </a:prstGeom>
          <a:noFill/>
          <a:ln w="12700">
            <a:solidFill>
              <a:srgbClr val="E0E0E0"/>
            </a:solidFill>
            <a:prstDash val="solid"/>
          </a:ln>
        </p:spPr>
      </p:sp>
      <p:sp>
        <p:nvSpPr>
          <p:cNvPr id="18" name="Text 15"/>
          <p:cNvSpPr txBox="1"/>
          <p:nvPr/>
        </p:nvSpPr>
        <p:spPr>
          <a:xfrm>
            <a:off x="7296912" y="192024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04</a:t>
            </a:r>
            <a:endParaRPr lang="en-US" sz="2800" dirty="0"/>
          </a:p>
        </p:txBody>
      </p:sp>
      <p:sp>
        <p:nvSpPr>
          <p:cNvPr id="19" name="Text 16"/>
          <p:cNvSpPr txBox="1"/>
          <p:nvPr/>
        </p:nvSpPr>
        <p:spPr>
          <a:xfrm>
            <a:off x="7296912" y="251460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Compare</a:t>
            </a:r>
            <a:endParaRPr lang="en-US" sz="1800" dirty="0"/>
          </a:p>
        </p:txBody>
      </p:sp>
      <p:sp>
        <p:nvSpPr>
          <p:cNvPr id="20" name="Text 17"/>
          <p:cNvSpPr txBox="1"/>
          <p:nvPr/>
        </p:nvSpPr>
        <p:spPr>
          <a:xfrm>
            <a:off x="7296912" y="292608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Check the three quotations</a:t>
            </a:r>
            <a:endParaRPr lang="en-US" sz="1400" dirty="0"/>
          </a:p>
        </p:txBody>
      </p:sp>
      <p:sp>
        <p:nvSpPr>
          <p:cNvPr id="21" name="Divider line"/>
          <p:cNvSpPr/>
          <p:nvPr/>
        </p:nvSpPr>
        <p:spPr>
          <a:xfrm>
            <a:off x="9546336" y="1783080"/>
            <a:ext cx="2011680" cy="0"/>
          </a:xfrm>
          <a:prstGeom prst="line">
            <a:avLst/>
          </a:prstGeom>
          <a:noFill/>
          <a:ln w="12700">
            <a:solidFill>
              <a:srgbClr val="E0E0E0"/>
            </a:solidFill>
            <a:prstDash val="solid"/>
          </a:ln>
        </p:spPr>
      </p:sp>
      <p:sp>
        <p:nvSpPr>
          <p:cNvPr id="22" name="Text 19"/>
          <p:cNvSpPr txBox="1"/>
          <p:nvPr/>
        </p:nvSpPr>
        <p:spPr>
          <a:xfrm>
            <a:off x="9546336" y="192024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05</a:t>
            </a:r>
            <a:endParaRPr lang="en-US" sz="2800" dirty="0"/>
          </a:p>
        </p:txBody>
      </p:sp>
      <p:sp>
        <p:nvSpPr>
          <p:cNvPr id="23" name="Text 20"/>
          <p:cNvSpPr txBox="1"/>
          <p:nvPr/>
        </p:nvSpPr>
        <p:spPr>
          <a:xfrm>
            <a:off x="9546336" y="251460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Chase</a:t>
            </a:r>
            <a:endParaRPr lang="en-US" sz="1800" dirty="0"/>
          </a:p>
        </p:txBody>
      </p:sp>
      <p:sp>
        <p:nvSpPr>
          <p:cNvPr id="24" name="Text 21"/>
          <p:cNvSpPr txBox="1"/>
          <p:nvPr/>
        </p:nvSpPr>
        <p:spPr>
          <a:xfrm>
            <a:off x="9546336" y="292608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Email vendors with Outlook</a:t>
            </a:r>
            <a:endParaRPr lang="en-US" sz="1400" dirty="0"/>
          </a:p>
        </p:txBody>
      </p:sp>
      <p:sp>
        <p:nvSpPr>
          <p:cNvPr id="25" name="Divider line"/>
          <p:cNvSpPr/>
          <p:nvPr/>
        </p:nvSpPr>
        <p:spPr>
          <a:xfrm>
            <a:off x="548640" y="3931920"/>
            <a:ext cx="2011680" cy="0"/>
          </a:xfrm>
          <a:prstGeom prst="line">
            <a:avLst/>
          </a:prstGeom>
          <a:noFill/>
          <a:ln w="12700">
            <a:solidFill>
              <a:srgbClr val="E0E0E0"/>
            </a:solidFill>
            <a:prstDash val="solid"/>
          </a:ln>
        </p:spPr>
      </p:sp>
      <p:sp>
        <p:nvSpPr>
          <p:cNvPr id="26" name="Text 23"/>
          <p:cNvSpPr txBox="1"/>
          <p:nvPr/>
        </p:nvSpPr>
        <p:spPr>
          <a:xfrm>
            <a:off x="548640" y="406908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06</a:t>
            </a:r>
            <a:endParaRPr lang="en-US" sz="2800" dirty="0"/>
          </a:p>
        </p:txBody>
      </p:sp>
      <p:sp>
        <p:nvSpPr>
          <p:cNvPr id="27" name="Text 24"/>
          <p:cNvSpPr txBox="1"/>
          <p:nvPr/>
        </p:nvSpPr>
        <p:spPr>
          <a:xfrm>
            <a:off x="548640" y="466344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Draft</a:t>
            </a:r>
            <a:endParaRPr lang="en-US" sz="1800" dirty="0"/>
          </a:p>
        </p:txBody>
      </p:sp>
      <p:sp>
        <p:nvSpPr>
          <p:cNvPr id="28" name="Text 25"/>
          <p:cNvSpPr txBox="1"/>
          <p:nvPr/>
        </p:nvSpPr>
        <p:spPr>
          <a:xfrm>
            <a:off x="548640" y="507492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Comparison and memo on a Page</a:t>
            </a:r>
            <a:endParaRPr lang="en-US" sz="1400" dirty="0"/>
          </a:p>
        </p:txBody>
      </p:sp>
      <p:sp>
        <p:nvSpPr>
          <p:cNvPr id="29" name="Divider line"/>
          <p:cNvSpPr/>
          <p:nvPr/>
        </p:nvSpPr>
        <p:spPr>
          <a:xfrm>
            <a:off x="2798064" y="3931920"/>
            <a:ext cx="2011680" cy="0"/>
          </a:xfrm>
          <a:prstGeom prst="line">
            <a:avLst/>
          </a:prstGeom>
          <a:noFill/>
          <a:ln w="12700">
            <a:solidFill>
              <a:srgbClr val="E0E0E0"/>
            </a:solidFill>
            <a:prstDash val="solid"/>
          </a:ln>
        </p:spPr>
      </p:sp>
      <p:sp>
        <p:nvSpPr>
          <p:cNvPr id="30" name="Text 27"/>
          <p:cNvSpPr txBox="1"/>
          <p:nvPr/>
        </p:nvSpPr>
        <p:spPr>
          <a:xfrm>
            <a:off x="2798064" y="406908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07</a:t>
            </a:r>
            <a:endParaRPr lang="en-US" sz="2800" dirty="0"/>
          </a:p>
        </p:txBody>
      </p:sp>
      <p:sp>
        <p:nvSpPr>
          <p:cNvPr id="31" name="Text 28"/>
          <p:cNvSpPr txBox="1"/>
          <p:nvPr/>
        </p:nvSpPr>
        <p:spPr>
          <a:xfrm>
            <a:off x="2798064" y="466344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Organise</a:t>
            </a:r>
            <a:endParaRPr lang="en-US" sz="1800" dirty="0"/>
          </a:p>
        </p:txBody>
      </p:sp>
      <p:sp>
        <p:nvSpPr>
          <p:cNvPr id="32" name="Text 29"/>
          <p:cNvSpPr txBox="1"/>
          <p:nvPr/>
        </p:nvSpPr>
        <p:spPr>
          <a:xfrm>
            <a:off x="2798064" y="507492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Everything in one Notebook</a:t>
            </a:r>
            <a:endParaRPr lang="en-US" sz="1400" dirty="0"/>
          </a:p>
        </p:txBody>
      </p:sp>
      <p:sp>
        <p:nvSpPr>
          <p:cNvPr id="33" name="Divider line"/>
          <p:cNvSpPr/>
          <p:nvPr/>
        </p:nvSpPr>
        <p:spPr>
          <a:xfrm>
            <a:off x="5047488" y="3931920"/>
            <a:ext cx="2011680" cy="0"/>
          </a:xfrm>
          <a:prstGeom prst="line">
            <a:avLst/>
          </a:prstGeom>
          <a:noFill/>
          <a:ln w="12700">
            <a:solidFill>
              <a:srgbClr val="E0E0E0"/>
            </a:solidFill>
            <a:prstDash val="solid"/>
          </a:ln>
        </p:spPr>
      </p:sp>
      <p:sp>
        <p:nvSpPr>
          <p:cNvPr id="34" name="Text 31"/>
          <p:cNvSpPr txBox="1"/>
          <p:nvPr/>
        </p:nvSpPr>
        <p:spPr>
          <a:xfrm>
            <a:off x="5047488" y="406908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08</a:t>
            </a:r>
            <a:endParaRPr lang="en-US" sz="2800" dirty="0"/>
          </a:p>
        </p:txBody>
      </p:sp>
      <p:sp>
        <p:nvSpPr>
          <p:cNvPr id="35" name="Text 32"/>
          <p:cNvSpPr txBox="1"/>
          <p:nvPr/>
        </p:nvSpPr>
        <p:spPr>
          <a:xfrm>
            <a:off x="5047488" y="466344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Reuse</a:t>
            </a:r>
            <a:endParaRPr lang="en-US" sz="1800" dirty="0"/>
          </a:p>
        </p:txBody>
      </p:sp>
      <p:sp>
        <p:nvSpPr>
          <p:cNvPr id="36" name="Text 33"/>
          <p:cNvSpPr txBox="1"/>
          <p:nvPr/>
        </p:nvSpPr>
        <p:spPr>
          <a:xfrm>
            <a:off x="5047488" y="507492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Build a Quotation Checker agent</a:t>
            </a:r>
            <a:endParaRPr lang="en-US" sz="1400" dirty="0"/>
          </a:p>
        </p:txBody>
      </p:sp>
      <p:sp>
        <p:nvSpPr>
          <p:cNvPr id="37" name="Divider line"/>
          <p:cNvSpPr/>
          <p:nvPr/>
        </p:nvSpPr>
        <p:spPr>
          <a:xfrm>
            <a:off x="7296912" y="3931920"/>
            <a:ext cx="2011680" cy="0"/>
          </a:xfrm>
          <a:prstGeom prst="line">
            <a:avLst/>
          </a:prstGeom>
          <a:noFill/>
          <a:ln w="12700">
            <a:solidFill>
              <a:srgbClr val="E0E0E0"/>
            </a:solidFill>
            <a:prstDash val="solid"/>
          </a:ln>
        </p:spPr>
      </p:sp>
      <p:sp>
        <p:nvSpPr>
          <p:cNvPr id="38" name="Text 35"/>
          <p:cNvSpPr txBox="1"/>
          <p:nvPr/>
        </p:nvSpPr>
        <p:spPr>
          <a:xfrm>
            <a:off x="7296912" y="4069080"/>
            <a:ext cx="2011680" cy="548640"/>
          </a:xfrm>
          <a:prstGeom prst="rect">
            <a:avLst/>
          </a:prstGeom>
          <a:noFill/>
          <a:ln/>
        </p:spPr>
        <p:txBody>
          <a:bodyPr wrap="square" lIns="0" tIns="0" rIns="0" bIns="0" rtlCol="0" anchor="t"/>
          <a:lstStyle/>
          <a:p>
            <a:pPr indent="0" marL="0">
              <a:buNone/>
            </a:pPr>
            <a:r>
              <a:rPr lang="en-US" sz="2800" dirty="0">
                <a:solidFill>
                  <a:schemeClr val="accent4"/>
                </a:solidFill>
                <a:latin typeface="Segoe UI Light" pitchFamily="34" charset="0"/>
                <a:ea typeface="Segoe UI Light" pitchFamily="34" charset="-122"/>
                <a:cs typeface="Segoe UI Light" pitchFamily="34" charset="-120"/>
              </a:rPr>
              <a:t>09</a:t>
            </a:r>
            <a:endParaRPr lang="en-US" sz="2800" dirty="0"/>
          </a:p>
        </p:txBody>
      </p:sp>
      <p:sp>
        <p:nvSpPr>
          <p:cNvPr id="39" name="Text 36"/>
          <p:cNvSpPr txBox="1"/>
          <p:nvPr/>
        </p:nvSpPr>
        <p:spPr>
          <a:xfrm>
            <a:off x="7296912" y="466344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Extend</a:t>
            </a:r>
            <a:endParaRPr lang="en-US" sz="1800" dirty="0"/>
          </a:p>
        </p:txBody>
      </p:sp>
      <p:sp>
        <p:nvSpPr>
          <p:cNvPr id="40" name="Text 37"/>
          <p:cNvSpPr txBox="1"/>
          <p:nvPr/>
        </p:nvSpPr>
        <p:spPr>
          <a:xfrm>
            <a:off x="7296912" y="507492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Optional: Word and Excel</a:t>
            </a:r>
            <a:endParaRPr lang="en-US" sz="1400" dirty="0"/>
          </a:p>
        </p:txBody>
      </p:sp>
      <p:sp>
        <p:nvSpPr>
          <p:cNvPr id="41" name="Divider line"/>
          <p:cNvSpPr/>
          <p:nvPr/>
        </p:nvSpPr>
        <p:spPr>
          <a:xfrm>
            <a:off x="9546336" y="3931920"/>
            <a:ext cx="2011680" cy="0"/>
          </a:xfrm>
          <a:prstGeom prst="line">
            <a:avLst/>
          </a:prstGeom>
          <a:noFill/>
          <a:ln w="12700">
            <a:solidFill>
              <a:srgbClr val="E0E0E0"/>
            </a:solidFill>
            <a:prstDash val="solid"/>
          </a:ln>
        </p:spPr>
      </p:sp>
      <p:sp>
        <p:nvSpPr>
          <p:cNvPr id="42" name="Text 39"/>
          <p:cNvSpPr txBox="1"/>
          <p:nvPr/>
        </p:nvSpPr>
        <p:spPr>
          <a:xfrm>
            <a:off x="9546336" y="4069080"/>
            <a:ext cx="2011680" cy="548640"/>
          </a:xfrm>
          <a:prstGeom prst="rect">
            <a:avLst/>
          </a:prstGeom>
          <a:noFill/>
          <a:ln/>
        </p:spPr>
        <p:txBody>
          <a:bodyPr wrap="square" lIns="0" tIns="0" rIns="0" bIns="0" rtlCol="0" anchor="t"/>
          <a:lstStyle/>
          <a:p>
            <a:pPr indent="0" marL="0">
              <a:buNone/>
            </a:pPr>
            <a:r>
              <a:rPr lang="en-US" sz="2800" dirty="0">
                <a:solidFill>
                  <a:schemeClr val="accent1"/>
                </a:solidFill>
                <a:latin typeface="Segoe UI Light" pitchFamily="34" charset="0"/>
                <a:ea typeface="Segoe UI Light" pitchFamily="34" charset="-122"/>
                <a:cs typeface="Segoe UI Light" pitchFamily="34" charset="-120"/>
              </a:rPr>
              <a:t>10</a:t>
            </a:r>
            <a:endParaRPr lang="en-US" sz="2800" dirty="0"/>
          </a:p>
        </p:txBody>
      </p:sp>
      <p:sp>
        <p:nvSpPr>
          <p:cNvPr id="43" name="Text 40"/>
          <p:cNvSpPr txBox="1"/>
          <p:nvPr/>
        </p:nvSpPr>
        <p:spPr>
          <a:xfrm>
            <a:off x="9546336" y="4663440"/>
            <a:ext cx="2011680" cy="4572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Repeat</a:t>
            </a:r>
            <a:endParaRPr lang="en-US" sz="1800" dirty="0"/>
          </a:p>
        </p:txBody>
      </p:sp>
      <p:sp>
        <p:nvSpPr>
          <p:cNvPr id="44" name="Text 41"/>
          <p:cNvSpPr txBox="1"/>
          <p:nvPr/>
        </p:nvSpPr>
        <p:spPr>
          <a:xfrm>
            <a:off x="9546336" y="5074920"/>
            <a:ext cx="1920240" cy="731520"/>
          </a:xfrm>
          <a:prstGeom prst="rect">
            <a:avLst/>
          </a:prstGeom>
          <a:noFill/>
          <a:ln/>
        </p:spPr>
        <p:txBody>
          <a:bodyPr wrap="square" lIns="0" tIns="0" rIns="0" bIns="0" rtlCol="0" anchor="t"/>
          <a:lstStyle/>
          <a:p>
            <a:pPr indent="0" marL="0">
              <a:buNone/>
            </a:pPr>
            <a:r>
              <a:rPr lang="en-US" sz="1400" dirty="0">
                <a:solidFill>
                  <a:schemeClr val="accent4"/>
                </a:solidFill>
              </a:rPr>
              <a:t>Capstone: a second purchase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Today's plan</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Morning and afternoon</a:t>
            </a:r>
            <a:endParaRPr lang="en-US" sz="3200" dirty="0"/>
          </a:p>
        </p:txBody>
      </p:sp>
      <p:sp>
        <p:nvSpPr>
          <p:cNvPr id="5" name="Text 2"/>
          <p:cNvSpPr txBox="1"/>
          <p:nvPr/>
        </p:nvSpPr>
        <p:spPr>
          <a:xfrm>
            <a:off x="548640" y="1737360"/>
            <a:ext cx="53949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Morning</a:t>
            </a:r>
            <a:endParaRPr lang="en-US" sz="2000" dirty="0"/>
          </a:p>
        </p:txBody>
      </p:sp>
      <p:sp>
        <p:nvSpPr>
          <p:cNvPr id="6" name="Divider line"/>
          <p:cNvSpPr/>
          <p:nvPr/>
        </p:nvSpPr>
        <p:spPr>
          <a:xfrm>
            <a:off x="548640" y="2331720"/>
            <a:ext cx="5376672" cy="0"/>
          </a:xfrm>
          <a:prstGeom prst="line">
            <a:avLst/>
          </a:prstGeom>
          <a:noFill/>
          <a:ln w="12700">
            <a:solidFill>
              <a:srgbClr val="E0E0E0"/>
            </a:solidFill>
            <a:prstDash val="solid"/>
          </a:ln>
        </p:spPr>
      </p:sp>
      <p:sp>
        <p:nvSpPr>
          <p:cNvPr id="7" name="Text 4"/>
          <p:cNvSpPr txBox="1"/>
          <p:nvPr/>
        </p:nvSpPr>
        <p:spPr>
          <a:xfrm>
            <a:off x="548640" y="24414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01</a:t>
            </a:r>
            <a:endParaRPr lang="en-US" sz="1600" dirty="0"/>
          </a:p>
        </p:txBody>
      </p:sp>
      <p:sp>
        <p:nvSpPr>
          <p:cNvPr id="8" name="Text 5"/>
          <p:cNvSpPr txBox="1"/>
          <p:nvPr/>
        </p:nvSpPr>
        <p:spPr>
          <a:xfrm>
            <a:off x="1143000" y="2441448"/>
            <a:ext cx="3657600" cy="457200"/>
          </a:xfrm>
          <a:prstGeom prst="rect">
            <a:avLst/>
          </a:prstGeom>
          <a:noFill/>
          <a:ln/>
        </p:spPr>
        <p:txBody>
          <a:bodyPr wrap="square" lIns="0" tIns="0" rIns="0" bIns="0" rtlCol="0" anchor="t"/>
          <a:lstStyle/>
          <a:p>
            <a:pPr indent="0" marL="0">
              <a:buNone/>
            </a:pPr>
            <a:r>
              <a:rPr lang="en-US" sz="1600" dirty="0">
                <a:solidFill>
                  <a:schemeClr val="tx1"/>
                </a:solidFill>
              </a:rPr>
              <a:t>Which Copilot do I have?</a:t>
            </a:r>
            <a:endParaRPr lang="en-US" sz="1600" dirty="0"/>
          </a:p>
        </p:txBody>
      </p:sp>
      <p:sp>
        <p:nvSpPr>
          <p:cNvPr id="9" name="Text 6"/>
          <p:cNvSpPr txBox="1"/>
          <p:nvPr/>
        </p:nvSpPr>
        <p:spPr>
          <a:xfrm>
            <a:off x="4754880" y="24414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20 min</a:t>
            </a:r>
            <a:endParaRPr lang="en-US" sz="1400" dirty="0"/>
          </a:p>
        </p:txBody>
      </p:sp>
      <p:sp>
        <p:nvSpPr>
          <p:cNvPr id="10" name="Divider line"/>
          <p:cNvSpPr/>
          <p:nvPr/>
        </p:nvSpPr>
        <p:spPr>
          <a:xfrm>
            <a:off x="548640" y="3017520"/>
            <a:ext cx="5376672" cy="0"/>
          </a:xfrm>
          <a:prstGeom prst="line">
            <a:avLst/>
          </a:prstGeom>
          <a:noFill/>
          <a:ln w="12700">
            <a:solidFill>
              <a:srgbClr val="E0E0E0"/>
            </a:solidFill>
            <a:prstDash val="solid"/>
          </a:ln>
        </p:spPr>
      </p:sp>
      <p:sp>
        <p:nvSpPr>
          <p:cNvPr id="11" name="Text 8"/>
          <p:cNvSpPr txBox="1"/>
          <p:nvPr/>
        </p:nvSpPr>
        <p:spPr>
          <a:xfrm>
            <a:off x="548640" y="31272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02</a:t>
            </a:r>
            <a:endParaRPr lang="en-US" sz="1600" dirty="0"/>
          </a:p>
        </p:txBody>
      </p:sp>
      <p:sp>
        <p:nvSpPr>
          <p:cNvPr id="12" name="Text 9"/>
          <p:cNvSpPr txBox="1"/>
          <p:nvPr/>
        </p:nvSpPr>
        <p:spPr>
          <a:xfrm>
            <a:off x="1143000" y="3127248"/>
            <a:ext cx="3657600" cy="457200"/>
          </a:xfrm>
          <a:prstGeom prst="rect">
            <a:avLst/>
          </a:prstGeom>
          <a:noFill/>
          <a:ln/>
        </p:spPr>
        <p:txBody>
          <a:bodyPr wrap="square" lIns="0" tIns="0" rIns="0" bIns="0" rtlCol="0" anchor="t"/>
          <a:lstStyle/>
          <a:p>
            <a:pPr indent="0" marL="0">
              <a:buNone/>
            </a:pPr>
            <a:r>
              <a:rPr lang="en-US" sz="1600" dirty="0">
                <a:solidFill>
                  <a:schemeClr val="tx1"/>
                </a:solidFill>
              </a:rPr>
              <a:t>Find your way around</a:t>
            </a:r>
            <a:endParaRPr lang="en-US" sz="1600" dirty="0"/>
          </a:p>
        </p:txBody>
      </p:sp>
      <p:sp>
        <p:nvSpPr>
          <p:cNvPr id="13" name="Text 10"/>
          <p:cNvSpPr txBox="1"/>
          <p:nvPr/>
        </p:nvSpPr>
        <p:spPr>
          <a:xfrm>
            <a:off x="4754880" y="31272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30 min</a:t>
            </a:r>
            <a:endParaRPr lang="en-US" sz="1400" dirty="0"/>
          </a:p>
        </p:txBody>
      </p:sp>
      <p:sp>
        <p:nvSpPr>
          <p:cNvPr id="14" name="Divider line"/>
          <p:cNvSpPr/>
          <p:nvPr/>
        </p:nvSpPr>
        <p:spPr>
          <a:xfrm>
            <a:off x="548640" y="3703320"/>
            <a:ext cx="5376672" cy="0"/>
          </a:xfrm>
          <a:prstGeom prst="line">
            <a:avLst/>
          </a:prstGeom>
          <a:noFill/>
          <a:ln w="12700">
            <a:solidFill>
              <a:srgbClr val="E0E0E0"/>
            </a:solidFill>
            <a:prstDash val="solid"/>
          </a:ln>
        </p:spPr>
      </p:sp>
      <p:sp>
        <p:nvSpPr>
          <p:cNvPr id="15" name="Text 12"/>
          <p:cNvSpPr txBox="1"/>
          <p:nvPr/>
        </p:nvSpPr>
        <p:spPr>
          <a:xfrm>
            <a:off x="548640" y="38130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03</a:t>
            </a:r>
            <a:endParaRPr lang="en-US" sz="1600" dirty="0"/>
          </a:p>
        </p:txBody>
      </p:sp>
      <p:sp>
        <p:nvSpPr>
          <p:cNvPr id="16" name="Text 13"/>
          <p:cNvSpPr txBox="1"/>
          <p:nvPr/>
        </p:nvSpPr>
        <p:spPr>
          <a:xfrm>
            <a:off x="1143000" y="3813048"/>
            <a:ext cx="3657600" cy="457200"/>
          </a:xfrm>
          <a:prstGeom prst="rect">
            <a:avLst/>
          </a:prstGeom>
          <a:noFill/>
          <a:ln/>
        </p:spPr>
        <p:txBody>
          <a:bodyPr wrap="square" lIns="0" tIns="0" rIns="0" bIns="0" rtlCol="0" anchor="t"/>
          <a:lstStyle/>
          <a:p>
            <a:pPr indent="0" marL="0">
              <a:buNone/>
            </a:pPr>
            <a:r>
              <a:rPr lang="en-US" sz="1600" dirty="0">
                <a:solidFill>
                  <a:schemeClr val="tx1"/>
                </a:solidFill>
              </a:rPr>
              <a:t>Write better prompts</a:t>
            </a:r>
            <a:endParaRPr lang="en-US" sz="1600" dirty="0"/>
          </a:p>
        </p:txBody>
      </p:sp>
      <p:sp>
        <p:nvSpPr>
          <p:cNvPr id="17" name="Text 14"/>
          <p:cNvSpPr txBox="1"/>
          <p:nvPr/>
        </p:nvSpPr>
        <p:spPr>
          <a:xfrm>
            <a:off x="4754880" y="38130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45 min</a:t>
            </a:r>
            <a:endParaRPr lang="en-US" sz="1400" dirty="0"/>
          </a:p>
        </p:txBody>
      </p:sp>
      <p:sp>
        <p:nvSpPr>
          <p:cNvPr id="18" name="Divider line"/>
          <p:cNvSpPr/>
          <p:nvPr/>
        </p:nvSpPr>
        <p:spPr>
          <a:xfrm>
            <a:off x="548640" y="4389120"/>
            <a:ext cx="5376672" cy="0"/>
          </a:xfrm>
          <a:prstGeom prst="line">
            <a:avLst/>
          </a:prstGeom>
          <a:noFill/>
          <a:ln w="12700">
            <a:solidFill>
              <a:srgbClr val="E0E0E0"/>
            </a:solidFill>
            <a:prstDash val="solid"/>
          </a:ln>
        </p:spPr>
      </p:sp>
      <p:sp>
        <p:nvSpPr>
          <p:cNvPr id="19" name="Text 16"/>
          <p:cNvSpPr txBox="1"/>
          <p:nvPr/>
        </p:nvSpPr>
        <p:spPr>
          <a:xfrm>
            <a:off x="548640" y="44988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04</a:t>
            </a:r>
            <a:endParaRPr lang="en-US" sz="1600" dirty="0"/>
          </a:p>
        </p:txBody>
      </p:sp>
      <p:sp>
        <p:nvSpPr>
          <p:cNvPr id="20" name="Text 17"/>
          <p:cNvSpPr txBox="1"/>
          <p:nvPr/>
        </p:nvSpPr>
        <p:spPr>
          <a:xfrm>
            <a:off x="1143000" y="4498848"/>
            <a:ext cx="3657600" cy="457200"/>
          </a:xfrm>
          <a:prstGeom prst="rect">
            <a:avLst/>
          </a:prstGeom>
          <a:noFill/>
          <a:ln/>
        </p:spPr>
        <p:txBody>
          <a:bodyPr wrap="square" lIns="0" tIns="0" rIns="0" bIns="0" rtlCol="0" anchor="t"/>
          <a:lstStyle/>
          <a:p>
            <a:pPr indent="0" marL="0">
              <a:buNone/>
            </a:pPr>
            <a:r>
              <a:rPr lang="en-US" sz="1600" dirty="0">
                <a:solidFill>
                  <a:schemeClr val="tx1"/>
                </a:solidFill>
              </a:rPr>
              <a:t>Compare the quotations</a:t>
            </a:r>
            <a:endParaRPr lang="en-US" sz="1600" dirty="0"/>
          </a:p>
        </p:txBody>
      </p:sp>
      <p:sp>
        <p:nvSpPr>
          <p:cNvPr id="21" name="Text 18"/>
          <p:cNvSpPr txBox="1"/>
          <p:nvPr/>
        </p:nvSpPr>
        <p:spPr>
          <a:xfrm>
            <a:off x="4754880" y="44988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60 min</a:t>
            </a:r>
            <a:endParaRPr lang="en-US" sz="1400" dirty="0"/>
          </a:p>
        </p:txBody>
      </p:sp>
      <p:sp>
        <p:nvSpPr>
          <p:cNvPr id="22" name="Divider line"/>
          <p:cNvSpPr/>
          <p:nvPr/>
        </p:nvSpPr>
        <p:spPr>
          <a:xfrm>
            <a:off x="548640" y="5074920"/>
            <a:ext cx="5376672" cy="0"/>
          </a:xfrm>
          <a:prstGeom prst="line">
            <a:avLst/>
          </a:prstGeom>
          <a:noFill/>
          <a:ln w="12700">
            <a:solidFill>
              <a:srgbClr val="E0E0E0"/>
            </a:solidFill>
            <a:prstDash val="solid"/>
          </a:ln>
        </p:spPr>
      </p:sp>
      <p:sp>
        <p:nvSpPr>
          <p:cNvPr id="23" name="Text 20"/>
          <p:cNvSpPr txBox="1"/>
          <p:nvPr/>
        </p:nvSpPr>
        <p:spPr>
          <a:xfrm>
            <a:off x="548640" y="51846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05</a:t>
            </a:r>
            <a:endParaRPr lang="en-US" sz="1600" dirty="0"/>
          </a:p>
        </p:txBody>
      </p:sp>
      <p:sp>
        <p:nvSpPr>
          <p:cNvPr id="24" name="Text 21"/>
          <p:cNvSpPr txBox="1"/>
          <p:nvPr/>
        </p:nvSpPr>
        <p:spPr>
          <a:xfrm>
            <a:off x="1143000" y="5184648"/>
            <a:ext cx="3657600" cy="457200"/>
          </a:xfrm>
          <a:prstGeom prst="rect">
            <a:avLst/>
          </a:prstGeom>
          <a:noFill/>
          <a:ln/>
        </p:spPr>
        <p:txBody>
          <a:bodyPr wrap="square" lIns="0" tIns="0" rIns="0" bIns="0" rtlCol="0" anchor="t"/>
          <a:lstStyle/>
          <a:p>
            <a:pPr indent="0" marL="0">
              <a:buNone/>
            </a:pPr>
            <a:r>
              <a:rPr lang="en-US" sz="1600" dirty="0">
                <a:solidFill>
                  <a:schemeClr val="tx1"/>
                </a:solidFill>
              </a:rPr>
              <a:t>Chase vendors in Outlook</a:t>
            </a:r>
            <a:endParaRPr lang="en-US" sz="1600" dirty="0"/>
          </a:p>
        </p:txBody>
      </p:sp>
      <p:sp>
        <p:nvSpPr>
          <p:cNvPr id="25" name="Text 22"/>
          <p:cNvSpPr txBox="1"/>
          <p:nvPr/>
        </p:nvSpPr>
        <p:spPr>
          <a:xfrm>
            <a:off x="4754880" y="51846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45 min</a:t>
            </a:r>
            <a:endParaRPr lang="en-US" sz="1400" dirty="0"/>
          </a:p>
        </p:txBody>
      </p:sp>
      <p:sp>
        <p:nvSpPr>
          <p:cNvPr id="26" name="Divider line"/>
          <p:cNvSpPr/>
          <p:nvPr/>
        </p:nvSpPr>
        <p:spPr>
          <a:xfrm>
            <a:off x="548640" y="5760720"/>
            <a:ext cx="5376672" cy="0"/>
          </a:xfrm>
          <a:prstGeom prst="line">
            <a:avLst/>
          </a:prstGeom>
          <a:noFill/>
          <a:ln w="12700">
            <a:solidFill>
              <a:srgbClr val="E0E0E0"/>
            </a:solidFill>
            <a:prstDash val="solid"/>
          </a:ln>
        </p:spPr>
      </p:sp>
      <p:sp>
        <p:nvSpPr>
          <p:cNvPr id="27" name="Text 24"/>
          <p:cNvSpPr txBox="1"/>
          <p:nvPr/>
        </p:nvSpPr>
        <p:spPr>
          <a:xfrm>
            <a:off x="6263640" y="1737360"/>
            <a:ext cx="53949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Afternoon</a:t>
            </a:r>
            <a:endParaRPr lang="en-US" sz="2000" dirty="0"/>
          </a:p>
        </p:txBody>
      </p:sp>
      <p:sp>
        <p:nvSpPr>
          <p:cNvPr id="28" name="Divider line"/>
          <p:cNvSpPr/>
          <p:nvPr/>
        </p:nvSpPr>
        <p:spPr>
          <a:xfrm>
            <a:off x="6263640" y="2331720"/>
            <a:ext cx="5376672" cy="0"/>
          </a:xfrm>
          <a:prstGeom prst="line">
            <a:avLst/>
          </a:prstGeom>
          <a:noFill/>
          <a:ln w="12700">
            <a:solidFill>
              <a:srgbClr val="E0E0E0"/>
            </a:solidFill>
            <a:prstDash val="solid"/>
          </a:ln>
        </p:spPr>
      </p:sp>
      <p:sp>
        <p:nvSpPr>
          <p:cNvPr id="29" name="Text 26"/>
          <p:cNvSpPr txBox="1"/>
          <p:nvPr/>
        </p:nvSpPr>
        <p:spPr>
          <a:xfrm>
            <a:off x="6263640" y="24414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06</a:t>
            </a:r>
            <a:endParaRPr lang="en-US" sz="1600" dirty="0"/>
          </a:p>
        </p:txBody>
      </p:sp>
      <p:sp>
        <p:nvSpPr>
          <p:cNvPr id="30" name="Text 27"/>
          <p:cNvSpPr txBox="1"/>
          <p:nvPr/>
        </p:nvSpPr>
        <p:spPr>
          <a:xfrm>
            <a:off x="6858000" y="2441448"/>
            <a:ext cx="3657600" cy="457200"/>
          </a:xfrm>
          <a:prstGeom prst="rect">
            <a:avLst/>
          </a:prstGeom>
          <a:noFill/>
          <a:ln/>
        </p:spPr>
        <p:txBody>
          <a:bodyPr wrap="square" lIns="0" tIns="0" rIns="0" bIns="0" rtlCol="0" anchor="t"/>
          <a:lstStyle/>
          <a:p>
            <a:pPr indent="0" marL="0">
              <a:buNone/>
            </a:pPr>
            <a:r>
              <a:rPr lang="en-US" sz="1600" dirty="0">
                <a:solidFill>
                  <a:schemeClr val="tx1"/>
                </a:solidFill>
              </a:rPr>
              <a:t>From chat to Pages</a:t>
            </a:r>
            <a:endParaRPr lang="en-US" sz="1600" dirty="0"/>
          </a:p>
        </p:txBody>
      </p:sp>
      <p:sp>
        <p:nvSpPr>
          <p:cNvPr id="31" name="Text 28"/>
          <p:cNvSpPr txBox="1"/>
          <p:nvPr/>
        </p:nvSpPr>
        <p:spPr>
          <a:xfrm>
            <a:off x="10469880" y="24414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40 min</a:t>
            </a:r>
            <a:endParaRPr lang="en-US" sz="1400" dirty="0"/>
          </a:p>
        </p:txBody>
      </p:sp>
      <p:sp>
        <p:nvSpPr>
          <p:cNvPr id="32" name="Divider line"/>
          <p:cNvSpPr/>
          <p:nvPr/>
        </p:nvSpPr>
        <p:spPr>
          <a:xfrm>
            <a:off x="6263640" y="3017520"/>
            <a:ext cx="5376672" cy="0"/>
          </a:xfrm>
          <a:prstGeom prst="line">
            <a:avLst/>
          </a:prstGeom>
          <a:noFill/>
          <a:ln w="12700">
            <a:solidFill>
              <a:srgbClr val="E0E0E0"/>
            </a:solidFill>
            <a:prstDash val="solid"/>
          </a:ln>
        </p:spPr>
      </p:sp>
      <p:sp>
        <p:nvSpPr>
          <p:cNvPr id="33" name="Text 30"/>
          <p:cNvSpPr txBox="1"/>
          <p:nvPr/>
        </p:nvSpPr>
        <p:spPr>
          <a:xfrm>
            <a:off x="6263640" y="31272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07</a:t>
            </a:r>
            <a:endParaRPr lang="en-US" sz="1600" dirty="0"/>
          </a:p>
        </p:txBody>
      </p:sp>
      <p:sp>
        <p:nvSpPr>
          <p:cNvPr id="34" name="Text 31"/>
          <p:cNvSpPr txBox="1"/>
          <p:nvPr/>
        </p:nvSpPr>
        <p:spPr>
          <a:xfrm>
            <a:off x="6858000" y="3127248"/>
            <a:ext cx="3657600" cy="457200"/>
          </a:xfrm>
          <a:prstGeom prst="rect">
            <a:avLst/>
          </a:prstGeom>
          <a:noFill/>
          <a:ln/>
        </p:spPr>
        <p:txBody>
          <a:bodyPr wrap="square" lIns="0" tIns="0" rIns="0" bIns="0" rtlCol="0" anchor="t"/>
          <a:lstStyle/>
          <a:p>
            <a:pPr indent="0" marL="0">
              <a:buNone/>
            </a:pPr>
            <a:r>
              <a:rPr lang="en-US" sz="1600" dirty="0">
                <a:solidFill>
                  <a:schemeClr val="tx1"/>
                </a:solidFill>
              </a:rPr>
              <a:t>Keep it together in a Notebook</a:t>
            </a:r>
            <a:endParaRPr lang="en-US" sz="1600" dirty="0"/>
          </a:p>
        </p:txBody>
      </p:sp>
      <p:sp>
        <p:nvSpPr>
          <p:cNvPr id="35" name="Text 32"/>
          <p:cNvSpPr txBox="1"/>
          <p:nvPr/>
        </p:nvSpPr>
        <p:spPr>
          <a:xfrm>
            <a:off x="10469880" y="31272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30 min</a:t>
            </a:r>
            <a:endParaRPr lang="en-US" sz="1400" dirty="0"/>
          </a:p>
        </p:txBody>
      </p:sp>
      <p:sp>
        <p:nvSpPr>
          <p:cNvPr id="36" name="Divider line"/>
          <p:cNvSpPr/>
          <p:nvPr/>
        </p:nvSpPr>
        <p:spPr>
          <a:xfrm>
            <a:off x="6263640" y="3703320"/>
            <a:ext cx="5376672" cy="0"/>
          </a:xfrm>
          <a:prstGeom prst="line">
            <a:avLst/>
          </a:prstGeom>
          <a:noFill/>
          <a:ln w="12700">
            <a:solidFill>
              <a:srgbClr val="E0E0E0"/>
            </a:solidFill>
            <a:prstDash val="solid"/>
          </a:ln>
        </p:spPr>
      </p:sp>
      <p:sp>
        <p:nvSpPr>
          <p:cNvPr id="37" name="Text 34"/>
          <p:cNvSpPr txBox="1"/>
          <p:nvPr/>
        </p:nvSpPr>
        <p:spPr>
          <a:xfrm>
            <a:off x="6263640" y="38130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08</a:t>
            </a:r>
            <a:endParaRPr lang="en-US" sz="1600" dirty="0"/>
          </a:p>
        </p:txBody>
      </p:sp>
      <p:sp>
        <p:nvSpPr>
          <p:cNvPr id="38" name="Text 35"/>
          <p:cNvSpPr txBox="1"/>
          <p:nvPr/>
        </p:nvSpPr>
        <p:spPr>
          <a:xfrm>
            <a:off x="6858000" y="3813048"/>
            <a:ext cx="3657600" cy="457200"/>
          </a:xfrm>
          <a:prstGeom prst="rect">
            <a:avLst/>
          </a:prstGeom>
          <a:noFill/>
          <a:ln/>
        </p:spPr>
        <p:txBody>
          <a:bodyPr wrap="square" lIns="0" tIns="0" rIns="0" bIns="0" rtlCol="0" anchor="t"/>
          <a:lstStyle/>
          <a:p>
            <a:pPr indent="0" marL="0">
              <a:buNone/>
            </a:pPr>
            <a:r>
              <a:rPr lang="en-US" sz="1600" dirty="0">
                <a:solidFill>
                  <a:schemeClr val="tx1"/>
                </a:solidFill>
              </a:rPr>
              <a:t>Build a Quotation Checker agent</a:t>
            </a:r>
            <a:endParaRPr lang="en-US" sz="1600" dirty="0"/>
          </a:p>
        </p:txBody>
      </p:sp>
      <p:sp>
        <p:nvSpPr>
          <p:cNvPr id="39" name="Text 36"/>
          <p:cNvSpPr txBox="1"/>
          <p:nvPr/>
        </p:nvSpPr>
        <p:spPr>
          <a:xfrm>
            <a:off x="10469880" y="38130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45 min</a:t>
            </a:r>
            <a:endParaRPr lang="en-US" sz="1400" dirty="0"/>
          </a:p>
        </p:txBody>
      </p:sp>
      <p:sp>
        <p:nvSpPr>
          <p:cNvPr id="40" name="Divider line"/>
          <p:cNvSpPr/>
          <p:nvPr/>
        </p:nvSpPr>
        <p:spPr>
          <a:xfrm>
            <a:off x="6263640" y="4389120"/>
            <a:ext cx="5376672" cy="0"/>
          </a:xfrm>
          <a:prstGeom prst="line">
            <a:avLst/>
          </a:prstGeom>
          <a:noFill/>
          <a:ln w="12700">
            <a:solidFill>
              <a:srgbClr val="E0E0E0"/>
            </a:solidFill>
            <a:prstDash val="solid"/>
          </a:ln>
        </p:spPr>
      </p:sp>
      <p:sp>
        <p:nvSpPr>
          <p:cNvPr id="41" name="Text 38"/>
          <p:cNvSpPr txBox="1"/>
          <p:nvPr/>
        </p:nvSpPr>
        <p:spPr>
          <a:xfrm>
            <a:off x="6263640" y="44988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09</a:t>
            </a:r>
            <a:endParaRPr lang="en-US" sz="1600" dirty="0"/>
          </a:p>
        </p:txBody>
      </p:sp>
      <p:sp>
        <p:nvSpPr>
          <p:cNvPr id="42" name="Text 39"/>
          <p:cNvSpPr txBox="1"/>
          <p:nvPr/>
        </p:nvSpPr>
        <p:spPr>
          <a:xfrm>
            <a:off x="6858000" y="4498848"/>
            <a:ext cx="3657600" cy="457200"/>
          </a:xfrm>
          <a:prstGeom prst="rect">
            <a:avLst/>
          </a:prstGeom>
          <a:noFill/>
          <a:ln/>
        </p:spPr>
        <p:txBody>
          <a:bodyPr wrap="square" lIns="0" tIns="0" rIns="0" bIns="0" rtlCol="0" anchor="t"/>
          <a:lstStyle/>
          <a:p>
            <a:pPr indent="0" marL="0">
              <a:buNone/>
            </a:pPr>
            <a:r>
              <a:rPr lang="en-US" sz="1600" dirty="0">
                <a:solidFill>
                  <a:schemeClr val="tx1"/>
                </a:solidFill>
              </a:rPr>
              <a:t>Optional: Word and Excel</a:t>
            </a:r>
            <a:endParaRPr lang="en-US" sz="1600" dirty="0"/>
          </a:p>
        </p:txBody>
      </p:sp>
      <p:sp>
        <p:nvSpPr>
          <p:cNvPr id="43" name="Text 40"/>
          <p:cNvSpPr txBox="1"/>
          <p:nvPr/>
        </p:nvSpPr>
        <p:spPr>
          <a:xfrm>
            <a:off x="10469880" y="44988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30 min</a:t>
            </a:r>
            <a:endParaRPr lang="en-US" sz="1400" dirty="0"/>
          </a:p>
        </p:txBody>
      </p:sp>
      <p:sp>
        <p:nvSpPr>
          <p:cNvPr id="44" name="Divider line"/>
          <p:cNvSpPr/>
          <p:nvPr/>
        </p:nvSpPr>
        <p:spPr>
          <a:xfrm>
            <a:off x="6263640" y="5074920"/>
            <a:ext cx="5376672" cy="0"/>
          </a:xfrm>
          <a:prstGeom prst="line">
            <a:avLst/>
          </a:prstGeom>
          <a:noFill/>
          <a:ln w="12700">
            <a:solidFill>
              <a:srgbClr val="E0E0E0"/>
            </a:solidFill>
            <a:prstDash val="solid"/>
          </a:ln>
        </p:spPr>
      </p:sp>
      <p:sp>
        <p:nvSpPr>
          <p:cNvPr id="45" name="Text 42"/>
          <p:cNvSpPr txBox="1"/>
          <p:nvPr/>
        </p:nvSpPr>
        <p:spPr>
          <a:xfrm>
            <a:off x="6263640" y="5184648"/>
            <a:ext cx="548640" cy="45720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a:t>
            </a:r>
            <a:endParaRPr lang="en-US" sz="1600" dirty="0"/>
          </a:p>
        </p:txBody>
      </p:sp>
      <p:sp>
        <p:nvSpPr>
          <p:cNvPr id="46" name="Text 43"/>
          <p:cNvSpPr txBox="1"/>
          <p:nvPr/>
        </p:nvSpPr>
        <p:spPr>
          <a:xfrm>
            <a:off x="6858000" y="5184648"/>
            <a:ext cx="3657600" cy="457200"/>
          </a:xfrm>
          <a:prstGeom prst="rect">
            <a:avLst/>
          </a:prstGeom>
          <a:noFill/>
          <a:ln/>
        </p:spPr>
        <p:txBody>
          <a:bodyPr wrap="square" lIns="0" tIns="0" rIns="0" bIns="0" rtlCol="0" anchor="t"/>
          <a:lstStyle/>
          <a:p>
            <a:pPr indent="0" marL="0">
              <a:buNone/>
            </a:pPr>
            <a:r>
              <a:rPr lang="en-US" sz="1600" dirty="0">
                <a:solidFill>
                  <a:schemeClr val="tx1"/>
                </a:solidFill>
              </a:rPr>
              <a:t>Capstone: the training purchase</a:t>
            </a:r>
            <a:endParaRPr lang="en-US" sz="1600" dirty="0"/>
          </a:p>
        </p:txBody>
      </p:sp>
      <p:sp>
        <p:nvSpPr>
          <p:cNvPr id="47" name="Text 44"/>
          <p:cNvSpPr txBox="1"/>
          <p:nvPr/>
        </p:nvSpPr>
        <p:spPr>
          <a:xfrm>
            <a:off x="10469880" y="5184648"/>
            <a:ext cx="1170432" cy="457200"/>
          </a:xfrm>
          <a:prstGeom prst="rect">
            <a:avLst/>
          </a:prstGeom>
          <a:noFill/>
          <a:ln/>
        </p:spPr>
        <p:txBody>
          <a:bodyPr wrap="square" lIns="0" tIns="0" rIns="0" bIns="0" rtlCol="0" anchor="t"/>
          <a:lstStyle/>
          <a:p>
            <a:pPr algn="r" indent="0" marL="0">
              <a:buNone/>
            </a:pPr>
            <a:r>
              <a:rPr lang="en-US" sz="1400" dirty="0">
                <a:solidFill>
                  <a:schemeClr val="accent4"/>
                </a:solidFill>
              </a:rPr>
              <a:t>45 min</a:t>
            </a:r>
            <a:endParaRPr lang="en-US" sz="1400" dirty="0"/>
          </a:p>
        </p:txBody>
      </p:sp>
      <p:sp>
        <p:nvSpPr>
          <p:cNvPr id="48" name="Divider line"/>
          <p:cNvSpPr/>
          <p:nvPr/>
        </p:nvSpPr>
        <p:spPr>
          <a:xfrm>
            <a:off x="6263640" y="5760720"/>
            <a:ext cx="5376672" cy="0"/>
          </a:xfrm>
          <a:prstGeom prst="line">
            <a:avLst/>
          </a:prstGeom>
          <a:noFill/>
          <a:ln w="12700">
            <a:solidFill>
              <a:srgbClr val="E0E0E0"/>
            </a:solidFill>
            <a:prstDash val="solid"/>
          </a:ln>
        </p:spPr>
      </p:sp>
      <p:sp>
        <p:nvSpPr>
          <p:cNvPr id="49" name="Text 46"/>
          <p:cNvSpPr txBox="1"/>
          <p:nvPr/>
        </p:nvSpPr>
        <p:spPr>
          <a:xfrm>
            <a:off x="548640" y="5852160"/>
            <a:ext cx="10972800" cy="365760"/>
          </a:xfrm>
          <a:prstGeom prst="rect">
            <a:avLst/>
          </a:prstGeom>
          <a:noFill/>
          <a:ln/>
        </p:spPr>
        <p:txBody>
          <a:bodyPr wrap="square" lIns="0" tIns="0" rIns="0" bIns="0" rtlCol="0" anchor="t"/>
          <a:lstStyle/>
          <a:p>
            <a:pPr indent="0" marL="0">
              <a:buNone/>
            </a:pPr>
            <a:r>
              <a:rPr lang="en-US" sz="1400" dirty="0">
                <a:solidFill>
                  <a:schemeClr val="accent4"/>
                </a:solidFill>
              </a:rPr>
              <a:t>Finished early? Chapter 11 has four short extra exercises.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Course site</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Everything is on one site</a:t>
            </a:r>
            <a:endParaRPr lang="en-US" sz="3200" dirty="0"/>
          </a:p>
        </p:txBody>
      </p:sp>
      <p:sp>
        <p:nvSpPr>
          <p:cNvPr id="5" name="Text 2"/>
          <p:cNvSpPr txBox="1"/>
          <p:nvPr/>
        </p:nvSpPr>
        <p:spPr>
          <a:xfrm>
            <a:off x="548640" y="1737360"/>
            <a:ext cx="110642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Semibold" pitchFamily="34" charset="0"/>
                <a:ea typeface="Segoe UI Semibold" pitchFamily="34" charset="-122"/>
                <a:cs typeface="Segoe UI Semibold" pitchFamily="34" charset="-120"/>
              </a:rPr>
              <a:t>asraf-js.github.io/Copilot-Chat-Basic-Workshop</a:t>
            </a:r>
            <a:endParaRPr lang="en-US" sz="2600" dirty="0"/>
          </a:p>
        </p:txBody>
      </p:sp>
      <p:pic>
        <p:nvPicPr>
          <p:cNvPr id="6" name="Image 0" descr="preencoded.png">    </p:cNvPr>
          <p:cNvPicPr>
            <a:picLocks noChangeAspect="1"/>
          </p:cNvPicPr>
          <p:nvPr/>
        </p:nvPicPr>
        <p:blipFill>
          <a:blip r:embed="rId1"/>
          <a:stretch>
            <a:fillRect/>
          </a:stretch>
        </p:blipFill>
        <p:spPr>
          <a:xfrm>
            <a:off x="548640" y="2834640"/>
            <a:ext cx="502920" cy="502920"/>
          </a:xfrm>
          <a:prstGeom prst="rect">
            <a:avLst/>
          </a:prstGeom>
        </p:spPr>
      </p:pic>
      <p:sp>
        <p:nvSpPr>
          <p:cNvPr id="7" name="Text 3"/>
          <p:cNvSpPr txBox="1"/>
          <p:nvPr/>
        </p:nvSpPr>
        <p:spPr>
          <a:xfrm>
            <a:off x="548640" y="356616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Notes</a:t>
            </a:r>
            <a:endParaRPr lang="en-US" sz="2000" dirty="0"/>
          </a:p>
        </p:txBody>
      </p:sp>
      <p:sp>
        <p:nvSpPr>
          <p:cNvPr id="8" name="Text 4"/>
          <p:cNvSpPr txBox="1"/>
          <p:nvPr/>
        </p:nvSpPr>
        <p:spPr>
          <a:xfrm>
            <a:off x="548640" y="4389120"/>
            <a:ext cx="2400300" cy="1463040"/>
          </a:xfrm>
          <a:prstGeom prst="rect">
            <a:avLst/>
          </a:prstGeom>
          <a:noFill/>
          <a:ln/>
        </p:spPr>
        <p:txBody>
          <a:bodyPr wrap="square" lIns="0" tIns="0" rIns="0" bIns="0" rtlCol="0" anchor="t"/>
          <a:lstStyle/>
          <a:p>
            <a:pPr indent="0" marL="0">
              <a:buNone/>
            </a:pPr>
            <a:r>
              <a:rPr lang="en-US" sz="1600" dirty="0">
                <a:solidFill>
                  <a:schemeClr val="tx1"/>
                </a:solidFill>
              </a:rPr>
              <a:t>Point-and-click steps and screenshots for every chapter</a:t>
            </a:r>
            <a:endParaRPr lang="en-US" sz="1600" dirty="0"/>
          </a:p>
        </p:txBody>
      </p:sp>
      <p:pic>
        <p:nvPicPr>
          <p:cNvPr id="9" name="Image 1" descr="preencoded.png">    </p:cNvPr>
          <p:cNvPicPr>
            <a:picLocks noChangeAspect="1"/>
          </p:cNvPicPr>
          <p:nvPr/>
        </p:nvPicPr>
        <p:blipFill>
          <a:blip r:embed="rId2"/>
          <a:stretch>
            <a:fillRect/>
          </a:stretch>
        </p:blipFill>
        <p:spPr>
          <a:xfrm>
            <a:off x="3406140" y="2834640"/>
            <a:ext cx="502920" cy="502920"/>
          </a:xfrm>
          <a:prstGeom prst="rect">
            <a:avLst/>
          </a:prstGeom>
        </p:spPr>
      </p:pic>
      <p:sp>
        <p:nvSpPr>
          <p:cNvPr id="10" name="Text 5"/>
          <p:cNvSpPr txBox="1"/>
          <p:nvPr/>
        </p:nvSpPr>
        <p:spPr>
          <a:xfrm>
            <a:off x="3406140" y="356616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Prompts</a:t>
            </a:r>
            <a:endParaRPr lang="en-US" sz="2000" dirty="0"/>
          </a:p>
        </p:txBody>
      </p:sp>
      <p:sp>
        <p:nvSpPr>
          <p:cNvPr id="11" name="Text 6"/>
          <p:cNvSpPr txBox="1"/>
          <p:nvPr/>
        </p:nvSpPr>
        <p:spPr>
          <a:xfrm>
            <a:off x="3406140" y="4389120"/>
            <a:ext cx="2400300" cy="1463040"/>
          </a:xfrm>
          <a:prstGeom prst="rect">
            <a:avLst/>
          </a:prstGeom>
          <a:noFill/>
          <a:ln/>
        </p:spPr>
        <p:txBody>
          <a:bodyPr wrap="square" lIns="0" tIns="0" rIns="0" bIns="0" rtlCol="0" anchor="t"/>
          <a:lstStyle/>
          <a:p>
            <a:pPr indent="0" marL="0">
              <a:buNone/>
            </a:pPr>
            <a:r>
              <a:rPr lang="en-US" sz="1600" dirty="0">
                <a:solidFill>
                  <a:schemeClr val="tx1"/>
                </a:solidFill>
              </a:rPr>
              <a:t>Every prompt you type, with a copy button on each box</a:t>
            </a:r>
            <a:endParaRPr lang="en-US" sz="1600" dirty="0"/>
          </a:p>
        </p:txBody>
      </p:sp>
      <p:pic>
        <p:nvPicPr>
          <p:cNvPr id="12" name="Image 2" descr="preencoded.png">    </p:cNvPr>
          <p:cNvPicPr>
            <a:picLocks noChangeAspect="1"/>
          </p:cNvPicPr>
          <p:nvPr/>
        </p:nvPicPr>
        <p:blipFill>
          <a:blip r:embed="rId3"/>
          <a:stretch>
            <a:fillRect/>
          </a:stretch>
        </p:blipFill>
        <p:spPr>
          <a:xfrm>
            <a:off x="6263640" y="2834640"/>
            <a:ext cx="502920" cy="502920"/>
          </a:xfrm>
          <a:prstGeom prst="rect">
            <a:avLst/>
          </a:prstGeom>
        </p:spPr>
      </p:pic>
      <p:sp>
        <p:nvSpPr>
          <p:cNvPr id="13" name="Text 7"/>
          <p:cNvSpPr txBox="1"/>
          <p:nvPr/>
        </p:nvSpPr>
        <p:spPr>
          <a:xfrm>
            <a:off x="6263640" y="356616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Course book</a:t>
            </a:r>
            <a:endParaRPr lang="en-US" sz="2000" dirty="0"/>
          </a:p>
        </p:txBody>
      </p:sp>
      <p:sp>
        <p:nvSpPr>
          <p:cNvPr id="14" name="Text 8"/>
          <p:cNvSpPr txBox="1"/>
          <p:nvPr/>
        </p:nvSpPr>
        <p:spPr>
          <a:xfrm>
            <a:off x="6263640" y="4389120"/>
            <a:ext cx="2400300" cy="1463040"/>
          </a:xfrm>
          <a:prstGeom prst="rect">
            <a:avLst/>
          </a:prstGeom>
          <a:noFill/>
          <a:ln/>
        </p:spPr>
        <p:txBody>
          <a:bodyPr wrap="square" lIns="0" tIns="0" rIns="0" bIns="0" rtlCol="0" anchor="t"/>
          <a:lstStyle/>
          <a:p>
            <a:pPr indent="0" marL="0">
              <a:buNone/>
            </a:pPr>
            <a:r>
              <a:rPr lang="en-US" sz="1600" dirty="0">
                <a:solidFill>
                  <a:schemeClr val="tx1"/>
                </a:solidFill>
              </a:rPr>
              <a:t>All notes and prompts in one PDF to keep</a:t>
            </a:r>
            <a:endParaRPr lang="en-US" sz="1600" dirty="0"/>
          </a:p>
        </p:txBody>
      </p:sp>
      <p:pic>
        <p:nvPicPr>
          <p:cNvPr id="15" name="Image 3" descr="preencoded.png">    </p:cNvPr>
          <p:cNvPicPr>
            <a:picLocks noChangeAspect="1"/>
          </p:cNvPicPr>
          <p:nvPr/>
        </p:nvPicPr>
        <p:blipFill>
          <a:blip r:embed="rId4"/>
          <a:stretch>
            <a:fillRect/>
          </a:stretch>
        </p:blipFill>
        <p:spPr>
          <a:xfrm>
            <a:off x="9121140" y="2834640"/>
            <a:ext cx="502920" cy="502920"/>
          </a:xfrm>
          <a:prstGeom prst="rect">
            <a:avLst/>
          </a:prstGeom>
        </p:spPr>
      </p:pic>
      <p:sp>
        <p:nvSpPr>
          <p:cNvPr id="16" name="Text 9"/>
          <p:cNvSpPr txBox="1"/>
          <p:nvPr/>
        </p:nvSpPr>
        <p:spPr>
          <a:xfrm>
            <a:off x="9121140" y="356616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Sample files</a:t>
            </a:r>
            <a:endParaRPr lang="en-US" sz="2000" dirty="0"/>
          </a:p>
        </p:txBody>
      </p:sp>
      <p:sp>
        <p:nvSpPr>
          <p:cNvPr id="17" name="Text 10"/>
          <p:cNvSpPr txBox="1"/>
          <p:nvPr/>
        </p:nvSpPr>
        <p:spPr>
          <a:xfrm>
            <a:off x="9121140" y="4389120"/>
            <a:ext cx="2400300" cy="1463040"/>
          </a:xfrm>
          <a:prstGeom prst="rect">
            <a:avLst/>
          </a:prstGeom>
          <a:noFill/>
          <a:ln/>
        </p:spPr>
        <p:txBody>
          <a:bodyPr wrap="square" lIns="0" tIns="0" rIns="0" bIns="0" rtlCol="0" anchor="t"/>
          <a:lstStyle/>
          <a:p>
            <a:pPr indent="0" marL="0">
              <a:buNone/>
            </a:pPr>
            <a:r>
              <a:rPr lang="en-US" sz="1600" dirty="0">
                <a:solidFill>
                  <a:schemeClr val="tx1"/>
                </a:solidFill>
              </a:rPr>
              <a:t>The fictional quotations and policy, in Chapters 4 and 10</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Course site</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Four things that make today easier</a:t>
            </a:r>
            <a:endParaRPr lang="en-US" sz="3200" dirty="0"/>
          </a:p>
        </p:txBody>
      </p:sp>
      <p:pic>
        <p:nvPicPr>
          <p:cNvPr id="5" name="Image 0" descr="preencoded.png">    </p:cNvPr>
          <p:cNvPicPr>
            <a:picLocks noChangeAspect="1"/>
          </p:cNvPicPr>
          <p:nvPr/>
        </p:nvPicPr>
        <p:blipFill>
          <a:blip r:embed="rId1"/>
          <a:stretch>
            <a:fillRect/>
          </a:stretch>
        </p:blipFill>
        <p:spPr>
          <a:xfrm>
            <a:off x="548640" y="1828800"/>
            <a:ext cx="502920" cy="502920"/>
          </a:xfrm>
          <a:prstGeom prst="rect">
            <a:avLst/>
          </a:prstGeom>
        </p:spPr>
      </p:pic>
      <p:sp>
        <p:nvSpPr>
          <p:cNvPr id="6" name="Text 2"/>
          <p:cNvSpPr txBox="1"/>
          <p:nvPr/>
        </p:nvSpPr>
        <p:spPr>
          <a:xfrm>
            <a:off x="548640" y="256032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Pop out</a:t>
            </a:r>
            <a:endParaRPr lang="en-US" sz="2000" dirty="0"/>
          </a:p>
        </p:txBody>
      </p:sp>
      <p:sp>
        <p:nvSpPr>
          <p:cNvPr id="7" name="Text 3"/>
          <p:cNvSpPr txBox="1"/>
          <p:nvPr/>
        </p:nvSpPr>
        <p:spPr>
          <a:xfrm>
            <a:off x="548640" y="3383280"/>
            <a:ext cx="2400300" cy="1554480"/>
          </a:xfrm>
          <a:prstGeom prst="rect">
            <a:avLst/>
          </a:prstGeom>
          <a:noFill/>
          <a:ln/>
        </p:spPr>
        <p:txBody>
          <a:bodyPr wrap="square" lIns="0" tIns="0" rIns="0" bIns="0" rtlCol="0" anchor="t"/>
          <a:lstStyle/>
          <a:p>
            <a:pPr indent="0" marL="0">
              <a:buNone/>
            </a:pPr>
            <a:r>
              <a:rPr lang="en-US" sz="1600" dirty="0">
                <a:solidFill>
                  <a:schemeClr val="tx1"/>
                </a:solidFill>
              </a:rPr>
              <a:t>Keeps the steps in a narrow window beside Copilot, on top of everything</a:t>
            </a:r>
            <a:endParaRPr lang="en-US" sz="1600" dirty="0"/>
          </a:p>
        </p:txBody>
      </p:sp>
      <p:sp>
        <p:nvSpPr>
          <p:cNvPr id="8" name="Text 4"/>
          <p:cNvSpPr txBox="1"/>
          <p:nvPr/>
        </p:nvSpPr>
        <p:spPr>
          <a:xfrm>
            <a:off x="548640" y="4937760"/>
            <a:ext cx="2400300" cy="5486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Top of every chapter page</a:t>
            </a:r>
            <a:endParaRPr lang="en-US" sz="1400" dirty="0"/>
          </a:p>
        </p:txBody>
      </p:sp>
      <p:pic>
        <p:nvPicPr>
          <p:cNvPr id="9" name="Image 1" descr="preencoded.png">    </p:cNvPr>
          <p:cNvPicPr>
            <a:picLocks noChangeAspect="1"/>
          </p:cNvPicPr>
          <p:nvPr/>
        </p:nvPicPr>
        <p:blipFill>
          <a:blip r:embed="rId2"/>
          <a:stretch>
            <a:fillRect/>
          </a:stretch>
        </p:blipFill>
        <p:spPr>
          <a:xfrm>
            <a:off x="3406140" y="1828800"/>
            <a:ext cx="502920" cy="502920"/>
          </a:xfrm>
          <a:prstGeom prst="rect">
            <a:avLst/>
          </a:prstGeom>
        </p:spPr>
      </p:pic>
      <p:sp>
        <p:nvSpPr>
          <p:cNvPr id="10" name="Text 5"/>
          <p:cNvSpPr txBox="1"/>
          <p:nvPr/>
        </p:nvSpPr>
        <p:spPr>
          <a:xfrm>
            <a:off x="3406140" y="256032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What should you see?</a:t>
            </a:r>
            <a:endParaRPr lang="en-US" sz="2000" dirty="0"/>
          </a:p>
        </p:txBody>
      </p:sp>
      <p:sp>
        <p:nvSpPr>
          <p:cNvPr id="11" name="Text 6"/>
          <p:cNvSpPr txBox="1"/>
          <p:nvPr/>
        </p:nvSpPr>
        <p:spPr>
          <a:xfrm>
            <a:off x="3406140" y="3383280"/>
            <a:ext cx="2400300" cy="1554480"/>
          </a:xfrm>
          <a:prstGeom prst="rect">
            <a:avLst/>
          </a:prstGeom>
          <a:noFill/>
          <a:ln/>
        </p:spPr>
        <p:txBody>
          <a:bodyPr wrap="square" lIns="0" tIns="0" rIns="0" bIns="0" rtlCol="0" anchor="t"/>
          <a:lstStyle/>
          <a:p>
            <a:pPr indent="0" marL="0">
              <a:buNone/>
            </a:pPr>
            <a:r>
              <a:rPr lang="en-US" sz="1600" dirty="0">
                <a:solidFill>
                  <a:schemeClr val="tx1"/>
                </a:solidFill>
              </a:rPr>
              <a:t>The expected result after a step. Try it first, then open the box to check</a:t>
            </a:r>
            <a:endParaRPr lang="en-US" sz="1600" dirty="0"/>
          </a:p>
        </p:txBody>
      </p:sp>
      <p:sp>
        <p:nvSpPr>
          <p:cNvPr id="12" name="Text 7"/>
          <p:cNvSpPr txBox="1"/>
          <p:nvPr/>
        </p:nvSpPr>
        <p:spPr>
          <a:xfrm>
            <a:off x="3406140" y="4937760"/>
            <a:ext cx="2400300" cy="5486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Chapters 4 to 10</a:t>
            </a:r>
            <a:endParaRPr lang="en-US" sz="1400" dirty="0"/>
          </a:p>
        </p:txBody>
      </p:sp>
      <p:pic>
        <p:nvPicPr>
          <p:cNvPr id="13" name="Image 2" descr="preencoded.png">    </p:cNvPr>
          <p:cNvPicPr>
            <a:picLocks noChangeAspect="1"/>
          </p:cNvPicPr>
          <p:nvPr/>
        </p:nvPicPr>
        <p:blipFill>
          <a:blip r:embed="rId3"/>
          <a:stretch>
            <a:fillRect/>
          </a:stretch>
        </p:blipFill>
        <p:spPr>
          <a:xfrm>
            <a:off x="6263640" y="1828800"/>
            <a:ext cx="502920" cy="502920"/>
          </a:xfrm>
          <a:prstGeom prst="rect">
            <a:avLst/>
          </a:prstGeom>
        </p:spPr>
      </p:pic>
      <p:sp>
        <p:nvSpPr>
          <p:cNvPr id="14" name="Text 8"/>
          <p:cNvSpPr txBox="1"/>
          <p:nvPr/>
        </p:nvSpPr>
        <p:spPr>
          <a:xfrm>
            <a:off x="6263640" y="256032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Screenshots</a:t>
            </a:r>
            <a:endParaRPr lang="en-US" sz="2000" dirty="0"/>
          </a:p>
        </p:txBody>
      </p:sp>
      <p:sp>
        <p:nvSpPr>
          <p:cNvPr id="15" name="Text 9"/>
          <p:cNvSpPr txBox="1"/>
          <p:nvPr/>
        </p:nvSpPr>
        <p:spPr>
          <a:xfrm>
            <a:off x="6263640" y="3383280"/>
            <a:ext cx="2400300" cy="1554480"/>
          </a:xfrm>
          <a:prstGeom prst="rect">
            <a:avLst/>
          </a:prstGeom>
          <a:noFill/>
          <a:ln/>
        </p:spPr>
        <p:txBody>
          <a:bodyPr wrap="square" lIns="0" tIns="0" rIns="0" bIns="0" rtlCol="0" anchor="t"/>
          <a:lstStyle/>
          <a:p>
            <a:pPr indent="0" marL="0">
              <a:buNone/>
            </a:pPr>
            <a:r>
              <a:rPr lang="en-US" sz="1600" dirty="0">
                <a:solidFill>
                  <a:schemeClr val="tx1"/>
                </a:solidFill>
              </a:rPr>
              <a:t>Click any screenshot to open it full size in its own window</a:t>
            </a:r>
            <a:endParaRPr lang="en-US" sz="1600" dirty="0"/>
          </a:p>
        </p:txBody>
      </p:sp>
      <p:sp>
        <p:nvSpPr>
          <p:cNvPr id="16" name="Text 10"/>
          <p:cNvSpPr txBox="1"/>
          <p:nvPr/>
        </p:nvSpPr>
        <p:spPr>
          <a:xfrm>
            <a:off x="6263640" y="4937760"/>
            <a:ext cx="2400300" cy="5486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On every page</a:t>
            </a:r>
            <a:endParaRPr lang="en-US" sz="1400" dirty="0"/>
          </a:p>
        </p:txBody>
      </p:sp>
      <p:pic>
        <p:nvPicPr>
          <p:cNvPr id="17" name="Image 3" descr="preencoded.png">    </p:cNvPr>
          <p:cNvPicPr>
            <a:picLocks noChangeAspect="1"/>
          </p:cNvPicPr>
          <p:nvPr/>
        </p:nvPicPr>
        <p:blipFill>
          <a:blip r:embed="rId4"/>
          <a:stretch>
            <a:fillRect/>
          </a:stretch>
        </p:blipFill>
        <p:spPr>
          <a:xfrm>
            <a:off x="9121140" y="1828800"/>
            <a:ext cx="502920" cy="502920"/>
          </a:xfrm>
          <a:prstGeom prst="rect">
            <a:avLst/>
          </a:prstGeom>
        </p:spPr>
      </p:pic>
      <p:sp>
        <p:nvSpPr>
          <p:cNvPr id="18" name="Text 11"/>
          <p:cNvSpPr txBox="1"/>
          <p:nvPr/>
        </p:nvSpPr>
        <p:spPr>
          <a:xfrm>
            <a:off x="9121140" y="256032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Previous and Next</a:t>
            </a:r>
            <a:endParaRPr lang="en-US" sz="2000" dirty="0"/>
          </a:p>
        </p:txBody>
      </p:sp>
      <p:sp>
        <p:nvSpPr>
          <p:cNvPr id="19" name="Text 12"/>
          <p:cNvSpPr txBox="1"/>
          <p:nvPr/>
        </p:nvSpPr>
        <p:spPr>
          <a:xfrm>
            <a:off x="9121140" y="3383280"/>
            <a:ext cx="2400300" cy="1554480"/>
          </a:xfrm>
          <a:prstGeom prst="rect">
            <a:avLst/>
          </a:prstGeom>
          <a:noFill/>
          <a:ln/>
        </p:spPr>
        <p:txBody>
          <a:bodyPr wrap="square" lIns="0" tIns="0" rIns="0" bIns="0" rtlCol="0" anchor="t"/>
          <a:lstStyle/>
          <a:p>
            <a:pPr indent="0" marL="0">
              <a:buNone/>
            </a:pPr>
            <a:r>
              <a:rPr lang="en-US" sz="1600" dirty="0">
                <a:solidFill>
                  <a:schemeClr val="tx1"/>
                </a:solidFill>
              </a:rPr>
              <a:t>Move between chapters even when the side menu is hidden</a:t>
            </a:r>
            <a:endParaRPr lang="en-US" sz="1600" dirty="0"/>
          </a:p>
        </p:txBody>
      </p:sp>
      <p:sp>
        <p:nvSpPr>
          <p:cNvPr id="20" name="Text 13"/>
          <p:cNvSpPr txBox="1"/>
          <p:nvPr/>
        </p:nvSpPr>
        <p:spPr>
          <a:xfrm>
            <a:off x="9121140" y="4937760"/>
            <a:ext cx="2400300" cy="5486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Bottom of every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Ground rules</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Four rules for today</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Fictional files only</a:t>
            </a:r>
            <a:endParaRPr lang="en-US" sz="20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Use the sample files. Don't upload real company documents to practise.</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No shield, no upload</a:t>
            </a:r>
            <a:endParaRPr lang="en-US" sz="20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Check for the green shield before you upload anything.</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Email only yourself</a:t>
            </a:r>
            <a:endParaRPr lang="en-US" sz="20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Every training subject starts with [CCB TRAINING].</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 every number</a:t>
            </a:r>
            <a:endParaRPr lang="en-US" sz="20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Copilot can be wrong. Treat it like a colleague's draft.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01</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Which Copilot do I have?</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Check  |  20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you know your Copilot label, you've seen the green shield, and you've run one safe prompt.</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01</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Three work labels, and one consumer app</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651760"/>
                <a:gridCol w="3566160"/>
                <a:gridCol w="2651760"/>
                <a:gridCol w="2194560"/>
              </a:tblGrid>
              <a:tr h="566928">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Label</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Who usually has it</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Copilot in Word, Excel, PowerPoint</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Busy times</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r>
              <a:tr h="566928">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Copilot Chat (Basic)</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Organisations over 2,000 users, no paid license</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No</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Standard access, can slow down</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66928">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M365 Copilot (Basic)</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Smaller organisations, no paid license</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Yes, standard access</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Standard access, can slow down</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66928">
                <a:tc>
                  <a:txBody>
                    <a:bodyPr/>
                    <a:lstStyle/>
                    <a:p>
                      <a:pPr indent="0" marL="0">
                        <a:buNone/>
                      </a:pPr>
                      <a:r>
                        <a:rPr lang="en-US" sz="1500" dirty="0">
                          <a:solidFill>
                            <a:schemeClr val="accent4"/>
                          </a:solidFill>
                          <a:latin typeface="Segoe UI Semibold" pitchFamily="34" charset="0"/>
                          <a:ea typeface="Segoe UI Semibold" pitchFamily="34" charset="-122"/>
                          <a:cs typeface="Segoe UI Semibold" pitchFamily="34" charset="-120"/>
                        </a:rPr>
                        <a:t>M365 Copilot (Premium)</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accent4"/>
                          </a:solidFill>
                        </a:rPr>
                        <a:t>The paid Microsoft 365 Copilot license</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accent4"/>
                          </a:solidFill>
                        </a:rPr>
                        <a:t>Yes, full features</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accent4"/>
                          </a:solidFill>
                        </a:rPr>
                        <a:t>Priority access</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bl>
          </a:graphicData>
        </a:graphic>
      </p:graphicFrame>
      <p:sp>
        <p:nvSpPr>
          <p:cNvPr id="6" name="Consumer note"/>
          <p:cNvSpPr/>
          <p:nvPr/>
        </p:nvSpPr>
        <p:spPr>
          <a:xfrm>
            <a:off x="548640" y="4617720"/>
            <a:ext cx="11064240" cy="1325880"/>
          </a:xfrm>
          <a:prstGeom prst="roundRect">
            <a:avLst>
              <a:gd name="adj" fmla="val 6897"/>
            </a:avLst>
          </a:prstGeom>
          <a:solidFill>
            <a:schemeClr val="bg1"/>
          </a:solidFill>
          <a:ln/>
          <a:effectLst>
            <a:outerShdw sx="100000" sy="100000" kx="0" ky="0" algn="bl" rotWithShape="0" blurRad="177800" dist="38100" dir="5400000">
              <a:srgbClr val="1B2A4A">
                <a:alpha val="12000"/>
              </a:srgbClr>
            </a:outerShdw>
          </a:effectLst>
        </p:spPr>
      </p:sp>
      <p:pic>
        <p:nvPicPr>
          <p:cNvPr id="7" name="Image 0" descr="preencoded.png">    </p:cNvPr>
          <p:cNvPicPr>
            <a:picLocks noChangeAspect="1"/>
          </p:cNvPicPr>
          <p:nvPr/>
        </p:nvPicPr>
        <p:blipFill>
          <a:blip r:embed="rId1"/>
          <a:stretch>
            <a:fillRect/>
          </a:stretch>
        </p:blipFill>
        <p:spPr>
          <a:xfrm>
            <a:off x="868680" y="4983480"/>
            <a:ext cx="548640" cy="548640"/>
          </a:xfrm>
          <a:prstGeom prst="rect">
            <a:avLst/>
          </a:prstGeom>
        </p:spPr>
      </p:pic>
      <p:sp>
        <p:nvSpPr>
          <p:cNvPr id="8" name="Text 3"/>
          <p:cNvSpPr txBox="1"/>
          <p:nvPr/>
        </p:nvSpPr>
        <p:spPr>
          <a:xfrm>
            <a:off x="1691640" y="4800600"/>
            <a:ext cx="9692640" cy="1005840"/>
          </a:xfrm>
          <a:prstGeom prst="rect">
            <a:avLst/>
          </a:prstGeom>
          <a:noFill/>
          <a:ln/>
        </p:spPr>
        <p:txBody>
          <a:bodyPr wrap="square" lIns="0" tIns="0" rIns="0" bIns="0" rtlCol="0" anchor="ctr"/>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Microsoft Copilot is the consumer product.</a:t>
            </a:r>
            <a:endParaRPr lang="en-US" sz="1600" dirty="0"/>
          </a:p>
          <a:p>
            <a:pPr indent="0" marL="0">
              <a:buNone/>
            </a:pPr>
            <a:r>
              <a:rPr lang="en-US" sz="1600" dirty="0">
                <a:solidFill>
                  <a:schemeClr val="tx1"/>
                </a:solidFill>
              </a:rPr>
              <a:t>Signed in with a personal account, it has no green shield. Don't use it for company documents. This course is built for the two Basic labels.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01</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No shield, no upload</a:t>
            </a:r>
            <a:endParaRPr lang="en-US" sz="3200" dirty="0"/>
          </a:p>
        </p:txBody>
      </p:sp>
      <p:pic>
        <p:nvPicPr>
          <p:cNvPr id="5" name="Image 0" descr="_design/deck/bg/panel.jpg">    </p:cNvPr>
          <p:cNvPicPr>
            <a:picLocks noChangeAspect="1"/>
          </p:cNvPicPr>
          <p:nvPr/>
        </p:nvPicPr>
        <p:blipFill>
          <a:blip r:embed="rId1"/>
          <a:srcRect l="0" r="0" t="0" b="0"/>
          <a:stretch/>
        </p:blipFill>
        <p:spPr>
          <a:xfrm>
            <a:off x="548640" y="1783080"/>
            <a:ext cx="6949440" cy="3909060"/>
          </a:xfrm>
          <a:prstGeom prst="rect">
            <a:avLst/>
          </a:prstGeom>
        </p:spPr>
      </p:pic>
      <p:sp>
        <p:nvSpPr>
          <p:cNvPr id="6" name="Screenshot frame"/>
          <p:cNvSpPr/>
          <p:nvPr/>
        </p:nvSpPr>
        <p:spPr>
          <a:xfrm>
            <a:off x="804672" y="1927098"/>
            <a:ext cx="6437376" cy="3621024"/>
          </a:xfrm>
          <a:prstGeom prst="rect">
            <a:avLst/>
          </a:prstGeom>
          <a:solidFill>
            <a:schemeClr val="bg1"/>
          </a:solidFill>
          <a:ln w="9525">
            <a:solidFill>
              <a:srgbClr val="E0E0E0"/>
            </a:solidFill>
            <a:prstDash val="solid"/>
          </a:ln>
          <a:effectLst>
            <a:outerShdw sx="100000" sy="100000" kx="0" ky="0" algn="bl" rotWithShape="0" blurRad="203200" dist="50800" dir="5400000">
              <a:srgbClr val="1B2A4A">
                <a:alpha val="25000"/>
              </a:srgbClr>
            </a:outerShdw>
          </a:effectLst>
        </p:spPr>
      </p:sp>
      <p:pic>
        <p:nvPicPr>
          <p:cNvPr id="7" name="Image 1" descr="The Copilot app with the green shield at the top right and its tooltip">    </p:cNvPr>
          <p:cNvPicPr>
            <a:picLocks noChangeAspect="1"/>
          </p:cNvPicPr>
          <p:nvPr/>
        </p:nvPicPr>
        <p:blipFill>
          <a:blip r:embed="rId2"/>
          <a:stretch>
            <a:fillRect/>
          </a:stretch>
        </p:blipFill>
        <p:spPr>
          <a:xfrm>
            <a:off x="804672" y="1927098"/>
            <a:ext cx="6437376" cy="3621024"/>
          </a:xfrm>
          <a:prstGeom prst="rect">
            <a:avLst/>
          </a:prstGeom>
        </p:spPr>
      </p:pic>
      <p:sp>
        <p:nvSpPr>
          <p:cNvPr id="8" name="Text 3"/>
          <p:cNvSpPr txBox="1"/>
          <p:nvPr/>
        </p:nvSpPr>
        <p:spPr>
          <a:xfrm>
            <a:off x="7909560" y="1783080"/>
            <a:ext cx="411480" cy="960120"/>
          </a:xfrm>
          <a:prstGeom prst="rect">
            <a:avLst/>
          </a:prstGeom>
          <a:noFill/>
          <a:ln/>
        </p:spPr>
        <p:txBody>
          <a:bodyPr wrap="square" lIns="0" tIns="0" rIns="0" bIns="0" rtlCol="0" anchor="t"/>
          <a:lstStyle/>
          <a:p>
            <a:pPr indent="0" marL="0">
              <a:buNone/>
            </a:pPr>
            <a:r>
              <a:rPr lang="en-US" sz="2000" dirty="0">
                <a:solidFill>
                  <a:schemeClr val="accent1"/>
                </a:solidFill>
                <a:latin typeface="Segoe UI Semibold" pitchFamily="34" charset="0"/>
                <a:ea typeface="Segoe UI Semibold" pitchFamily="34" charset="-122"/>
                <a:cs typeface="Segoe UI Semibold" pitchFamily="34" charset="-120"/>
              </a:rPr>
              <a:t>1</a:t>
            </a:r>
            <a:endParaRPr lang="en-US" sz="2000" dirty="0"/>
          </a:p>
        </p:txBody>
      </p:sp>
      <p:sp>
        <p:nvSpPr>
          <p:cNvPr id="9" name="Text 4"/>
          <p:cNvSpPr txBox="1"/>
          <p:nvPr/>
        </p:nvSpPr>
        <p:spPr>
          <a:xfrm>
            <a:off x="8366760" y="1819656"/>
            <a:ext cx="3291840" cy="960120"/>
          </a:xfrm>
          <a:prstGeom prst="rect">
            <a:avLst/>
          </a:prstGeom>
          <a:noFill/>
          <a:ln/>
        </p:spPr>
        <p:txBody>
          <a:bodyPr wrap="square" lIns="0" tIns="0" rIns="0" bIns="0" rtlCol="0" anchor="t"/>
          <a:lstStyle/>
          <a:p>
            <a:pPr indent="0" marL="0">
              <a:buNone/>
            </a:pPr>
            <a:r>
              <a:rPr lang="en-US" sz="1600" dirty="0">
                <a:solidFill>
                  <a:schemeClr val="tx1"/>
                </a:solidFill>
              </a:rPr>
              <a:t>Open m365.cloud.microsoft/chat with your work account</a:t>
            </a:r>
            <a:endParaRPr lang="en-US" sz="1600" dirty="0"/>
          </a:p>
        </p:txBody>
      </p:sp>
      <p:sp>
        <p:nvSpPr>
          <p:cNvPr id="10" name="Text 5"/>
          <p:cNvSpPr txBox="1"/>
          <p:nvPr/>
        </p:nvSpPr>
        <p:spPr>
          <a:xfrm>
            <a:off x="7909560" y="2743200"/>
            <a:ext cx="411480" cy="960120"/>
          </a:xfrm>
          <a:prstGeom prst="rect">
            <a:avLst/>
          </a:prstGeom>
          <a:noFill/>
          <a:ln/>
        </p:spPr>
        <p:txBody>
          <a:bodyPr wrap="square" lIns="0" tIns="0" rIns="0" bIns="0" rtlCol="0" anchor="t"/>
          <a:lstStyle/>
          <a:p>
            <a:pPr indent="0" marL="0">
              <a:buNone/>
            </a:pPr>
            <a:r>
              <a:rPr lang="en-US" sz="2000" dirty="0">
                <a:solidFill>
                  <a:schemeClr val="accent1"/>
                </a:solidFill>
                <a:latin typeface="Segoe UI Semibold" pitchFamily="34" charset="0"/>
                <a:ea typeface="Segoe UI Semibold" pitchFamily="34" charset="-122"/>
                <a:cs typeface="Segoe UI Semibold" pitchFamily="34" charset="-120"/>
              </a:rPr>
              <a:t>2</a:t>
            </a:r>
            <a:endParaRPr lang="en-US" sz="2000" dirty="0"/>
          </a:p>
        </p:txBody>
      </p:sp>
      <p:sp>
        <p:nvSpPr>
          <p:cNvPr id="11" name="Text 6"/>
          <p:cNvSpPr txBox="1"/>
          <p:nvPr/>
        </p:nvSpPr>
        <p:spPr>
          <a:xfrm>
            <a:off x="8366760" y="2779776"/>
            <a:ext cx="3291840" cy="960120"/>
          </a:xfrm>
          <a:prstGeom prst="rect">
            <a:avLst/>
          </a:prstGeom>
          <a:noFill/>
          <a:ln/>
        </p:spPr>
        <p:txBody>
          <a:bodyPr wrap="square" lIns="0" tIns="0" rIns="0" bIns="0" rtlCol="0" anchor="t"/>
          <a:lstStyle/>
          <a:p>
            <a:pPr indent="0" marL="0">
              <a:buNone/>
            </a:pPr>
            <a:r>
              <a:rPr lang="en-US" sz="1600" dirty="0">
                <a:solidFill>
                  <a:schemeClr val="tx1"/>
                </a:solidFill>
              </a:rPr>
              <a:t>Look for the small green shield at the top right</a:t>
            </a:r>
            <a:endParaRPr lang="en-US" sz="1600" dirty="0"/>
          </a:p>
        </p:txBody>
      </p:sp>
      <p:sp>
        <p:nvSpPr>
          <p:cNvPr id="12" name="Text 7"/>
          <p:cNvSpPr txBox="1"/>
          <p:nvPr/>
        </p:nvSpPr>
        <p:spPr>
          <a:xfrm>
            <a:off x="7909560" y="3703320"/>
            <a:ext cx="411480" cy="960120"/>
          </a:xfrm>
          <a:prstGeom prst="rect">
            <a:avLst/>
          </a:prstGeom>
          <a:noFill/>
          <a:ln/>
        </p:spPr>
        <p:txBody>
          <a:bodyPr wrap="square" lIns="0" tIns="0" rIns="0" bIns="0" rtlCol="0" anchor="t"/>
          <a:lstStyle/>
          <a:p>
            <a:pPr indent="0" marL="0">
              <a:buNone/>
            </a:pPr>
            <a:r>
              <a:rPr lang="en-US" sz="2000" dirty="0">
                <a:solidFill>
                  <a:schemeClr val="accent1"/>
                </a:solidFill>
                <a:latin typeface="Segoe UI Semibold" pitchFamily="34" charset="0"/>
                <a:ea typeface="Segoe UI Semibold" pitchFamily="34" charset="-122"/>
                <a:cs typeface="Segoe UI Semibold" pitchFamily="34" charset="-120"/>
              </a:rPr>
              <a:t>3</a:t>
            </a:r>
            <a:endParaRPr lang="en-US" sz="2000" dirty="0"/>
          </a:p>
        </p:txBody>
      </p:sp>
      <p:sp>
        <p:nvSpPr>
          <p:cNvPr id="13" name="Text 8"/>
          <p:cNvSpPr txBox="1"/>
          <p:nvPr/>
        </p:nvSpPr>
        <p:spPr>
          <a:xfrm>
            <a:off x="8366760" y="3739896"/>
            <a:ext cx="3291840" cy="960120"/>
          </a:xfrm>
          <a:prstGeom prst="rect">
            <a:avLst/>
          </a:prstGeom>
          <a:noFill/>
          <a:ln/>
        </p:spPr>
        <p:txBody>
          <a:bodyPr wrap="square" lIns="0" tIns="0" rIns="0" bIns="0" rtlCol="0" anchor="t"/>
          <a:lstStyle/>
          <a:p>
            <a:pPr indent="0" marL="0">
              <a:buNone/>
            </a:pPr>
            <a:r>
              <a:rPr lang="en-US" sz="1600" dirty="0">
                <a:solidFill>
                  <a:schemeClr val="tx1"/>
                </a:solidFill>
              </a:rPr>
              <a:t>Point at it: "Enterprise data protection applies to this chat"</a:t>
            </a:r>
            <a:endParaRPr lang="en-US" sz="1600" dirty="0"/>
          </a:p>
        </p:txBody>
      </p:sp>
      <p:sp>
        <p:nvSpPr>
          <p:cNvPr id="14" name="Text 9"/>
          <p:cNvSpPr txBox="1"/>
          <p:nvPr/>
        </p:nvSpPr>
        <p:spPr>
          <a:xfrm>
            <a:off x="7909560" y="4663440"/>
            <a:ext cx="411480" cy="960120"/>
          </a:xfrm>
          <a:prstGeom prst="rect">
            <a:avLst/>
          </a:prstGeom>
          <a:noFill/>
          <a:ln/>
        </p:spPr>
        <p:txBody>
          <a:bodyPr wrap="square" lIns="0" tIns="0" rIns="0" bIns="0" rtlCol="0" anchor="t"/>
          <a:lstStyle/>
          <a:p>
            <a:pPr indent="0" marL="0">
              <a:buNone/>
            </a:pPr>
            <a:r>
              <a:rPr lang="en-US" sz="2000" dirty="0">
                <a:solidFill>
                  <a:schemeClr val="accent1"/>
                </a:solidFill>
                <a:latin typeface="Segoe UI Semibold" pitchFamily="34" charset="0"/>
                <a:ea typeface="Segoe UI Semibold" pitchFamily="34" charset="-122"/>
                <a:cs typeface="Segoe UI Semibold" pitchFamily="34" charset="-120"/>
              </a:rPr>
              <a:t>4</a:t>
            </a:r>
            <a:endParaRPr lang="en-US" sz="2000" dirty="0"/>
          </a:p>
        </p:txBody>
      </p:sp>
      <p:sp>
        <p:nvSpPr>
          <p:cNvPr id="15" name="Text 10"/>
          <p:cNvSpPr txBox="1"/>
          <p:nvPr/>
        </p:nvSpPr>
        <p:spPr>
          <a:xfrm>
            <a:off x="8366760" y="4700016"/>
            <a:ext cx="3291840" cy="960120"/>
          </a:xfrm>
          <a:prstGeom prst="rect">
            <a:avLst/>
          </a:prstGeom>
          <a:noFill/>
          <a:ln/>
        </p:spPr>
        <p:txBody>
          <a:bodyPr wrap="square" lIns="0" tIns="0" rIns="0" bIns="0" rtlCol="0" anchor="t"/>
          <a:lstStyle/>
          <a:p>
            <a:pPr indent="0" marL="0">
              <a:buNone/>
            </a:pPr>
            <a:r>
              <a:rPr lang="en-US" sz="1600" dirty="0">
                <a:solidFill>
                  <a:schemeClr val="tx1"/>
                </a:solidFill>
              </a:rPr>
              <a:t>No shield? Sign out and sign back in with your work account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01</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What Basic can't do, so you can stop looking for it</a:t>
            </a:r>
            <a:endParaRPr lang="en-US" sz="3200" dirty="0"/>
          </a:p>
        </p:txBody>
      </p:sp>
      <p:pic>
        <p:nvPicPr>
          <p:cNvPr id="5" name="Image 0" descr="preencoded.png">    </p:cNvPr>
          <p:cNvPicPr>
            <a:picLocks noChangeAspect="1"/>
          </p:cNvPicPr>
          <p:nvPr/>
        </p:nvPicPr>
        <p:blipFill>
          <a:blip r:embed="rId1"/>
          <a:stretch>
            <a:fillRect/>
          </a:stretch>
        </p:blipFill>
        <p:spPr>
          <a:xfrm>
            <a:off x="548640" y="1783080"/>
            <a:ext cx="457200" cy="457200"/>
          </a:xfrm>
          <a:prstGeom prst="rect">
            <a:avLst/>
          </a:prstGeom>
        </p:spPr>
      </p:pic>
      <p:sp>
        <p:nvSpPr>
          <p:cNvPr id="6" name="Text 2"/>
          <p:cNvSpPr txBox="1"/>
          <p:nvPr/>
        </p:nvSpPr>
        <p:spPr>
          <a:xfrm>
            <a:off x="1188720" y="1783080"/>
            <a:ext cx="457200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In this course</a:t>
            </a:r>
            <a:endParaRPr lang="en-US" sz="2200" dirty="0"/>
          </a:p>
        </p:txBody>
      </p:sp>
      <p:sp>
        <p:nvSpPr>
          <p:cNvPr id="7" name="Divider line"/>
          <p:cNvSpPr/>
          <p:nvPr/>
        </p:nvSpPr>
        <p:spPr>
          <a:xfrm>
            <a:off x="548640" y="2468880"/>
            <a:ext cx="5349240" cy="0"/>
          </a:xfrm>
          <a:prstGeom prst="line">
            <a:avLst/>
          </a:prstGeom>
          <a:noFill/>
          <a:ln w="12700">
            <a:solidFill>
              <a:srgbClr val="E0E0E0"/>
            </a:solidFill>
            <a:prstDash val="solid"/>
          </a:ln>
        </p:spPr>
      </p:sp>
      <p:sp>
        <p:nvSpPr>
          <p:cNvPr id="8" name="Text 4"/>
          <p:cNvSpPr txBox="1"/>
          <p:nvPr/>
        </p:nvSpPr>
        <p:spPr>
          <a:xfrm>
            <a:off x="548640" y="2606040"/>
            <a:ext cx="5349240" cy="548640"/>
          </a:xfrm>
          <a:prstGeom prst="rect">
            <a:avLst/>
          </a:prstGeom>
          <a:noFill/>
          <a:ln/>
        </p:spPr>
        <p:txBody>
          <a:bodyPr wrap="square" lIns="0" tIns="0" rIns="0" bIns="0" rtlCol="0" anchor="t"/>
          <a:lstStyle/>
          <a:p>
            <a:pPr indent="0" marL="0">
              <a:buNone/>
            </a:pPr>
            <a:r>
              <a:rPr lang="en-US" sz="1800" dirty="0">
                <a:solidFill>
                  <a:schemeClr val="tx1"/>
                </a:solidFill>
              </a:rPr>
              <a:t>Copilot Chat with the web and files you upload</a:t>
            </a:r>
            <a:endParaRPr lang="en-US" sz="1800" dirty="0"/>
          </a:p>
        </p:txBody>
      </p:sp>
      <p:sp>
        <p:nvSpPr>
          <p:cNvPr id="9" name="Divider line"/>
          <p:cNvSpPr/>
          <p:nvPr/>
        </p:nvSpPr>
        <p:spPr>
          <a:xfrm>
            <a:off x="548640" y="3182112"/>
            <a:ext cx="5349240" cy="0"/>
          </a:xfrm>
          <a:prstGeom prst="line">
            <a:avLst/>
          </a:prstGeom>
          <a:noFill/>
          <a:ln w="12700">
            <a:solidFill>
              <a:srgbClr val="E0E0E0"/>
            </a:solidFill>
            <a:prstDash val="solid"/>
          </a:ln>
        </p:spPr>
      </p:sp>
      <p:sp>
        <p:nvSpPr>
          <p:cNvPr id="10" name="Text 6"/>
          <p:cNvSpPr txBox="1"/>
          <p:nvPr/>
        </p:nvSpPr>
        <p:spPr>
          <a:xfrm>
            <a:off x="548640" y="3227832"/>
            <a:ext cx="5349240" cy="548640"/>
          </a:xfrm>
          <a:prstGeom prst="rect">
            <a:avLst/>
          </a:prstGeom>
          <a:noFill/>
          <a:ln/>
        </p:spPr>
        <p:txBody>
          <a:bodyPr wrap="square" lIns="0" tIns="0" rIns="0" bIns="0" rtlCol="0" anchor="t"/>
          <a:lstStyle/>
          <a:p>
            <a:pPr indent="0" marL="0">
              <a:buNone/>
            </a:pPr>
            <a:r>
              <a:rPr lang="en-US" sz="1800" dirty="0">
                <a:solidFill>
                  <a:schemeClr val="tx1"/>
                </a:solidFill>
              </a:rPr>
              <a:t>Copilot in Outlook, for the open email</a:t>
            </a:r>
            <a:endParaRPr lang="en-US" sz="1800" dirty="0"/>
          </a:p>
        </p:txBody>
      </p:sp>
      <p:sp>
        <p:nvSpPr>
          <p:cNvPr id="11" name="Divider line"/>
          <p:cNvSpPr/>
          <p:nvPr/>
        </p:nvSpPr>
        <p:spPr>
          <a:xfrm>
            <a:off x="548640" y="3803904"/>
            <a:ext cx="5349240" cy="0"/>
          </a:xfrm>
          <a:prstGeom prst="line">
            <a:avLst/>
          </a:prstGeom>
          <a:noFill/>
          <a:ln w="12700">
            <a:solidFill>
              <a:srgbClr val="E0E0E0"/>
            </a:solidFill>
            <a:prstDash val="solid"/>
          </a:ln>
        </p:spPr>
      </p:sp>
      <p:sp>
        <p:nvSpPr>
          <p:cNvPr id="12" name="Text 8"/>
          <p:cNvSpPr txBox="1"/>
          <p:nvPr/>
        </p:nvSpPr>
        <p:spPr>
          <a:xfrm>
            <a:off x="548640" y="3849624"/>
            <a:ext cx="5349240" cy="548640"/>
          </a:xfrm>
          <a:prstGeom prst="rect">
            <a:avLst/>
          </a:prstGeom>
          <a:noFill/>
          <a:ln/>
        </p:spPr>
        <p:txBody>
          <a:bodyPr wrap="square" lIns="0" tIns="0" rIns="0" bIns="0" rtlCol="0" anchor="t"/>
          <a:lstStyle/>
          <a:p>
            <a:pPr indent="0" marL="0">
              <a:buNone/>
            </a:pPr>
            <a:r>
              <a:rPr lang="en-US" sz="1800" dirty="0">
                <a:solidFill>
                  <a:schemeClr val="tx1"/>
                </a:solidFill>
              </a:rPr>
              <a:t>Pages, Notebooks and the Prompt Gallery</a:t>
            </a:r>
            <a:endParaRPr lang="en-US" sz="1800" dirty="0"/>
          </a:p>
        </p:txBody>
      </p:sp>
      <p:sp>
        <p:nvSpPr>
          <p:cNvPr id="13" name="Divider line"/>
          <p:cNvSpPr/>
          <p:nvPr/>
        </p:nvSpPr>
        <p:spPr>
          <a:xfrm>
            <a:off x="548640" y="4425696"/>
            <a:ext cx="5349240" cy="0"/>
          </a:xfrm>
          <a:prstGeom prst="line">
            <a:avLst/>
          </a:prstGeom>
          <a:noFill/>
          <a:ln w="12700">
            <a:solidFill>
              <a:srgbClr val="E0E0E0"/>
            </a:solidFill>
            <a:prstDash val="solid"/>
          </a:ln>
        </p:spPr>
      </p:sp>
      <p:sp>
        <p:nvSpPr>
          <p:cNvPr id="14" name="Text 10"/>
          <p:cNvSpPr txBox="1"/>
          <p:nvPr/>
        </p:nvSpPr>
        <p:spPr>
          <a:xfrm>
            <a:off x="548640" y="4471416"/>
            <a:ext cx="5349240" cy="548640"/>
          </a:xfrm>
          <a:prstGeom prst="rect">
            <a:avLst/>
          </a:prstGeom>
          <a:noFill/>
          <a:ln/>
        </p:spPr>
        <p:txBody>
          <a:bodyPr wrap="square" lIns="0" tIns="0" rIns="0" bIns="0" rtlCol="0" anchor="t"/>
          <a:lstStyle/>
          <a:p>
            <a:pPr indent="0" marL="0">
              <a:buNone/>
            </a:pPr>
            <a:r>
              <a:rPr lang="en-US" sz="1800" dirty="0">
                <a:solidFill>
                  <a:schemeClr val="tx1"/>
                </a:solidFill>
              </a:rPr>
              <a:t>Agent Builder with instructions and websites</a:t>
            </a:r>
            <a:endParaRPr lang="en-US" sz="1800" dirty="0"/>
          </a:p>
        </p:txBody>
      </p:sp>
      <p:sp>
        <p:nvSpPr>
          <p:cNvPr id="15" name="Divider line"/>
          <p:cNvSpPr/>
          <p:nvPr/>
        </p:nvSpPr>
        <p:spPr>
          <a:xfrm>
            <a:off x="548640" y="5047488"/>
            <a:ext cx="5349240" cy="0"/>
          </a:xfrm>
          <a:prstGeom prst="line">
            <a:avLst/>
          </a:prstGeom>
          <a:noFill/>
          <a:ln w="12700">
            <a:solidFill>
              <a:srgbClr val="E0E0E0"/>
            </a:solidFill>
            <a:prstDash val="solid"/>
          </a:ln>
        </p:spPr>
      </p:sp>
      <p:sp>
        <p:nvSpPr>
          <p:cNvPr id="16" name="Text 12"/>
          <p:cNvSpPr txBox="1"/>
          <p:nvPr/>
        </p:nvSpPr>
        <p:spPr>
          <a:xfrm>
            <a:off x="548640" y="5093208"/>
            <a:ext cx="5349240" cy="548640"/>
          </a:xfrm>
          <a:prstGeom prst="rect">
            <a:avLst/>
          </a:prstGeom>
          <a:noFill/>
          <a:ln/>
        </p:spPr>
        <p:txBody>
          <a:bodyPr wrap="square" lIns="0" tIns="0" rIns="0" bIns="0" rtlCol="0" anchor="t"/>
          <a:lstStyle/>
          <a:p>
            <a:pPr indent="0" marL="0">
              <a:buNone/>
            </a:pPr>
            <a:r>
              <a:rPr lang="en-US" sz="1800" dirty="0">
                <a:solidFill>
                  <a:schemeClr val="tx1"/>
                </a:solidFill>
              </a:rPr>
              <a:t>Custom instructions and memory</a:t>
            </a:r>
            <a:endParaRPr lang="en-US" sz="1800" dirty="0"/>
          </a:p>
        </p:txBody>
      </p:sp>
      <p:sp>
        <p:nvSpPr>
          <p:cNvPr id="17" name="Divider line"/>
          <p:cNvSpPr/>
          <p:nvPr/>
        </p:nvSpPr>
        <p:spPr>
          <a:xfrm>
            <a:off x="548640" y="5669280"/>
            <a:ext cx="5349240" cy="0"/>
          </a:xfrm>
          <a:prstGeom prst="line">
            <a:avLst/>
          </a:prstGeom>
          <a:noFill/>
          <a:ln w="12700">
            <a:solidFill>
              <a:srgbClr val="E0E0E0"/>
            </a:solidFill>
            <a:prstDash val="solid"/>
          </a:ln>
        </p:spPr>
      </p:sp>
      <p:pic>
        <p:nvPicPr>
          <p:cNvPr id="18" name="Image 1" descr="preencoded.png">    </p:cNvPr>
          <p:cNvPicPr>
            <a:picLocks noChangeAspect="1"/>
          </p:cNvPicPr>
          <p:nvPr/>
        </p:nvPicPr>
        <p:blipFill>
          <a:blip r:embed="rId2"/>
          <a:stretch>
            <a:fillRect/>
          </a:stretch>
        </p:blipFill>
        <p:spPr>
          <a:xfrm>
            <a:off x="6263640" y="1783080"/>
            <a:ext cx="457200" cy="457200"/>
          </a:xfrm>
          <a:prstGeom prst="rect">
            <a:avLst/>
          </a:prstGeom>
        </p:spPr>
      </p:pic>
      <p:sp>
        <p:nvSpPr>
          <p:cNvPr id="19" name="Text 14"/>
          <p:cNvSpPr txBox="1"/>
          <p:nvPr/>
        </p:nvSpPr>
        <p:spPr>
          <a:xfrm>
            <a:off x="6903720" y="1783080"/>
            <a:ext cx="457200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Needs the paid license</a:t>
            </a:r>
            <a:endParaRPr lang="en-US" sz="2200" dirty="0"/>
          </a:p>
        </p:txBody>
      </p:sp>
      <p:sp>
        <p:nvSpPr>
          <p:cNvPr id="20" name="Divider line"/>
          <p:cNvSpPr/>
          <p:nvPr/>
        </p:nvSpPr>
        <p:spPr>
          <a:xfrm>
            <a:off x="6263640" y="2468880"/>
            <a:ext cx="5349240" cy="0"/>
          </a:xfrm>
          <a:prstGeom prst="line">
            <a:avLst/>
          </a:prstGeom>
          <a:noFill/>
          <a:ln w="12700">
            <a:solidFill>
              <a:srgbClr val="E0E0E0"/>
            </a:solidFill>
            <a:prstDash val="solid"/>
          </a:ln>
        </p:spPr>
      </p:sp>
      <p:sp>
        <p:nvSpPr>
          <p:cNvPr id="21" name="Text 16"/>
          <p:cNvSpPr txBox="1"/>
          <p:nvPr/>
        </p:nvSpPr>
        <p:spPr>
          <a:xfrm>
            <a:off x="6263640" y="2606040"/>
            <a:ext cx="5349240" cy="548640"/>
          </a:xfrm>
          <a:prstGeom prst="rect">
            <a:avLst/>
          </a:prstGeom>
          <a:noFill/>
          <a:ln/>
        </p:spPr>
        <p:txBody>
          <a:bodyPr wrap="square" lIns="0" tIns="0" rIns="0" bIns="0" rtlCol="0" anchor="t"/>
          <a:lstStyle/>
          <a:p>
            <a:pPr indent="0" marL="0">
              <a:buNone/>
            </a:pPr>
            <a:r>
              <a:rPr lang="en-US" sz="1800" dirty="0">
                <a:solidFill>
                  <a:schemeClr val="tx1"/>
                </a:solidFill>
              </a:rPr>
              <a:t>Researcher and Analyst</a:t>
            </a:r>
            <a:endParaRPr lang="en-US" sz="1800" dirty="0"/>
          </a:p>
        </p:txBody>
      </p:sp>
      <p:sp>
        <p:nvSpPr>
          <p:cNvPr id="22" name="Divider line"/>
          <p:cNvSpPr/>
          <p:nvPr/>
        </p:nvSpPr>
        <p:spPr>
          <a:xfrm>
            <a:off x="6263640" y="3182112"/>
            <a:ext cx="5349240" cy="0"/>
          </a:xfrm>
          <a:prstGeom prst="line">
            <a:avLst/>
          </a:prstGeom>
          <a:noFill/>
          <a:ln w="12700">
            <a:solidFill>
              <a:srgbClr val="E0E0E0"/>
            </a:solidFill>
            <a:prstDash val="solid"/>
          </a:ln>
        </p:spPr>
      </p:sp>
      <p:sp>
        <p:nvSpPr>
          <p:cNvPr id="23" name="Text 18"/>
          <p:cNvSpPr txBox="1"/>
          <p:nvPr/>
        </p:nvSpPr>
        <p:spPr>
          <a:xfrm>
            <a:off x="6263640" y="3227832"/>
            <a:ext cx="5349240" cy="548640"/>
          </a:xfrm>
          <a:prstGeom prst="rect">
            <a:avLst/>
          </a:prstGeom>
          <a:noFill/>
          <a:ln/>
        </p:spPr>
        <p:txBody>
          <a:bodyPr wrap="square" lIns="0" tIns="0" rIns="0" bIns="0" rtlCol="0" anchor="t"/>
          <a:lstStyle/>
          <a:p>
            <a:pPr indent="0" marL="0">
              <a:buNone/>
            </a:pPr>
            <a:r>
              <a:rPr lang="en-US" sz="1800" dirty="0">
                <a:solidFill>
                  <a:schemeClr val="tx1"/>
                </a:solidFill>
              </a:rPr>
              <a:t>Cowork</a:t>
            </a:r>
            <a:endParaRPr lang="en-US" sz="1800" dirty="0"/>
          </a:p>
        </p:txBody>
      </p:sp>
      <p:sp>
        <p:nvSpPr>
          <p:cNvPr id="24" name="Divider line"/>
          <p:cNvSpPr/>
          <p:nvPr/>
        </p:nvSpPr>
        <p:spPr>
          <a:xfrm>
            <a:off x="6263640" y="3803904"/>
            <a:ext cx="5349240" cy="0"/>
          </a:xfrm>
          <a:prstGeom prst="line">
            <a:avLst/>
          </a:prstGeom>
          <a:noFill/>
          <a:ln w="12700">
            <a:solidFill>
              <a:srgbClr val="E0E0E0"/>
            </a:solidFill>
            <a:prstDash val="solid"/>
          </a:ln>
        </p:spPr>
      </p:sp>
      <p:sp>
        <p:nvSpPr>
          <p:cNvPr id="25" name="Text 20"/>
          <p:cNvSpPr txBox="1"/>
          <p:nvPr/>
        </p:nvSpPr>
        <p:spPr>
          <a:xfrm>
            <a:off x="6263640" y="3849624"/>
            <a:ext cx="5349240" cy="548640"/>
          </a:xfrm>
          <a:prstGeom prst="rect">
            <a:avLst/>
          </a:prstGeom>
          <a:noFill/>
          <a:ln/>
        </p:spPr>
        <p:txBody>
          <a:bodyPr wrap="square" lIns="0" tIns="0" rIns="0" bIns="0" rtlCol="0" anchor="t"/>
          <a:lstStyle/>
          <a:p>
            <a:pPr indent="0" marL="0">
              <a:buNone/>
            </a:pPr>
            <a:r>
              <a:rPr lang="en-US" sz="1800" dirty="0">
                <a:solidFill>
                  <a:schemeClr val="tx1"/>
                </a:solidFill>
              </a:rPr>
              <a:t>Searching work files, Teams chats and meetings</a:t>
            </a:r>
            <a:endParaRPr lang="en-US" sz="1800" dirty="0"/>
          </a:p>
        </p:txBody>
      </p:sp>
      <p:sp>
        <p:nvSpPr>
          <p:cNvPr id="26" name="Divider line"/>
          <p:cNvSpPr/>
          <p:nvPr/>
        </p:nvSpPr>
        <p:spPr>
          <a:xfrm>
            <a:off x="6263640" y="4425696"/>
            <a:ext cx="5349240" cy="0"/>
          </a:xfrm>
          <a:prstGeom prst="line">
            <a:avLst/>
          </a:prstGeom>
          <a:noFill/>
          <a:ln w="12700">
            <a:solidFill>
              <a:srgbClr val="E0E0E0"/>
            </a:solidFill>
            <a:prstDash val="solid"/>
          </a:ln>
        </p:spPr>
      </p:sp>
      <p:sp>
        <p:nvSpPr>
          <p:cNvPr id="27" name="Text 22"/>
          <p:cNvSpPr txBox="1"/>
          <p:nvPr/>
        </p:nvSpPr>
        <p:spPr>
          <a:xfrm>
            <a:off x="6263640" y="4471416"/>
            <a:ext cx="5349240" cy="548640"/>
          </a:xfrm>
          <a:prstGeom prst="rect">
            <a:avLst/>
          </a:prstGeom>
          <a:noFill/>
          <a:ln/>
        </p:spPr>
        <p:txBody>
          <a:bodyPr wrap="square" lIns="0" tIns="0" rIns="0" bIns="0" rtlCol="0" anchor="t"/>
          <a:lstStyle/>
          <a:p>
            <a:pPr indent="0" marL="0">
              <a:buNone/>
            </a:pPr>
            <a:r>
              <a:rPr lang="en-US" sz="1800" dirty="0">
                <a:solidFill>
                  <a:schemeClr val="tx1"/>
                </a:solidFill>
              </a:rPr>
              <a:t>Agents with SharePoint or file knowledge</a:t>
            </a:r>
            <a:endParaRPr lang="en-US" sz="1800" dirty="0"/>
          </a:p>
        </p:txBody>
      </p:sp>
      <p:sp>
        <p:nvSpPr>
          <p:cNvPr id="28" name="Divider line"/>
          <p:cNvSpPr/>
          <p:nvPr/>
        </p:nvSpPr>
        <p:spPr>
          <a:xfrm>
            <a:off x="6263640" y="5047488"/>
            <a:ext cx="5349240" cy="0"/>
          </a:xfrm>
          <a:prstGeom prst="line">
            <a:avLst/>
          </a:prstGeom>
          <a:noFill/>
          <a:ln w="12700">
            <a:solidFill>
              <a:srgbClr val="E0E0E0"/>
            </a:solidFill>
            <a:prstDash val="solid"/>
          </a:ln>
        </p:spPr>
      </p:sp>
      <p:sp>
        <p:nvSpPr>
          <p:cNvPr id="29" name="Text 24"/>
          <p:cNvSpPr txBox="1"/>
          <p:nvPr/>
        </p:nvSpPr>
        <p:spPr>
          <a:xfrm>
            <a:off x="6263640" y="5093208"/>
            <a:ext cx="5349240" cy="548640"/>
          </a:xfrm>
          <a:prstGeom prst="rect">
            <a:avLst/>
          </a:prstGeom>
          <a:noFill/>
          <a:ln/>
        </p:spPr>
        <p:txBody>
          <a:bodyPr wrap="square" lIns="0" tIns="0" rIns="0" bIns="0" rtlCol="0" anchor="t"/>
          <a:lstStyle/>
          <a:p>
            <a:pPr indent="0" marL="0">
              <a:buNone/>
            </a:pPr>
            <a:r>
              <a:rPr lang="en-US" sz="1800" dirty="0">
                <a:solidFill>
                  <a:schemeClr val="tx1"/>
                </a:solidFill>
              </a:rPr>
              <a:t>Custom skills, voice, priority access</a:t>
            </a:r>
            <a:endParaRPr lang="en-US" sz="1800" dirty="0"/>
          </a:p>
        </p:txBody>
      </p:sp>
      <p:sp>
        <p:nvSpPr>
          <p:cNvPr id="30" name="Divider line"/>
          <p:cNvSpPr/>
          <p:nvPr/>
        </p:nvSpPr>
        <p:spPr>
          <a:xfrm>
            <a:off x="6263640" y="5669280"/>
            <a:ext cx="5349240" cy="0"/>
          </a:xfrm>
          <a:prstGeom prst="line">
            <a:avLst/>
          </a:prstGeom>
          <a:noFill/>
          <a:ln w="12700">
            <a:solidFill>
              <a:srgbClr val="E0E0E0"/>
            </a:solidFill>
            <a:prstDash val="solid"/>
          </a:ln>
        </p:spPr>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01</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Find your label and check the shield</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Find your Copilot label under your name, bottom left</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1.3</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Point at the green shield and read the tooltip</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1.5</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Run your first safe prompt, about enterprise data protection</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1.5</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Find the small grey source labels and the Sources button</a:t>
            </a:r>
            <a:endParaRPr lang="en-US" sz="1600" dirty="0"/>
          </a:p>
        </p:txBody>
      </p:sp>
      <p:sp>
        <p:nvSpPr>
          <p:cNvPr id="13"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4"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5" name="Text 11"/>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6" name="Text 12"/>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 know your label, you can see the green shield, and Copilot has answered your first prompt with sources.</a:t>
            </a:r>
            <a:endParaRPr lang="en-US" sz="1600" dirty="0"/>
          </a:p>
        </p:txBody>
      </p:sp>
      <p:sp>
        <p:nvSpPr>
          <p:cNvPr id="17" name="Divider line"/>
          <p:cNvSpPr/>
          <p:nvPr/>
        </p:nvSpPr>
        <p:spPr>
          <a:xfrm>
            <a:off x="7909560" y="4983480"/>
            <a:ext cx="3429000" cy="0"/>
          </a:xfrm>
          <a:prstGeom prst="line">
            <a:avLst/>
          </a:prstGeom>
          <a:noFill/>
          <a:ln w="12700">
            <a:solidFill>
              <a:srgbClr val="E0E0E0"/>
            </a:solidFill>
            <a:prstDash val="solid"/>
          </a:ln>
        </p:spPr>
      </p:sp>
      <p:sp>
        <p:nvSpPr>
          <p:cNvPr id="18" name="Text 14"/>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01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02</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Find your way around</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Explore  |  30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named chat about laptop quotations that you can find again, and a copied answer you can share.</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02</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Four ways in, one Copilot Chat</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Copilot app</a:t>
            </a:r>
            <a:endParaRPr lang="en-US" sz="20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m365.cloud.microsoft/chat. The main path for today.</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Edge sidebar</a:t>
            </a:r>
            <a:endParaRPr lang="en-US" sz="20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Reads the web page you have open.</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Teams</a:t>
            </a:r>
            <a:endParaRPr lang="en-US" sz="20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Copilot in the left app rail. Same chat, same shield.</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Outlook</a:t>
            </a:r>
            <a:endParaRPr lang="en-US" sz="20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Summarise and draft about the open email. Chapter 5.</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02</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The message box and your chats</a:t>
            </a:r>
            <a:endParaRPr lang="en-US" sz="3200" dirty="0"/>
          </a:p>
        </p:txBody>
      </p:sp>
      <p:pic>
        <p:nvPicPr>
          <p:cNvPr id="5" name="Image 0" descr="_design/deck/bg/panel.jpg">    </p:cNvPr>
          <p:cNvPicPr>
            <a:picLocks noChangeAspect="1"/>
          </p:cNvPicPr>
          <p:nvPr/>
        </p:nvPicPr>
        <p:blipFill>
          <a:blip r:embed="rId1"/>
          <a:srcRect l="0" r="0" t="0" b="0"/>
          <a:stretch/>
        </p:blipFill>
        <p:spPr>
          <a:xfrm>
            <a:off x="548640" y="1783080"/>
            <a:ext cx="6949440" cy="3909060"/>
          </a:xfrm>
          <a:prstGeom prst="rect">
            <a:avLst/>
          </a:prstGeom>
        </p:spPr>
      </p:pic>
      <p:sp>
        <p:nvSpPr>
          <p:cNvPr id="6" name="Screenshot frame"/>
          <p:cNvSpPr/>
          <p:nvPr/>
        </p:nvSpPr>
        <p:spPr>
          <a:xfrm>
            <a:off x="804672" y="1927098"/>
            <a:ext cx="6437376" cy="3621024"/>
          </a:xfrm>
          <a:prstGeom prst="rect">
            <a:avLst/>
          </a:prstGeom>
          <a:solidFill>
            <a:schemeClr val="bg1"/>
          </a:solidFill>
          <a:ln w="9525">
            <a:solidFill>
              <a:srgbClr val="E0E0E0"/>
            </a:solidFill>
            <a:prstDash val="solid"/>
          </a:ln>
          <a:effectLst>
            <a:outerShdw sx="100000" sy="100000" kx="0" ky="0" algn="bl" rotWithShape="0" blurRad="203200" dist="50800" dir="5400000">
              <a:srgbClr val="1B2A4A">
                <a:alpha val="25000"/>
              </a:srgbClr>
            </a:outerShdw>
          </a:effectLst>
        </p:spPr>
      </p:sp>
      <p:pic>
        <p:nvPicPr>
          <p:cNvPr id="7" name="Image 1" descr="The message box with the add button and Send highlighted, and Auto in the top bar">    </p:cNvPr>
          <p:cNvPicPr>
            <a:picLocks noChangeAspect="1"/>
          </p:cNvPicPr>
          <p:nvPr/>
        </p:nvPicPr>
        <p:blipFill>
          <a:blip r:embed="rId2"/>
          <a:stretch>
            <a:fillRect/>
          </a:stretch>
        </p:blipFill>
        <p:spPr>
          <a:xfrm>
            <a:off x="804672" y="1927098"/>
            <a:ext cx="6437376" cy="3621024"/>
          </a:xfrm>
          <a:prstGeom prst="rect">
            <a:avLst/>
          </a:prstGeom>
        </p:spPr>
      </p:pic>
      <p:sp>
        <p:nvSpPr>
          <p:cNvPr id="8" name="Text 3"/>
          <p:cNvSpPr txBox="1"/>
          <p:nvPr/>
        </p:nvSpPr>
        <p:spPr>
          <a:xfrm>
            <a:off x="7909560" y="1783080"/>
            <a:ext cx="3749040" cy="73152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Add (+)</a:t>
            </a:r>
            <a:endParaRPr lang="en-US" sz="1600" dirty="0"/>
          </a:p>
          <a:p>
            <a:pPr indent="0" marL="0">
              <a:buNone/>
            </a:pPr>
            <a:r>
              <a:rPr lang="en-US" sz="1600" dirty="0">
                <a:solidFill>
                  <a:schemeClr val="accent4"/>
                </a:solidFill>
              </a:rPr>
              <a:t>Upload files and images</a:t>
            </a:r>
            <a:endParaRPr lang="en-US" sz="1600" dirty="0"/>
          </a:p>
        </p:txBody>
      </p:sp>
      <p:sp>
        <p:nvSpPr>
          <p:cNvPr id="9" name="Text 4"/>
          <p:cNvSpPr txBox="1"/>
          <p:nvPr/>
        </p:nvSpPr>
        <p:spPr>
          <a:xfrm>
            <a:off x="7909560" y="2569464"/>
            <a:ext cx="3749040" cy="73152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Prompt Gallery</a:t>
            </a:r>
            <a:endParaRPr lang="en-US" sz="1600" dirty="0"/>
          </a:p>
          <a:p>
            <a:pPr indent="0" marL="0">
              <a:buNone/>
            </a:pPr>
            <a:r>
              <a:rPr lang="en-US" sz="1600" dirty="0">
                <a:solidFill>
                  <a:schemeClr val="accent4"/>
                </a:solidFill>
              </a:rPr>
              <a:t>Ready-made and saved prompts</a:t>
            </a:r>
            <a:endParaRPr lang="en-US" sz="1600" dirty="0"/>
          </a:p>
        </p:txBody>
      </p:sp>
      <p:sp>
        <p:nvSpPr>
          <p:cNvPr id="10" name="Text 5"/>
          <p:cNvSpPr txBox="1"/>
          <p:nvPr/>
        </p:nvSpPr>
        <p:spPr>
          <a:xfrm>
            <a:off x="7909560" y="3355848"/>
            <a:ext cx="3749040" cy="73152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Auto</a:t>
            </a:r>
            <a:endParaRPr lang="en-US" sz="1600" dirty="0"/>
          </a:p>
          <a:p>
            <a:pPr indent="0" marL="0">
              <a:buNone/>
            </a:pPr>
            <a:r>
              <a:rPr lang="en-US" sz="1600" dirty="0">
                <a:solidFill>
                  <a:schemeClr val="accent4"/>
                </a:solidFill>
              </a:rPr>
              <a:t>Response mode, in the top bar</a:t>
            </a:r>
            <a:endParaRPr lang="en-US" sz="1600" dirty="0"/>
          </a:p>
        </p:txBody>
      </p:sp>
      <p:sp>
        <p:nvSpPr>
          <p:cNvPr id="11" name="Text 6"/>
          <p:cNvSpPr txBox="1"/>
          <p:nvPr/>
        </p:nvSpPr>
        <p:spPr>
          <a:xfrm>
            <a:off x="7909560" y="4142232"/>
            <a:ext cx="3749040" cy="73152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Chat menu</a:t>
            </a:r>
            <a:endParaRPr lang="en-US" sz="1600" dirty="0"/>
          </a:p>
          <a:p>
            <a:pPr indent="0" marL="0">
              <a:buNone/>
            </a:pPr>
            <a:r>
              <a:rPr lang="en-US" sz="1600" dirty="0">
                <a:solidFill>
                  <a:schemeClr val="accent4"/>
                </a:solidFill>
              </a:rPr>
              <a:t>Rename, Move to notebook, Delete</a:t>
            </a:r>
            <a:endParaRPr lang="en-US" sz="1600" dirty="0"/>
          </a:p>
        </p:txBody>
      </p:sp>
      <p:sp>
        <p:nvSpPr>
          <p:cNvPr id="12" name="Text 7"/>
          <p:cNvSpPr txBox="1"/>
          <p:nvPr/>
        </p:nvSpPr>
        <p:spPr>
          <a:xfrm>
            <a:off x="7909560" y="4928616"/>
            <a:ext cx="3749040" cy="73152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Copy</a:t>
            </a:r>
            <a:endParaRPr lang="en-US" sz="1600" dirty="0"/>
          </a:p>
          <a:p>
            <a:pPr indent="0" marL="0">
              <a:buNone/>
            </a:pPr>
            <a:r>
              <a:rPr lang="en-US" sz="1600" dirty="0">
                <a:solidFill>
                  <a:schemeClr val="accent4"/>
                </a:solidFill>
              </a:rPr>
              <a:t>The main way to share an answer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02</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Run your first prompt and keep the chat</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Open the Copilot app and find New chat, Library and Agents</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2.4</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Ask for a checklist to review a laptop quotation</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2.5</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Rename the chat: Laptop purchase - quotation checklist</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2.6</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Copy one of Copilot's answers to share it</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2.7</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Windows app only: try the screenshot tool</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 can find the Laptop purchase - quotation checklist chat again from the left pane.</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02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03</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Write better prompts</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Ask  |  45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laptop requirements ready to send to vendors, a saved prompt, and your own custom instructions.</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03</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GCSE: the four parts of a good prompt</a:t>
            </a:r>
            <a:endParaRPr lang="en-US" sz="3200" dirty="0"/>
          </a:p>
        </p:txBody>
      </p:sp>
      <p:sp>
        <p:nvSpPr>
          <p:cNvPr id="5" name="Text 2"/>
          <p:cNvSpPr txBox="1"/>
          <p:nvPr/>
        </p:nvSpPr>
        <p:spPr>
          <a:xfrm>
            <a:off x="548640" y="1691640"/>
            <a:ext cx="914400" cy="914400"/>
          </a:xfrm>
          <a:prstGeom prst="rect">
            <a:avLst/>
          </a:prstGeom>
          <a:noFill/>
          <a:ln/>
        </p:spPr>
        <p:txBody>
          <a:bodyPr wrap="square" lIns="0" tIns="0" rIns="0" bIns="0" rtlCol="0" anchor="t"/>
          <a:lstStyle/>
          <a:p>
            <a:pPr indent="0" marL="0">
              <a:buNone/>
            </a:pPr>
            <a:r>
              <a:rPr lang="en-US" sz="6000" dirty="0">
                <a:solidFill>
                  <a:schemeClr val="accent1"/>
                </a:solidFill>
                <a:latin typeface="Segoe UI Light" pitchFamily="34" charset="0"/>
                <a:ea typeface="Segoe UI Light" pitchFamily="34" charset="-122"/>
                <a:cs typeface="Segoe UI Light" pitchFamily="34" charset="-120"/>
              </a:rPr>
              <a:t>G</a:t>
            </a:r>
            <a:endParaRPr lang="en-US" sz="6000" dirty="0"/>
          </a:p>
        </p:txBody>
      </p:sp>
      <p:sp>
        <p:nvSpPr>
          <p:cNvPr id="6" name="Text 3"/>
          <p:cNvSpPr txBox="1"/>
          <p:nvPr/>
        </p:nvSpPr>
        <p:spPr>
          <a:xfrm>
            <a:off x="548640" y="2697480"/>
            <a:ext cx="256032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Goal</a:t>
            </a:r>
            <a:endParaRPr lang="en-US" sz="2200" dirty="0"/>
          </a:p>
        </p:txBody>
      </p:sp>
      <p:sp>
        <p:nvSpPr>
          <p:cNvPr id="7" name="Text 4"/>
          <p:cNvSpPr txBox="1"/>
          <p:nvPr/>
        </p:nvSpPr>
        <p:spPr>
          <a:xfrm>
            <a:off x="548640" y="3200400"/>
            <a:ext cx="2514600" cy="822960"/>
          </a:xfrm>
          <a:prstGeom prst="rect">
            <a:avLst/>
          </a:prstGeom>
          <a:noFill/>
          <a:ln/>
        </p:spPr>
        <p:txBody>
          <a:bodyPr wrap="square" lIns="0" tIns="0" rIns="0" bIns="0" rtlCol="0" anchor="t"/>
          <a:lstStyle/>
          <a:p>
            <a:pPr indent="0" marL="0">
              <a:buNone/>
            </a:pPr>
            <a:r>
              <a:rPr lang="en-US" sz="1600" dirty="0">
                <a:solidFill>
                  <a:schemeClr val="tx1"/>
                </a:solidFill>
              </a:rPr>
              <a:t>What do you want Copilot to do?</a:t>
            </a:r>
            <a:endParaRPr lang="en-US" sz="1600" dirty="0"/>
          </a:p>
        </p:txBody>
      </p:sp>
      <p:sp>
        <p:nvSpPr>
          <p:cNvPr id="8" name="Divider line"/>
          <p:cNvSpPr/>
          <p:nvPr/>
        </p:nvSpPr>
        <p:spPr>
          <a:xfrm>
            <a:off x="548640" y="4114800"/>
            <a:ext cx="2560320" cy="0"/>
          </a:xfrm>
          <a:prstGeom prst="line">
            <a:avLst/>
          </a:prstGeom>
          <a:noFill/>
          <a:ln w="12700">
            <a:solidFill>
              <a:srgbClr val="E0E0E0"/>
            </a:solidFill>
            <a:prstDash val="solid"/>
          </a:ln>
        </p:spPr>
      </p:sp>
      <p:sp>
        <p:nvSpPr>
          <p:cNvPr id="9" name="Text 6"/>
          <p:cNvSpPr txBox="1"/>
          <p:nvPr/>
        </p:nvSpPr>
        <p:spPr>
          <a:xfrm>
            <a:off x="548640" y="4251960"/>
            <a:ext cx="2514600" cy="1371600"/>
          </a:xfrm>
          <a:prstGeom prst="rect">
            <a:avLst/>
          </a:prstGeom>
          <a:noFill/>
          <a:ln/>
        </p:spPr>
        <p:txBody>
          <a:bodyPr wrap="square" lIns="0" tIns="0" rIns="0" bIns="0" rtlCol="0" anchor="t"/>
          <a:lstStyle/>
          <a:p>
            <a:pPr indent="0" marL="0">
              <a:buNone/>
            </a:pPr>
            <a:r>
              <a:rPr lang="en-US" sz="1500" i="1" dirty="0">
                <a:solidFill>
                  <a:schemeClr val="accent4"/>
                </a:solidFill>
              </a:rPr>
              <a:t>"Draft the requirements for a laptop quotation request"</a:t>
            </a:r>
            <a:endParaRPr lang="en-US" sz="1500" dirty="0"/>
          </a:p>
        </p:txBody>
      </p:sp>
      <p:sp>
        <p:nvSpPr>
          <p:cNvPr id="10" name="Text 7"/>
          <p:cNvSpPr txBox="1"/>
          <p:nvPr/>
        </p:nvSpPr>
        <p:spPr>
          <a:xfrm>
            <a:off x="3383280" y="1691640"/>
            <a:ext cx="914400" cy="914400"/>
          </a:xfrm>
          <a:prstGeom prst="rect">
            <a:avLst/>
          </a:prstGeom>
          <a:noFill/>
          <a:ln/>
        </p:spPr>
        <p:txBody>
          <a:bodyPr wrap="square" lIns="0" tIns="0" rIns="0" bIns="0" rtlCol="0" anchor="t"/>
          <a:lstStyle/>
          <a:p>
            <a:pPr indent="0" marL="0">
              <a:buNone/>
            </a:pPr>
            <a:r>
              <a:rPr lang="en-US" sz="6000" dirty="0">
                <a:solidFill>
                  <a:schemeClr val="accent1"/>
                </a:solidFill>
                <a:latin typeface="Segoe UI Light" pitchFamily="34" charset="0"/>
                <a:ea typeface="Segoe UI Light" pitchFamily="34" charset="-122"/>
                <a:cs typeface="Segoe UI Light" pitchFamily="34" charset="-120"/>
              </a:rPr>
              <a:t>C</a:t>
            </a:r>
            <a:endParaRPr lang="en-US" sz="6000" dirty="0"/>
          </a:p>
        </p:txBody>
      </p:sp>
      <p:sp>
        <p:nvSpPr>
          <p:cNvPr id="11" name="Text 8"/>
          <p:cNvSpPr txBox="1"/>
          <p:nvPr/>
        </p:nvSpPr>
        <p:spPr>
          <a:xfrm>
            <a:off x="3383280" y="2697480"/>
            <a:ext cx="256032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Context</a:t>
            </a:r>
            <a:endParaRPr lang="en-US" sz="2200" dirty="0"/>
          </a:p>
        </p:txBody>
      </p:sp>
      <p:sp>
        <p:nvSpPr>
          <p:cNvPr id="12" name="Text 9"/>
          <p:cNvSpPr txBox="1"/>
          <p:nvPr/>
        </p:nvSpPr>
        <p:spPr>
          <a:xfrm>
            <a:off x="3383280" y="3200400"/>
            <a:ext cx="2514600" cy="822960"/>
          </a:xfrm>
          <a:prstGeom prst="rect">
            <a:avLst/>
          </a:prstGeom>
          <a:noFill/>
          <a:ln/>
        </p:spPr>
        <p:txBody>
          <a:bodyPr wrap="square" lIns="0" tIns="0" rIns="0" bIns="0" rtlCol="0" anchor="t"/>
          <a:lstStyle/>
          <a:p>
            <a:pPr indent="0" marL="0">
              <a:buNone/>
            </a:pPr>
            <a:r>
              <a:rPr lang="en-US" sz="1600" dirty="0">
                <a:solidFill>
                  <a:schemeClr val="tx1"/>
                </a:solidFill>
              </a:rPr>
              <a:t>Who are you, and what's the situation?</a:t>
            </a:r>
            <a:endParaRPr lang="en-US" sz="1600" dirty="0"/>
          </a:p>
        </p:txBody>
      </p:sp>
      <p:sp>
        <p:nvSpPr>
          <p:cNvPr id="13" name="Divider line"/>
          <p:cNvSpPr/>
          <p:nvPr/>
        </p:nvSpPr>
        <p:spPr>
          <a:xfrm>
            <a:off x="3383280" y="4114800"/>
            <a:ext cx="2560320" cy="0"/>
          </a:xfrm>
          <a:prstGeom prst="line">
            <a:avLst/>
          </a:prstGeom>
          <a:noFill/>
          <a:ln w="12700">
            <a:solidFill>
              <a:srgbClr val="E0E0E0"/>
            </a:solidFill>
            <a:prstDash val="solid"/>
          </a:ln>
        </p:spPr>
      </p:sp>
      <p:sp>
        <p:nvSpPr>
          <p:cNvPr id="14" name="Text 11"/>
          <p:cNvSpPr txBox="1"/>
          <p:nvPr/>
        </p:nvSpPr>
        <p:spPr>
          <a:xfrm>
            <a:off x="3383280" y="4251960"/>
            <a:ext cx="2514600" cy="1371600"/>
          </a:xfrm>
          <a:prstGeom prst="rect">
            <a:avLst/>
          </a:prstGeom>
          <a:noFill/>
          <a:ln/>
        </p:spPr>
        <p:txBody>
          <a:bodyPr wrap="square" lIns="0" tIns="0" rIns="0" bIns="0" rtlCol="0" anchor="t"/>
          <a:lstStyle/>
          <a:p>
            <a:pPr indent="0" marL="0">
              <a:buNone/>
            </a:pPr>
            <a:r>
              <a:rPr lang="en-US" sz="1500" i="1" dirty="0">
                <a:solidFill>
                  <a:schemeClr val="accent4"/>
                </a:solidFill>
              </a:rPr>
              <a:t>"For 25 new hires in Admin and Facilities, at a Malaysian company"</a:t>
            </a:r>
            <a:endParaRPr lang="en-US" sz="1500" dirty="0"/>
          </a:p>
        </p:txBody>
      </p:sp>
      <p:sp>
        <p:nvSpPr>
          <p:cNvPr id="15" name="Text 12"/>
          <p:cNvSpPr txBox="1"/>
          <p:nvPr/>
        </p:nvSpPr>
        <p:spPr>
          <a:xfrm>
            <a:off x="6217920" y="1691640"/>
            <a:ext cx="914400" cy="914400"/>
          </a:xfrm>
          <a:prstGeom prst="rect">
            <a:avLst/>
          </a:prstGeom>
          <a:noFill/>
          <a:ln/>
        </p:spPr>
        <p:txBody>
          <a:bodyPr wrap="square" lIns="0" tIns="0" rIns="0" bIns="0" rtlCol="0" anchor="t"/>
          <a:lstStyle/>
          <a:p>
            <a:pPr indent="0" marL="0">
              <a:buNone/>
            </a:pPr>
            <a:r>
              <a:rPr lang="en-US" sz="6000" dirty="0">
                <a:solidFill>
                  <a:schemeClr val="accent1"/>
                </a:solidFill>
                <a:latin typeface="Segoe UI Light" pitchFamily="34" charset="0"/>
                <a:ea typeface="Segoe UI Light" pitchFamily="34" charset="-122"/>
                <a:cs typeface="Segoe UI Light" pitchFamily="34" charset="-120"/>
              </a:rPr>
              <a:t>S</a:t>
            </a:r>
            <a:endParaRPr lang="en-US" sz="6000" dirty="0"/>
          </a:p>
        </p:txBody>
      </p:sp>
      <p:sp>
        <p:nvSpPr>
          <p:cNvPr id="16" name="Text 13"/>
          <p:cNvSpPr txBox="1"/>
          <p:nvPr/>
        </p:nvSpPr>
        <p:spPr>
          <a:xfrm>
            <a:off x="6217920" y="2697480"/>
            <a:ext cx="256032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Source</a:t>
            </a:r>
            <a:endParaRPr lang="en-US" sz="2200" dirty="0"/>
          </a:p>
        </p:txBody>
      </p:sp>
      <p:sp>
        <p:nvSpPr>
          <p:cNvPr id="17" name="Text 14"/>
          <p:cNvSpPr txBox="1"/>
          <p:nvPr/>
        </p:nvSpPr>
        <p:spPr>
          <a:xfrm>
            <a:off x="6217920" y="3200400"/>
            <a:ext cx="2514600" cy="822960"/>
          </a:xfrm>
          <a:prstGeom prst="rect">
            <a:avLst/>
          </a:prstGeom>
          <a:noFill/>
          <a:ln/>
        </p:spPr>
        <p:txBody>
          <a:bodyPr wrap="square" lIns="0" tIns="0" rIns="0" bIns="0" rtlCol="0" anchor="t"/>
          <a:lstStyle/>
          <a:p>
            <a:pPr indent="0" marL="0">
              <a:buNone/>
            </a:pPr>
            <a:r>
              <a:rPr lang="en-US" sz="1600" dirty="0">
                <a:solidFill>
                  <a:schemeClr val="tx1"/>
                </a:solidFill>
              </a:rPr>
              <a:t>What should Copilot use?</a:t>
            </a:r>
            <a:endParaRPr lang="en-US" sz="1600" dirty="0"/>
          </a:p>
        </p:txBody>
      </p:sp>
      <p:sp>
        <p:nvSpPr>
          <p:cNvPr id="18" name="Divider line"/>
          <p:cNvSpPr/>
          <p:nvPr/>
        </p:nvSpPr>
        <p:spPr>
          <a:xfrm>
            <a:off x="6217920" y="4114800"/>
            <a:ext cx="2560320" cy="0"/>
          </a:xfrm>
          <a:prstGeom prst="line">
            <a:avLst/>
          </a:prstGeom>
          <a:noFill/>
          <a:ln w="12700">
            <a:solidFill>
              <a:srgbClr val="E0E0E0"/>
            </a:solidFill>
            <a:prstDash val="solid"/>
          </a:ln>
        </p:spPr>
      </p:sp>
      <p:sp>
        <p:nvSpPr>
          <p:cNvPr id="19" name="Text 16"/>
          <p:cNvSpPr txBox="1"/>
          <p:nvPr/>
        </p:nvSpPr>
        <p:spPr>
          <a:xfrm>
            <a:off x="6217920" y="4251960"/>
            <a:ext cx="2514600" cy="1371600"/>
          </a:xfrm>
          <a:prstGeom prst="rect">
            <a:avLst/>
          </a:prstGeom>
          <a:noFill/>
          <a:ln/>
        </p:spPr>
        <p:txBody>
          <a:bodyPr wrap="square" lIns="0" tIns="0" rIns="0" bIns="0" rtlCol="0" anchor="t"/>
          <a:lstStyle/>
          <a:p>
            <a:pPr indent="0" marL="0">
              <a:buNone/>
            </a:pPr>
            <a:r>
              <a:rPr lang="en-US" sz="1500" i="1" dirty="0">
                <a:solidFill>
                  <a:schemeClr val="accent4"/>
                </a:solidFill>
              </a:rPr>
              <a:t>"Current business laptop guidance from reputable sources"</a:t>
            </a:r>
            <a:endParaRPr lang="en-US" sz="1500" dirty="0"/>
          </a:p>
        </p:txBody>
      </p:sp>
      <p:sp>
        <p:nvSpPr>
          <p:cNvPr id="20" name="Text 17"/>
          <p:cNvSpPr txBox="1"/>
          <p:nvPr/>
        </p:nvSpPr>
        <p:spPr>
          <a:xfrm>
            <a:off x="9052560" y="1691640"/>
            <a:ext cx="914400" cy="914400"/>
          </a:xfrm>
          <a:prstGeom prst="rect">
            <a:avLst/>
          </a:prstGeom>
          <a:noFill/>
          <a:ln/>
        </p:spPr>
        <p:txBody>
          <a:bodyPr wrap="square" lIns="0" tIns="0" rIns="0" bIns="0" rtlCol="0" anchor="t"/>
          <a:lstStyle/>
          <a:p>
            <a:pPr indent="0" marL="0">
              <a:buNone/>
            </a:pPr>
            <a:r>
              <a:rPr lang="en-US" sz="6000" dirty="0">
                <a:solidFill>
                  <a:schemeClr val="accent1"/>
                </a:solidFill>
                <a:latin typeface="Segoe UI Light" pitchFamily="34" charset="0"/>
                <a:ea typeface="Segoe UI Light" pitchFamily="34" charset="-122"/>
                <a:cs typeface="Segoe UI Light" pitchFamily="34" charset="-120"/>
              </a:rPr>
              <a:t>E</a:t>
            </a:r>
            <a:endParaRPr lang="en-US" sz="6000" dirty="0"/>
          </a:p>
        </p:txBody>
      </p:sp>
      <p:sp>
        <p:nvSpPr>
          <p:cNvPr id="21" name="Text 18"/>
          <p:cNvSpPr txBox="1"/>
          <p:nvPr/>
        </p:nvSpPr>
        <p:spPr>
          <a:xfrm>
            <a:off x="9052560" y="2697480"/>
            <a:ext cx="256032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Expectations</a:t>
            </a:r>
            <a:endParaRPr lang="en-US" sz="2200" dirty="0"/>
          </a:p>
        </p:txBody>
      </p:sp>
      <p:sp>
        <p:nvSpPr>
          <p:cNvPr id="22" name="Text 19"/>
          <p:cNvSpPr txBox="1"/>
          <p:nvPr/>
        </p:nvSpPr>
        <p:spPr>
          <a:xfrm>
            <a:off x="9052560" y="3200400"/>
            <a:ext cx="2514600" cy="822960"/>
          </a:xfrm>
          <a:prstGeom prst="rect">
            <a:avLst/>
          </a:prstGeom>
          <a:noFill/>
          <a:ln/>
        </p:spPr>
        <p:txBody>
          <a:bodyPr wrap="square" lIns="0" tIns="0" rIns="0" bIns="0" rtlCol="0" anchor="t"/>
          <a:lstStyle/>
          <a:p>
            <a:pPr indent="0" marL="0">
              <a:buNone/>
            </a:pPr>
            <a:r>
              <a:rPr lang="en-US" sz="1600" dirty="0">
                <a:solidFill>
                  <a:schemeClr val="tx1"/>
                </a:solidFill>
              </a:rPr>
              <a:t>What should the result look like?</a:t>
            </a:r>
            <a:endParaRPr lang="en-US" sz="1600" dirty="0"/>
          </a:p>
        </p:txBody>
      </p:sp>
      <p:sp>
        <p:nvSpPr>
          <p:cNvPr id="23" name="Divider line"/>
          <p:cNvSpPr/>
          <p:nvPr/>
        </p:nvSpPr>
        <p:spPr>
          <a:xfrm>
            <a:off x="9052560" y="4114800"/>
            <a:ext cx="2560320" cy="0"/>
          </a:xfrm>
          <a:prstGeom prst="line">
            <a:avLst/>
          </a:prstGeom>
          <a:noFill/>
          <a:ln w="12700">
            <a:solidFill>
              <a:srgbClr val="E0E0E0"/>
            </a:solidFill>
            <a:prstDash val="solid"/>
          </a:ln>
        </p:spPr>
      </p:sp>
      <p:sp>
        <p:nvSpPr>
          <p:cNvPr id="24" name="Text 21"/>
          <p:cNvSpPr txBox="1"/>
          <p:nvPr/>
        </p:nvSpPr>
        <p:spPr>
          <a:xfrm>
            <a:off x="9052560" y="4251960"/>
            <a:ext cx="2514600" cy="1371600"/>
          </a:xfrm>
          <a:prstGeom prst="rect">
            <a:avLst/>
          </a:prstGeom>
          <a:noFill/>
          <a:ln/>
        </p:spPr>
        <p:txBody>
          <a:bodyPr wrap="square" lIns="0" tIns="0" rIns="0" bIns="0" rtlCol="0" anchor="t"/>
          <a:lstStyle/>
          <a:p>
            <a:pPr indent="0" marL="0">
              <a:buNone/>
            </a:pPr>
            <a:r>
              <a:rPr lang="en-US" sz="1500" i="1" dirty="0">
                <a:solidFill>
                  <a:schemeClr val="accent4"/>
                </a:solidFill>
              </a:rPr>
              <a:t>"A numbered list under 200 words, in plain English"</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731520" y="2011680"/>
            <a:ext cx="10241280" cy="1828800"/>
          </a:xfrm>
          <a:prstGeom prst="rect">
            <a:avLst/>
          </a:prstGeom>
          <a:noFill/>
          <a:ln/>
        </p:spPr>
        <p:txBody>
          <a:bodyPr wrap="square" lIns="0" tIns="0" rIns="0" bIns="0" rtlCol="0" anchor="b"/>
          <a:lstStyle/>
          <a:p>
            <a:pPr algn="l" indent="0" marL="0">
              <a:buNone/>
            </a:pPr>
            <a:r>
              <a:rPr lang="en-US" sz="4000" dirty="0">
                <a:solidFill>
                  <a:schemeClr val="accent1"/>
                </a:solidFill>
              </a:rPr>
              <a:t>A source makes an answer easier to check. It doesn't make it correct.</a:t>
            </a:r>
            <a:endParaRPr lang="en-US" sz="4000" dirty="0"/>
          </a:p>
        </p:txBody>
      </p:sp>
      <p:sp>
        <p:nvSpPr>
          <p:cNvPr id="3" name="Text 0"/>
          <p:cNvSpPr/>
          <p:nvPr>
            <p:ph idx="102" type="body" hasCustomPrompt="1"/>
          </p:nvPr>
        </p:nvSpPr>
        <p:spPr>
          <a:xfrm>
            <a:off x="731520" y="4069080"/>
            <a:ext cx="9601200" cy="914400"/>
          </a:xfrm>
          <a:prstGeom prst="rect">
            <a:avLst/>
          </a:prstGeom>
          <a:noFill/>
          <a:ln/>
        </p:spPr>
        <p:txBody>
          <a:bodyPr wrap="square" lIns="0" tIns="0" rIns="0" bIns="0" rtlCol="0" anchor="t"/>
          <a:lstStyle/>
          <a:p>
            <a:pPr indent="0" marL="0">
              <a:buNone/>
            </a:pPr>
            <a:r>
              <a:rPr lang="en-US" sz="2000" dirty="0">
                <a:solidFill>
                  <a:schemeClr val="accent4"/>
                </a:solidFill>
              </a:rPr>
              <a:t>You're responsible for anything you send to a supplier or your HOD.</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03</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Make Copilot work your way</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34442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Prompt Gallery</a:t>
            </a:r>
            <a:endParaRPr lang="en-US" sz="2000" dirty="0"/>
          </a:p>
        </p:txBody>
      </p:sp>
      <p:sp>
        <p:nvSpPr>
          <p:cNvPr id="7" name="Text 3"/>
          <p:cNvSpPr txBox="1"/>
          <p:nvPr/>
        </p:nvSpPr>
        <p:spPr>
          <a:xfrm>
            <a:off x="548640" y="3566160"/>
            <a:ext cx="3352800" cy="1371600"/>
          </a:xfrm>
          <a:prstGeom prst="rect">
            <a:avLst/>
          </a:prstGeom>
          <a:noFill/>
          <a:ln/>
        </p:spPr>
        <p:txBody>
          <a:bodyPr wrap="square" lIns="0" tIns="0" rIns="0" bIns="0" rtlCol="0" anchor="t"/>
          <a:lstStyle/>
          <a:p>
            <a:pPr indent="0" marL="0">
              <a:buNone/>
            </a:pPr>
            <a:r>
              <a:rPr lang="en-US" sz="1600" dirty="0">
                <a:solidFill>
                  <a:schemeClr val="tx1"/>
                </a:solidFill>
              </a:rPr>
              <a:t>Save a prompt that worked, so you never write it twice.</a:t>
            </a:r>
            <a:endParaRPr lang="en-US" sz="1600" dirty="0"/>
          </a:p>
        </p:txBody>
      </p:sp>
      <p:sp>
        <p:nvSpPr>
          <p:cNvPr id="8" name="Text 4"/>
          <p:cNvSpPr txBox="1"/>
          <p:nvPr/>
        </p:nvSpPr>
        <p:spPr>
          <a:xfrm>
            <a:off x="548640" y="4937760"/>
            <a:ext cx="3352800" cy="5486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Hover a prompt &gt; Save prompt</a:t>
            </a:r>
            <a:endParaRPr lang="en-US" sz="1400" dirty="0"/>
          </a:p>
        </p:txBody>
      </p:sp>
      <p:pic>
        <p:nvPicPr>
          <p:cNvPr id="9" name="Image 1" descr="preencoded.png">    </p:cNvPr>
          <p:cNvPicPr>
            <a:picLocks noChangeAspect="1"/>
          </p:cNvPicPr>
          <p:nvPr/>
        </p:nvPicPr>
        <p:blipFill>
          <a:blip r:embed="rId2"/>
          <a:stretch>
            <a:fillRect/>
          </a:stretch>
        </p:blipFill>
        <p:spPr>
          <a:xfrm>
            <a:off x="4358640" y="2011680"/>
            <a:ext cx="502920" cy="502920"/>
          </a:xfrm>
          <a:prstGeom prst="rect">
            <a:avLst/>
          </a:prstGeom>
        </p:spPr>
      </p:pic>
      <p:sp>
        <p:nvSpPr>
          <p:cNvPr id="10" name="Text 5"/>
          <p:cNvSpPr txBox="1"/>
          <p:nvPr/>
        </p:nvSpPr>
        <p:spPr>
          <a:xfrm>
            <a:off x="4358640" y="2743200"/>
            <a:ext cx="34442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Custom instructions</a:t>
            </a:r>
            <a:endParaRPr lang="en-US" sz="2000" dirty="0"/>
          </a:p>
        </p:txBody>
      </p:sp>
      <p:sp>
        <p:nvSpPr>
          <p:cNvPr id="11" name="Text 6"/>
          <p:cNvSpPr txBox="1"/>
          <p:nvPr/>
        </p:nvSpPr>
        <p:spPr>
          <a:xfrm>
            <a:off x="4358640" y="3566160"/>
            <a:ext cx="3352800" cy="1371600"/>
          </a:xfrm>
          <a:prstGeom prst="rect">
            <a:avLst/>
          </a:prstGeom>
          <a:noFill/>
          <a:ln/>
        </p:spPr>
        <p:txBody>
          <a:bodyPr wrap="square" lIns="0" tIns="0" rIns="0" bIns="0" rtlCol="0" anchor="t"/>
          <a:lstStyle/>
          <a:p>
            <a:pPr indent="0" marL="0">
              <a:buNone/>
            </a:pPr>
            <a:r>
              <a:rPr lang="en-US" sz="1600" dirty="0">
                <a:solidFill>
                  <a:schemeClr val="tx1"/>
                </a:solidFill>
              </a:rPr>
              <a:t>Tell Copilot your role and how you like answers written.</a:t>
            </a:r>
            <a:endParaRPr lang="en-US" sz="1600" dirty="0"/>
          </a:p>
        </p:txBody>
      </p:sp>
      <p:sp>
        <p:nvSpPr>
          <p:cNvPr id="12" name="Text 7"/>
          <p:cNvSpPr txBox="1"/>
          <p:nvPr/>
        </p:nvSpPr>
        <p:spPr>
          <a:xfrm>
            <a:off x="4358640" y="4937760"/>
            <a:ext cx="3352800" cy="5486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Settings &gt; Personalization</a:t>
            </a:r>
            <a:endParaRPr lang="en-US" sz="1400" dirty="0"/>
          </a:p>
        </p:txBody>
      </p:sp>
      <p:pic>
        <p:nvPicPr>
          <p:cNvPr id="13" name="Image 2" descr="preencoded.png">    </p:cNvPr>
          <p:cNvPicPr>
            <a:picLocks noChangeAspect="1"/>
          </p:cNvPicPr>
          <p:nvPr/>
        </p:nvPicPr>
        <p:blipFill>
          <a:blip r:embed="rId3"/>
          <a:stretch>
            <a:fillRect/>
          </a:stretch>
        </p:blipFill>
        <p:spPr>
          <a:xfrm>
            <a:off x="8168640" y="2011680"/>
            <a:ext cx="502920" cy="502920"/>
          </a:xfrm>
          <a:prstGeom prst="rect">
            <a:avLst/>
          </a:prstGeom>
        </p:spPr>
      </p:pic>
      <p:sp>
        <p:nvSpPr>
          <p:cNvPr id="14" name="Text 8"/>
          <p:cNvSpPr txBox="1"/>
          <p:nvPr/>
        </p:nvSpPr>
        <p:spPr>
          <a:xfrm>
            <a:off x="8168640" y="2743200"/>
            <a:ext cx="34442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Memory</a:t>
            </a:r>
            <a:endParaRPr lang="en-US" sz="2000" dirty="0"/>
          </a:p>
        </p:txBody>
      </p:sp>
      <p:sp>
        <p:nvSpPr>
          <p:cNvPr id="15" name="Text 9"/>
          <p:cNvSpPr txBox="1"/>
          <p:nvPr/>
        </p:nvSpPr>
        <p:spPr>
          <a:xfrm>
            <a:off x="8168640" y="3566160"/>
            <a:ext cx="3352800" cy="1371600"/>
          </a:xfrm>
          <a:prstGeom prst="rect">
            <a:avLst/>
          </a:prstGeom>
          <a:noFill/>
          <a:ln/>
        </p:spPr>
        <p:txBody>
          <a:bodyPr wrap="square" lIns="0" tIns="0" rIns="0" bIns="0" rtlCol="0" anchor="t"/>
          <a:lstStyle/>
          <a:p>
            <a:pPr indent="0" marL="0">
              <a:buNone/>
            </a:pPr>
            <a:r>
              <a:rPr lang="en-US" sz="1600" dirty="0">
                <a:solidFill>
                  <a:schemeClr val="tx1"/>
                </a:solidFill>
              </a:rPr>
              <a:t>Copilot remembers preferences across chats. You can delete them.</a:t>
            </a:r>
            <a:endParaRPr lang="en-US" sz="1600" dirty="0"/>
          </a:p>
        </p:txBody>
      </p:sp>
      <p:sp>
        <p:nvSpPr>
          <p:cNvPr id="16" name="Text 10"/>
          <p:cNvSpPr txBox="1"/>
          <p:nvPr/>
        </p:nvSpPr>
        <p:spPr>
          <a:xfrm>
            <a:off x="8168640" y="4937760"/>
            <a:ext cx="3352800" cy="5486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Never budgets, names or passwords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03</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Write the vendor requirements with GCSE</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3.2</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Build the requirements in four prompts, one part at a time</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3.3</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Improve the answer with a follow-up</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3.4</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Open the sources and check one claim</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3.5</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Save your best prompt in Prompt Gallery</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3.6</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Add custom instructions and look at your memories</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Your requirements are a numbered list you'd be happy to send to a vendor, and your prompt is saved.</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03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04</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Compare the quotations</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Compare  |  60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checked comparison table of the three quotations, a list of problems to chase, and a recommendation you can defend.</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04</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Four files, one chat</a:t>
            </a:r>
            <a:endParaRPr lang="en-US" sz="3200" dirty="0"/>
          </a:p>
        </p:txBody>
      </p:sp>
      <p:pic>
        <p:nvPicPr>
          <p:cNvPr id="5" name="Image 0" descr="preencoded.png">    </p:cNvPr>
          <p:cNvPicPr>
            <a:picLocks noChangeAspect="1"/>
          </p:cNvPicPr>
          <p:nvPr/>
        </p:nvPicPr>
        <p:blipFill>
          <a:blip r:embed="rId1"/>
          <a:stretch>
            <a:fillRect/>
          </a:stretch>
        </p:blipFill>
        <p:spPr>
          <a:xfrm>
            <a:off x="548640" y="1783080"/>
            <a:ext cx="502920" cy="502920"/>
          </a:xfrm>
          <a:prstGeom prst="rect">
            <a:avLst/>
          </a:prstGeom>
        </p:spPr>
      </p:pic>
      <p:sp>
        <p:nvSpPr>
          <p:cNvPr id="6" name="Text 2"/>
          <p:cNvSpPr txBox="1"/>
          <p:nvPr/>
        </p:nvSpPr>
        <p:spPr>
          <a:xfrm>
            <a:off x="548640" y="2514600"/>
            <a:ext cx="2491740" cy="7772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Pinnacle Komputer</a:t>
            </a:r>
            <a:endParaRPr lang="en-US" sz="1800" dirty="0"/>
          </a:p>
        </p:txBody>
      </p:sp>
      <p:sp>
        <p:nvSpPr>
          <p:cNvPr id="7" name="Text 3"/>
          <p:cNvSpPr txBox="1"/>
          <p:nvPr/>
        </p:nvSpPr>
        <p:spPr>
          <a:xfrm>
            <a:off x="548640" y="3337560"/>
            <a:ext cx="2400300" cy="548640"/>
          </a:xfrm>
          <a:prstGeom prst="rect">
            <a:avLst/>
          </a:prstGeom>
          <a:noFill/>
          <a:ln/>
        </p:spPr>
        <p:txBody>
          <a:bodyPr wrap="square" lIns="0" tIns="0" rIns="0" bIns="0" rtlCol="0" anchor="t"/>
          <a:lstStyle/>
          <a:p>
            <a:pPr indent="0" marL="0">
              <a:buNone/>
            </a:pPr>
            <a:r>
              <a:rPr lang="en-US" sz="1600" dirty="0">
                <a:solidFill>
                  <a:schemeClr val="tx1"/>
                </a:solidFill>
              </a:rPr>
              <a:t>Quotation A</a:t>
            </a:r>
            <a:endParaRPr lang="en-US" sz="1600" dirty="0"/>
          </a:p>
        </p:txBody>
      </p:sp>
      <p:pic>
        <p:nvPicPr>
          <p:cNvPr id="8" name="Image 1" descr="preencoded.png">    </p:cNvPr>
          <p:cNvPicPr>
            <a:picLocks noChangeAspect="1"/>
          </p:cNvPicPr>
          <p:nvPr/>
        </p:nvPicPr>
        <p:blipFill>
          <a:blip r:embed="rId2"/>
          <a:stretch>
            <a:fillRect/>
          </a:stretch>
        </p:blipFill>
        <p:spPr>
          <a:xfrm>
            <a:off x="3406140" y="1783080"/>
            <a:ext cx="502920" cy="502920"/>
          </a:xfrm>
          <a:prstGeom prst="rect">
            <a:avLst/>
          </a:prstGeom>
        </p:spPr>
      </p:pic>
      <p:sp>
        <p:nvSpPr>
          <p:cNvPr id="9" name="Text 4"/>
          <p:cNvSpPr txBox="1"/>
          <p:nvPr/>
        </p:nvSpPr>
        <p:spPr>
          <a:xfrm>
            <a:off x="3406140" y="2514600"/>
            <a:ext cx="2491740" cy="7772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Seri Mutiara Technology</a:t>
            </a:r>
            <a:endParaRPr lang="en-US" sz="1800" dirty="0"/>
          </a:p>
        </p:txBody>
      </p:sp>
      <p:sp>
        <p:nvSpPr>
          <p:cNvPr id="10" name="Text 5"/>
          <p:cNvSpPr txBox="1"/>
          <p:nvPr/>
        </p:nvSpPr>
        <p:spPr>
          <a:xfrm>
            <a:off x="3406140" y="3337560"/>
            <a:ext cx="2400300" cy="548640"/>
          </a:xfrm>
          <a:prstGeom prst="rect">
            <a:avLst/>
          </a:prstGeom>
          <a:noFill/>
          <a:ln/>
        </p:spPr>
        <p:txBody>
          <a:bodyPr wrap="square" lIns="0" tIns="0" rIns="0" bIns="0" rtlCol="0" anchor="t"/>
          <a:lstStyle/>
          <a:p>
            <a:pPr indent="0" marL="0">
              <a:buNone/>
            </a:pPr>
            <a:r>
              <a:rPr lang="en-US" sz="1600" dirty="0">
                <a:solidFill>
                  <a:schemeClr val="tx1"/>
                </a:solidFill>
              </a:rPr>
              <a:t>Quotation B</a:t>
            </a:r>
            <a:endParaRPr lang="en-US" sz="1600" dirty="0"/>
          </a:p>
        </p:txBody>
      </p:sp>
      <p:pic>
        <p:nvPicPr>
          <p:cNvPr id="11" name="Image 2" descr="preencoded.png">    </p:cNvPr>
          <p:cNvPicPr>
            <a:picLocks noChangeAspect="1"/>
          </p:cNvPicPr>
          <p:nvPr/>
        </p:nvPicPr>
        <p:blipFill>
          <a:blip r:embed="rId3"/>
          <a:stretch>
            <a:fillRect/>
          </a:stretch>
        </p:blipFill>
        <p:spPr>
          <a:xfrm>
            <a:off x="6263640" y="1783080"/>
            <a:ext cx="502920" cy="502920"/>
          </a:xfrm>
          <a:prstGeom prst="rect">
            <a:avLst/>
          </a:prstGeom>
        </p:spPr>
      </p:pic>
      <p:sp>
        <p:nvSpPr>
          <p:cNvPr id="12" name="Text 6"/>
          <p:cNvSpPr txBox="1"/>
          <p:nvPr/>
        </p:nvSpPr>
        <p:spPr>
          <a:xfrm>
            <a:off x="6263640" y="2514600"/>
            <a:ext cx="2491740" cy="7772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Cyberjaya Digital Supplies</a:t>
            </a:r>
            <a:endParaRPr lang="en-US" sz="1800" dirty="0"/>
          </a:p>
        </p:txBody>
      </p:sp>
      <p:sp>
        <p:nvSpPr>
          <p:cNvPr id="13" name="Text 7"/>
          <p:cNvSpPr txBox="1"/>
          <p:nvPr/>
        </p:nvSpPr>
        <p:spPr>
          <a:xfrm>
            <a:off x="6263640" y="3337560"/>
            <a:ext cx="2400300" cy="548640"/>
          </a:xfrm>
          <a:prstGeom prst="rect">
            <a:avLst/>
          </a:prstGeom>
          <a:noFill/>
          <a:ln/>
        </p:spPr>
        <p:txBody>
          <a:bodyPr wrap="square" lIns="0" tIns="0" rIns="0" bIns="0" rtlCol="0" anchor="t"/>
          <a:lstStyle/>
          <a:p>
            <a:pPr indent="0" marL="0">
              <a:buNone/>
            </a:pPr>
            <a:r>
              <a:rPr lang="en-US" sz="1600" dirty="0">
                <a:solidFill>
                  <a:schemeClr val="tx1"/>
                </a:solidFill>
              </a:rPr>
              <a:t>Quotation C</a:t>
            </a:r>
            <a:endParaRPr lang="en-US" sz="1600" dirty="0"/>
          </a:p>
        </p:txBody>
      </p:sp>
      <p:pic>
        <p:nvPicPr>
          <p:cNvPr id="14" name="Image 3" descr="preencoded.png">    </p:cNvPr>
          <p:cNvPicPr>
            <a:picLocks noChangeAspect="1"/>
          </p:cNvPicPr>
          <p:nvPr/>
        </p:nvPicPr>
        <p:blipFill>
          <a:blip r:embed="rId4"/>
          <a:stretch>
            <a:fillRect/>
          </a:stretch>
        </p:blipFill>
        <p:spPr>
          <a:xfrm>
            <a:off x="9121140" y="1783080"/>
            <a:ext cx="502920" cy="502920"/>
          </a:xfrm>
          <a:prstGeom prst="rect">
            <a:avLst/>
          </a:prstGeom>
        </p:spPr>
      </p:pic>
      <p:sp>
        <p:nvSpPr>
          <p:cNvPr id="15" name="Text 8"/>
          <p:cNvSpPr txBox="1"/>
          <p:nvPr/>
        </p:nvSpPr>
        <p:spPr>
          <a:xfrm>
            <a:off x="9121140" y="2514600"/>
            <a:ext cx="2491740" cy="7772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procurement-policy.pdf</a:t>
            </a:r>
            <a:endParaRPr lang="en-US" sz="1800" dirty="0"/>
          </a:p>
        </p:txBody>
      </p:sp>
      <p:sp>
        <p:nvSpPr>
          <p:cNvPr id="16" name="Text 9"/>
          <p:cNvSpPr txBox="1"/>
          <p:nvPr/>
        </p:nvSpPr>
        <p:spPr>
          <a:xfrm>
            <a:off x="9121140" y="3337560"/>
            <a:ext cx="2400300" cy="548640"/>
          </a:xfrm>
          <a:prstGeom prst="rect">
            <a:avLst/>
          </a:prstGeom>
          <a:noFill/>
          <a:ln/>
        </p:spPr>
        <p:txBody>
          <a:bodyPr wrap="square" lIns="0" tIns="0" rIns="0" bIns="0" rtlCol="0" anchor="t"/>
          <a:lstStyle/>
          <a:p>
            <a:pPr indent="0" marL="0">
              <a:buNone/>
            </a:pPr>
            <a:r>
              <a:rPr lang="en-US" sz="1600" dirty="0">
                <a:solidFill>
                  <a:schemeClr val="tx1"/>
                </a:solidFill>
              </a:rPr>
              <a:t>The company's rules</a:t>
            </a:r>
            <a:endParaRPr lang="en-US" sz="1600" dirty="0"/>
          </a:p>
        </p:txBody>
      </p:sp>
      <p:sp>
        <p:nvSpPr>
          <p:cNvPr id="17" name="Upload order note"/>
          <p:cNvSpPr/>
          <p:nvPr/>
        </p:nvSpPr>
        <p:spPr>
          <a:xfrm>
            <a:off x="548640" y="4206240"/>
            <a:ext cx="11064240" cy="1737360"/>
          </a:xfrm>
          <a:prstGeom prst="roundRect">
            <a:avLst>
              <a:gd name="adj" fmla="val 5263"/>
            </a:avLst>
          </a:prstGeom>
          <a:solidFill>
            <a:schemeClr val="bg1"/>
          </a:solidFill>
          <a:ln/>
          <a:effectLst>
            <a:outerShdw sx="100000" sy="100000" kx="0" ky="0" algn="bl" rotWithShape="0" blurRad="177800" dist="38100" dir="5400000">
              <a:srgbClr val="1B2A4A">
                <a:alpha val="12000"/>
              </a:srgbClr>
            </a:outerShdw>
          </a:effectLst>
        </p:spPr>
      </p:sp>
      <p:pic>
        <p:nvPicPr>
          <p:cNvPr id="18" name="Image 4" descr="preencoded.png">    </p:cNvPr>
          <p:cNvPicPr>
            <a:picLocks noChangeAspect="1"/>
          </p:cNvPicPr>
          <p:nvPr/>
        </p:nvPicPr>
        <p:blipFill>
          <a:blip r:embed="rId5"/>
          <a:stretch>
            <a:fillRect/>
          </a:stretch>
        </p:blipFill>
        <p:spPr>
          <a:xfrm>
            <a:off x="868680" y="4800600"/>
            <a:ext cx="548640" cy="548640"/>
          </a:xfrm>
          <a:prstGeom prst="rect">
            <a:avLst/>
          </a:prstGeom>
        </p:spPr>
      </p:pic>
      <p:sp>
        <p:nvSpPr>
          <p:cNvPr id="19" name="Text 11"/>
          <p:cNvSpPr txBox="1"/>
          <p:nvPr/>
        </p:nvSpPr>
        <p:spPr>
          <a:xfrm>
            <a:off x="1691640" y="4343400"/>
            <a:ext cx="9692640" cy="1463040"/>
          </a:xfrm>
          <a:prstGeom prst="rect">
            <a:avLst/>
          </a:prstGeom>
          <a:noFill/>
          <a:ln/>
        </p:spPr>
        <p:txBody>
          <a:bodyPr wrap="square" lIns="0" tIns="0" rIns="0" bIns="0" rtlCol="0" anchor="ctr"/>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Copilot takes at most three files per message.</a:t>
            </a:r>
            <a:endParaRPr lang="en-US" sz="1800" dirty="0"/>
          </a:p>
          <a:p>
            <a:pPr indent="0" marL="0">
              <a:buNone/>
            </a:pPr>
            <a:r>
              <a:rPr lang="en-US" sz="1800" dirty="0">
                <a:solidFill>
                  <a:schemeClr val="tx1"/>
                </a:solidFill>
              </a:rPr>
              <a:t>Send the policy first, in its own message. Then send the three quotations together, in the same chat.</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04</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Six checks, in order</a:t>
            </a:r>
            <a:endParaRPr lang="en-US" sz="3200" dirty="0"/>
          </a:p>
        </p:txBody>
      </p:sp>
      <p:sp>
        <p:nvSpPr>
          <p:cNvPr id="5" name="Process line"/>
          <p:cNvSpPr/>
          <p:nvPr/>
        </p:nvSpPr>
        <p:spPr>
          <a:xfrm>
            <a:off x="548640" y="2331720"/>
            <a:ext cx="11064240" cy="0"/>
          </a:xfrm>
          <a:prstGeom prst="line">
            <a:avLst/>
          </a:prstGeom>
          <a:noFill/>
          <a:ln w="25400">
            <a:solidFill>
              <a:srgbClr val="6B5DD3"/>
            </a:solidFill>
            <a:prstDash val="solid"/>
          </a:ln>
        </p:spPr>
      </p:sp>
      <p:sp>
        <p:nvSpPr>
          <p:cNvPr id="6" name="Process point"/>
          <p:cNvSpPr/>
          <p:nvPr/>
        </p:nvSpPr>
        <p:spPr>
          <a:xfrm>
            <a:off x="548640" y="2221992"/>
            <a:ext cx="219456" cy="219456"/>
          </a:xfrm>
          <a:prstGeom prst="ellipse">
            <a:avLst/>
          </a:prstGeom>
          <a:solidFill>
            <a:schemeClr val="accent1"/>
          </a:solidFill>
          <a:ln/>
        </p:spPr>
      </p:sp>
      <p:sp>
        <p:nvSpPr>
          <p:cNvPr id="7" name="Text 4"/>
          <p:cNvSpPr txBox="1"/>
          <p:nvPr/>
        </p:nvSpPr>
        <p:spPr>
          <a:xfrm>
            <a:off x="548640" y="1737360"/>
            <a:ext cx="1737360" cy="36576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4.3</a:t>
            </a:r>
            <a:endParaRPr lang="en-US" sz="1400" dirty="0"/>
          </a:p>
        </p:txBody>
      </p:sp>
      <p:sp>
        <p:nvSpPr>
          <p:cNvPr id="8" name="Text 5"/>
          <p:cNvSpPr txBox="1"/>
          <p:nvPr/>
        </p:nvSpPr>
        <p:spPr>
          <a:xfrm>
            <a:off x="548640" y="2743200"/>
            <a:ext cx="17373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Summarise</a:t>
            </a:r>
            <a:endParaRPr lang="en-US" sz="2000" dirty="0"/>
          </a:p>
        </p:txBody>
      </p:sp>
      <p:sp>
        <p:nvSpPr>
          <p:cNvPr id="9" name="Text 6"/>
          <p:cNvSpPr txBox="1"/>
          <p:nvPr/>
        </p:nvSpPr>
        <p:spPr>
          <a:xfrm>
            <a:off x="548640" y="3246120"/>
            <a:ext cx="1691640" cy="914400"/>
          </a:xfrm>
          <a:prstGeom prst="rect">
            <a:avLst/>
          </a:prstGeom>
          <a:noFill/>
          <a:ln/>
        </p:spPr>
        <p:txBody>
          <a:bodyPr wrap="square" lIns="0" tIns="0" rIns="0" bIns="0" rtlCol="0" anchor="t"/>
          <a:lstStyle/>
          <a:p>
            <a:pPr indent="0" marL="0">
              <a:buNone/>
            </a:pPr>
            <a:r>
              <a:rPr lang="en-US" sz="1500" dirty="0">
                <a:solidFill>
                  <a:schemeClr val="accent4"/>
                </a:solidFill>
              </a:rPr>
              <a:t>each quotation</a:t>
            </a:r>
            <a:endParaRPr lang="en-US" sz="1500" dirty="0"/>
          </a:p>
        </p:txBody>
      </p:sp>
      <p:sp>
        <p:nvSpPr>
          <p:cNvPr id="10" name="Process point"/>
          <p:cNvSpPr/>
          <p:nvPr/>
        </p:nvSpPr>
        <p:spPr>
          <a:xfrm>
            <a:off x="2423160" y="2221992"/>
            <a:ext cx="219456" cy="219456"/>
          </a:xfrm>
          <a:prstGeom prst="ellipse">
            <a:avLst/>
          </a:prstGeom>
          <a:solidFill>
            <a:schemeClr val="accent1"/>
          </a:solidFill>
          <a:ln/>
        </p:spPr>
      </p:sp>
      <p:sp>
        <p:nvSpPr>
          <p:cNvPr id="11" name="Text 8"/>
          <p:cNvSpPr txBox="1"/>
          <p:nvPr/>
        </p:nvSpPr>
        <p:spPr>
          <a:xfrm>
            <a:off x="2423160" y="1737360"/>
            <a:ext cx="1737360" cy="36576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4.4</a:t>
            </a:r>
            <a:endParaRPr lang="en-US" sz="1400" dirty="0"/>
          </a:p>
        </p:txBody>
      </p:sp>
      <p:sp>
        <p:nvSpPr>
          <p:cNvPr id="12" name="Text 9"/>
          <p:cNvSpPr txBox="1"/>
          <p:nvPr/>
        </p:nvSpPr>
        <p:spPr>
          <a:xfrm>
            <a:off x="2423160" y="2743200"/>
            <a:ext cx="17373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Compare</a:t>
            </a:r>
            <a:endParaRPr lang="en-US" sz="2000" dirty="0"/>
          </a:p>
        </p:txBody>
      </p:sp>
      <p:sp>
        <p:nvSpPr>
          <p:cNvPr id="13" name="Text 10"/>
          <p:cNvSpPr txBox="1"/>
          <p:nvPr/>
        </p:nvSpPr>
        <p:spPr>
          <a:xfrm>
            <a:off x="2423160" y="3246120"/>
            <a:ext cx="1691640" cy="914400"/>
          </a:xfrm>
          <a:prstGeom prst="rect">
            <a:avLst/>
          </a:prstGeom>
          <a:noFill/>
          <a:ln/>
        </p:spPr>
        <p:txBody>
          <a:bodyPr wrap="square" lIns="0" tIns="0" rIns="0" bIns="0" rtlCol="0" anchor="t"/>
          <a:lstStyle/>
          <a:p>
            <a:pPr indent="0" marL="0">
              <a:buNone/>
            </a:pPr>
            <a:r>
              <a:rPr lang="en-US" sz="1500" dirty="0">
                <a:solidFill>
                  <a:schemeClr val="accent4"/>
                </a:solidFill>
              </a:rPr>
              <a:t>figures exactly as printed</a:t>
            </a:r>
            <a:endParaRPr lang="en-US" sz="1500" dirty="0"/>
          </a:p>
        </p:txBody>
      </p:sp>
      <p:sp>
        <p:nvSpPr>
          <p:cNvPr id="14" name="Process point"/>
          <p:cNvSpPr/>
          <p:nvPr/>
        </p:nvSpPr>
        <p:spPr>
          <a:xfrm>
            <a:off x="4297680" y="2221992"/>
            <a:ext cx="219456" cy="219456"/>
          </a:xfrm>
          <a:prstGeom prst="ellipse">
            <a:avLst/>
          </a:prstGeom>
          <a:solidFill>
            <a:schemeClr val="accent1"/>
          </a:solidFill>
          <a:ln/>
        </p:spPr>
      </p:sp>
      <p:sp>
        <p:nvSpPr>
          <p:cNvPr id="15" name="Text 12"/>
          <p:cNvSpPr txBox="1"/>
          <p:nvPr/>
        </p:nvSpPr>
        <p:spPr>
          <a:xfrm>
            <a:off x="4297680" y="1737360"/>
            <a:ext cx="1737360" cy="36576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4.5</a:t>
            </a:r>
            <a:endParaRPr lang="en-US" sz="1400" dirty="0"/>
          </a:p>
        </p:txBody>
      </p:sp>
      <p:sp>
        <p:nvSpPr>
          <p:cNvPr id="16" name="Text 13"/>
          <p:cNvSpPr txBox="1"/>
          <p:nvPr/>
        </p:nvSpPr>
        <p:spPr>
          <a:xfrm>
            <a:off x="4297680" y="2743200"/>
            <a:ext cx="17373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Recalculate</a:t>
            </a:r>
            <a:endParaRPr lang="en-US" sz="2000" dirty="0"/>
          </a:p>
        </p:txBody>
      </p:sp>
      <p:sp>
        <p:nvSpPr>
          <p:cNvPr id="17" name="Text 14"/>
          <p:cNvSpPr txBox="1"/>
          <p:nvPr/>
        </p:nvSpPr>
        <p:spPr>
          <a:xfrm>
            <a:off x="4297680" y="3246120"/>
            <a:ext cx="1691640" cy="914400"/>
          </a:xfrm>
          <a:prstGeom prst="rect">
            <a:avLst/>
          </a:prstGeom>
          <a:noFill/>
          <a:ln/>
        </p:spPr>
        <p:txBody>
          <a:bodyPr wrap="square" lIns="0" tIns="0" rIns="0" bIns="0" rtlCol="0" anchor="t"/>
          <a:lstStyle/>
          <a:p>
            <a:pPr indent="0" marL="0">
              <a:buNone/>
            </a:pPr>
            <a:r>
              <a:rPr lang="en-US" sz="1500" dirty="0">
                <a:solidFill>
                  <a:schemeClr val="accent4"/>
                </a:solidFill>
              </a:rPr>
              <a:t>every total, yourself too</a:t>
            </a:r>
            <a:endParaRPr lang="en-US" sz="1500" dirty="0"/>
          </a:p>
        </p:txBody>
      </p:sp>
      <p:sp>
        <p:nvSpPr>
          <p:cNvPr id="18" name="Process point"/>
          <p:cNvSpPr/>
          <p:nvPr/>
        </p:nvSpPr>
        <p:spPr>
          <a:xfrm>
            <a:off x="6172200" y="2221992"/>
            <a:ext cx="219456" cy="219456"/>
          </a:xfrm>
          <a:prstGeom prst="ellipse">
            <a:avLst/>
          </a:prstGeom>
          <a:solidFill>
            <a:schemeClr val="accent1"/>
          </a:solidFill>
          <a:ln/>
        </p:spPr>
      </p:sp>
      <p:sp>
        <p:nvSpPr>
          <p:cNvPr id="19" name="Text 16"/>
          <p:cNvSpPr txBox="1"/>
          <p:nvPr/>
        </p:nvSpPr>
        <p:spPr>
          <a:xfrm>
            <a:off x="6172200" y="1737360"/>
            <a:ext cx="1737360" cy="36576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4.6</a:t>
            </a:r>
            <a:endParaRPr lang="en-US" sz="1400" dirty="0"/>
          </a:p>
        </p:txBody>
      </p:sp>
      <p:sp>
        <p:nvSpPr>
          <p:cNvPr id="20" name="Text 17"/>
          <p:cNvSpPr txBox="1"/>
          <p:nvPr/>
        </p:nvSpPr>
        <p:spPr>
          <a:xfrm>
            <a:off x="6172200" y="2743200"/>
            <a:ext cx="17373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Policy</a:t>
            </a:r>
            <a:endParaRPr lang="en-US" sz="2000" dirty="0"/>
          </a:p>
        </p:txBody>
      </p:sp>
      <p:sp>
        <p:nvSpPr>
          <p:cNvPr id="21" name="Text 18"/>
          <p:cNvSpPr txBox="1"/>
          <p:nvPr/>
        </p:nvSpPr>
        <p:spPr>
          <a:xfrm>
            <a:off x="6172200" y="3246120"/>
            <a:ext cx="1691640" cy="914400"/>
          </a:xfrm>
          <a:prstGeom prst="rect">
            <a:avLst/>
          </a:prstGeom>
          <a:noFill/>
          <a:ln/>
        </p:spPr>
        <p:txBody>
          <a:bodyPr wrap="square" lIns="0" tIns="0" rIns="0" bIns="0" rtlCol="0" anchor="t"/>
          <a:lstStyle/>
          <a:p>
            <a:pPr indent="0" marL="0">
              <a:buNone/>
            </a:pPr>
            <a:r>
              <a:rPr lang="en-US" sz="1500" dirty="0">
                <a:solidFill>
                  <a:schemeClr val="accent4"/>
                </a:solidFill>
              </a:rPr>
              <a:t>check each clause</a:t>
            </a:r>
            <a:endParaRPr lang="en-US" sz="1500" dirty="0"/>
          </a:p>
        </p:txBody>
      </p:sp>
      <p:sp>
        <p:nvSpPr>
          <p:cNvPr id="22" name="Process point"/>
          <p:cNvSpPr/>
          <p:nvPr/>
        </p:nvSpPr>
        <p:spPr>
          <a:xfrm>
            <a:off x="8046720" y="2221992"/>
            <a:ext cx="219456" cy="219456"/>
          </a:xfrm>
          <a:prstGeom prst="ellipse">
            <a:avLst/>
          </a:prstGeom>
          <a:solidFill>
            <a:schemeClr val="accent1"/>
          </a:solidFill>
          <a:ln/>
        </p:spPr>
      </p:sp>
      <p:sp>
        <p:nvSpPr>
          <p:cNvPr id="23" name="Text 20"/>
          <p:cNvSpPr txBox="1"/>
          <p:nvPr/>
        </p:nvSpPr>
        <p:spPr>
          <a:xfrm>
            <a:off x="8046720" y="1737360"/>
            <a:ext cx="1737360" cy="36576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4.7</a:t>
            </a:r>
            <a:endParaRPr lang="en-US" sz="1400" dirty="0"/>
          </a:p>
        </p:txBody>
      </p:sp>
      <p:sp>
        <p:nvSpPr>
          <p:cNvPr id="24" name="Text 21"/>
          <p:cNvSpPr txBox="1"/>
          <p:nvPr/>
        </p:nvSpPr>
        <p:spPr>
          <a:xfrm>
            <a:off x="8046720" y="2743200"/>
            <a:ext cx="17373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Like-for-like</a:t>
            </a:r>
            <a:endParaRPr lang="en-US" sz="2000" dirty="0"/>
          </a:p>
        </p:txBody>
      </p:sp>
      <p:sp>
        <p:nvSpPr>
          <p:cNvPr id="25" name="Text 22"/>
          <p:cNvSpPr txBox="1"/>
          <p:nvPr/>
        </p:nvSpPr>
        <p:spPr>
          <a:xfrm>
            <a:off x="8046720" y="3246120"/>
            <a:ext cx="1691640" cy="914400"/>
          </a:xfrm>
          <a:prstGeom prst="rect">
            <a:avLst/>
          </a:prstGeom>
          <a:noFill/>
          <a:ln/>
        </p:spPr>
        <p:txBody>
          <a:bodyPr wrap="square" lIns="0" tIns="0" rIns="0" bIns="0" rtlCol="0" anchor="t"/>
          <a:lstStyle/>
          <a:p>
            <a:pPr indent="0" marL="0">
              <a:buNone/>
            </a:pPr>
            <a:r>
              <a:rPr lang="en-US" sz="1500" dirty="0">
                <a:solidFill>
                  <a:schemeClr val="accent4"/>
                </a:solidFill>
              </a:rPr>
              <a:t>same thing quoted?</a:t>
            </a:r>
            <a:endParaRPr lang="en-US" sz="1500" dirty="0"/>
          </a:p>
        </p:txBody>
      </p:sp>
      <p:sp>
        <p:nvSpPr>
          <p:cNvPr id="26" name="Process point"/>
          <p:cNvSpPr/>
          <p:nvPr/>
        </p:nvSpPr>
        <p:spPr>
          <a:xfrm>
            <a:off x="9921240" y="2221992"/>
            <a:ext cx="219456" cy="219456"/>
          </a:xfrm>
          <a:prstGeom prst="ellipse">
            <a:avLst/>
          </a:prstGeom>
          <a:solidFill>
            <a:schemeClr val="accent1"/>
          </a:solidFill>
          <a:ln/>
        </p:spPr>
      </p:sp>
      <p:sp>
        <p:nvSpPr>
          <p:cNvPr id="27" name="Text 24"/>
          <p:cNvSpPr txBox="1"/>
          <p:nvPr/>
        </p:nvSpPr>
        <p:spPr>
          <a:xfrm>
            <a:off x="9921240" y="1737360"/>
            <a:ext cx="1737360" cy="36576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4.8</a:t>
            </a:r>
            <a:endParaRPr lang="en-US" sz="1400" dirty="0"/>
          </a:p>
        </p:txBody>
      </p:sp>
      <p:sp>
        <p:nvSpPr>
          <p:cNvPr id="28" name="Text 25"/>
          <p:cNvSpPr txBox="1"/>
          <p:nvPr/>
        </p:nvSpPr>
        <p:spPr>
          <a:xfrm>
            <a:off x="9921240" y="2743200"/>
            <a:ext cx="17373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Recommend</a:t>
            </a:r>
            <a:endParaRPr lang="en-US" sz="2000" dirty="0"/>
          </a:p>
        </p:txBody>
      </p:sp>
      <p:sp>
        <p:nvSpPr>
          <p:cNvPr id="29" name="Text 26"/>
          <p:cNvSpPr txBox="1"/>
          <p:nvPr/>
        </p:nvSpPr>
        <p:spPr>
          <a:xfrm>
            <a:off x="9921240" y="3246120"/>
            <a:ext cx="1691640" cy="914400"/>
          </a:xfrm>
          <a:prstGeom prst="rect">
            <a:avLst/>
          </a:prstGeom>
          <a:noFill/>
          <a:ln/>
        </p:spPr>
        <p:txBody>
          <a:bodyPr wrap="square" lIns="0" tIns="0" rIns="0" bIns="0" rtlCol="0" anchor="t"/>
          <a:lstStyle/>
          <a:p>
            <a:pPr indent="0" marL="0">
              <a:buNone/>
            </a:pPr>
            <a:r>
              <a:rPr lang="en-US" sz="1500" dirty="0">
                <a:solidFill>
                  <a:schemeClr val="accent4"/>
                </a:solidFill>
              </a:rPr>
              <a:t>then you decide</a:t>
            </a:r>
            <a:endParaRPr lang="en-US" sz="1500" dirty="0"/>
          </a:p>
        </p:txBody>
      </p:sp>
      <p:sp>
        <p:nvSpPr>
          <p:cNvPr id="30" name="Text 27"/>
          <p:cNvSpPr txBox="1"/>
          <p:nvPr/>
        </p:nvSpPr>
        <p:spPr>
          <a:xfrm>
            <a:off x="548640" y="4937760"/>
            <a:ext cx="11064240" cy="54864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Copilot does the reading and the layout. You check every number.</a:t>
            </a:r>
            <a:endParaRPr lang="en-US" sz="2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731520" y="2011680"/>
            <a:ext cx="10241280" cy="1828800"/>
          </a:xfrm>
          <a:prstGeom prst="rect">
            <a:avLst/>
          </a:prstGeom>
          <a:noFill/>
          <a:ln/>
        </p:spPr>
        <p:txBody>
          <a:bodyPr wrap="square" lIns="0" tIns="0" rIns="0" bIns="0" rtlCol="0" anchor="b"/>
          <a:lstStyle/>
          <a:p>
            <a:pPr algn="l" indent="0" marL="0">
              <a:buNone/>
            </a:pPr>
            <a:r>
              <a:rPr lang="en-US" sz="4000" dirty="0">
                <a:solidFill>
                  <a:schemeClr val="accent1"/>
                </a:solidFill>
              </a:rPr>
              <a:t>Copilot recommends. You decide.</a:t>
            </a:r>
            <a:endParaRPr lang="en-US" sz="4000" dirty="0"/>
          </a:p>
        </p:txBody>
      </p:sp>
      <p:sp>
        <p:nvSpPr>
          <p:cNvPr id="3" name="Text 0"/>
          <p:cNvSpPr/>
          <p:nvPr>
            <p:ph idx="102" type="body" hasCustomPrompt="1"/>
          </p:nvPr>
        </p:nvSpPr>
        <p:spPr>
          <a:xfrm>
            <a:off x="731520" y="4069080"/>
            <a:ext cx="9601200" cy="914400"/>
          </a:xfrm>
          <a:prstGeom prst="rect">
            <a:avLst/>
          </a:prstGeom>
          <a:noFill/>
          <a:ln/>
        </p:spPr>
        <p:txBody>
          <a:bodyPr wrap="square" lIns="0" tIns="0" rIns="0" bIns="0" rtlCol="0" anchor="t"/>
          <a:lstStyle/>
          <a:p>
            <a:pPr indent="0" marL="0">
              <a:buNone/>
            </a:pPr>
            <a:r>
              <a:rPr lang="en-US" sz="2000" dirty="0">
                <a:solidFill>
                  <a:schemeClr val="accent4"/>
                </a:solidFill>
              </a:rPr>
              <a:t>Your name goes on the memo. You need to explain every number in it without Copilot.</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04</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Compare the three quotations</a:t>
            </a:r>
            <a:endParaRPr lang="en-US" sz="3200" dirty="0"/>
          </a:p>
        </p:txBody>
      </p:sp>
      <p:sp>
        <p:nvSpPr>
          <p:cNvPr id="5" name="Text 2"/>
          <p:cNvSpPr txBox="1"/>
          <p:nvPr/>
        </p:nvSpPr>
        <p:spPr>
          <a:xfrm>
            <a:off x="548640" y="1783080"/>
            <a:ext cx="731520" cy="52578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4.1</a:t>
            </a:r>
            <a:endParaRPr lang="en-US" sz="1600" dirty="0"/>
          </a:p>
        </p:txBody>
      </p:sp>
      <p:sp>
        <p:nvSpPr>
          <p:cNvPr id="6" name="Text 3"/>
          <p:cNvSpPr txBox="1"/>
          <p:nvPr/>
        </p:nvSpPr>
        <p:spPr>
          <a:xfrm>
            <a:off x="1325880" y="1783080"/>
            <a:ext cx="5852160" cy="525780"/>
          </a:xfrm>
          <a:prstGeom prst="rect">
            <a:avLst/>
          </a:prstGeom>
          <a:noFill/>
          <a:ln/>
        </p:spPr>
        <p:txBody>
          <a:bodyPr wrap="square" lIns="0" tIns="0" rIns="0" bIns="0" rtlCol="0" anchor="t"/>
          <a:lstStyle/>
          <a:p>
            <a:pPr indent="0" marL="0">
              <a:buNone/>
            </a:pPr>
            <a:r>
              <a:rPr lang="en-US" sz="1600" dirty="0">
                <a:solidFill>
                  <a:schemeClr val="tx1"/>
                </a:solidFill>
              </a:rPr>
              <a:t>Download sample-files.zip and extract it</a:t>
            </a:r>
            <a:endParaRPr lang="en-US" sz="1600" dirty="0"/>
          </a:p>
        </p:txBody>
      </p:sp>
      <p:sp>
        <p:nvSpPr>
          <p:cNvPr id="7" name="Text 4"/>
          <p:cNvSpPr txBox="1"/>
          <p:nvPr/>
        </p:nvSpPr>
        <p:spPr>
          <a:xfrm>
            <a:off x="548640" y="2308860"/>
            <a:ext cx="731520" cy="52578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4.2</a:t>
            </a:r>
            <a:endParaRPr lang="en-US" sz="1600" dirty="0"/>
          </a:p>
        </p:txBody>
      </p:sp>
      <p:sp>
        <p:nvSpPr>
          <p:cNvPr id="8" name="Text 5"/>
          <p:cNvSpPr txBox="1"/>
          <p:nvPr/>
        </p:nvSpPr>
        <p:spPr>
          <a:xfrm>
            <a:off x="1325880" y="2308860"/>
            <a:ext cx="5852160" cy="525780"/>
          </a:xfrm>
          <a:prstGeom prst="rect">
            <a:avLst/>
          </a:prstGeom>
          <a:noFill/>
          <a:ln/>
        </p:spPr>
        <p:txBody>
          <a:bodyPr wrap="square" lIns="0" tIns="0" rIns="0" bIns="0" rtlCol="0" anchor="t"/>
          <a:lstStyle/>
          <a:p>
            <a:pPr indent="0" marL="0">
              <a:buNone/>
            </a:pPr>
            <a:r>
              <a:rPr lang="en-US" sz="1600" dirty="0">
                <a:solidFill>
                  <a:schemeClr val="tx1"/>
                </a:solidFill>
              </a:rPr>
              <a:t>New chat: policy first, then the three quotations</a:t>
            </a:r>
            <a:endParaRPr lang="en-US" sz="1600" dirty="0"/>
          </a:p>
        </p:txBody>
      </p:sp>
      <p:sp>
        <p:nvSpPr>
          <p:cNvPr id="9" name="Text 6"/>
          <p:cNvSpPr txBox="1"/>
          <p:nvPr/>
        </p:nvSpPr>
        <p:spPr>
          <a:xfrm>
            <a:off x="548640" y="2834640"/>
            <a:ext cx="731520" cy="52578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4.3</a:t>
            </a:r>
            <a:endParaRPr lang="en-US" sz="1600" dirty="0"/>
          </a:p>
        </p:txBody>
      </p:sp>
      <p:sp>
        <p:nvSpPr>
          <p:cNvPr id="10" name="Text 7"/>
          <p:cNvSpPr txBox="1"/>
          <p:nvPr/>
        </p:nvSpPr>
        <p:spPr>
          <a:xfrm>
            <a:off x="1325880" y="2834640"/>
            <a:ext cx="5852160" cy="525780"/>
          </a:xfrm>
          <a:prstGeom prst="rect">
            <a:avLst/>
          </a:prstGeom>
          <a:noFill/>
          <a:ln/>
        </p:spPr>
        <p:txBody>
          <a:bodyPr wrap="square" lIns="0" tIns="0" rIns="0" bIns="0" rtlCol="0" anchor="t"/>
          <a:lstStyle/>
          <a:p>
            <a:pPr indent="0" marL="0">
              <a:buNone/>
            </a:pPr>
            <a:r>
              <a:rPr lang="en-US" sz="1600" dirty="0">
                <a:solidFill>
                  <a:schemeClr val="tx1"/>
                </a:solidFill>
              </a:rPr>
              <a:t>Summarise each quotation</a:t>
            </a:r>
            <a:endParaRPr lang="en-US" sz="1600" dirty="0"/>
          </a:p>
        </p:txBody>
      </p:sp>
      <p:sp>
        <p:nvSpPr>
          <p:cNvPr id="11" name="Text 8"/>
          <p:cNvSpPr txBox="1"/>
          <p:nvPr/>
        </p:nvSpPr>
        <p:spPr>
          <a:xfrm>
            <a:off x="548640" y="3360420"/>
            <a:ext cx="731520" cy="52578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4.4</a:t>
            </a:r>
            <a:endParaRPr lang="en-US" sz="1600" dirty="0"/>
          </a:p>
        </p:txBody>
      </p:sp>
      <p:sp>
        <p:nvSpPr>
          <p:cNvPr id="12" name="Text 9"/>
          <p:cNvSpPr txBox="1"/>
          <p:nvPr/>
        </p:nvSpPr>
        <p:spPr>
          <a:xfrm>
            <a:off x="1325880" y="3360420"/>
            <a:ext cx="5852160" cy="525780"/>
          </a:xfrm>
          <a:prstGeom prst="rect">
            <a:avLst/>
          </a:prstGeom>
          <a:noFill/>
          <a:ln/>
        </p:spPr>
        <p:txBody>
          <a:bodyPr wrap="square" lIns="0" tIns="0" rIns="0" bIns="0" rtlCol="0" anchor="t"/>
          <a:lstStyle/>
          <a:p>
            <a:pPr indent="0" marL="0">
              <a:buNone/>
            </a:pPr>
            <a:r>
              <a:rPr lang="en-US" sz="1600" dirty="0">
                <a:solidFill>
                  <a:schemeClr val="tx1"/>
                </a:solidFill>
              </a:rPr>
              <a:t>Build the comparison table, figures as printed</a:t>
            </a:r>
            <a:endParaRPr lang="en-US" sz="1600" dirty="0"/>
          </a:p>
        </p:txBody>
      </p:sp>
      <p:sp>
        <p:nvSpPr>
          <p:cNvPr id="13" name="Text 10"/>
          <p:cNvSpPr txBox="1"/>
          <p:nvPr/>
        </p:nvSpPr>
        <p:spPr>
          <a:xfrm>
            <a:off x="548640" y="3886200"/>
            <a:ext cx="731520" cy="52578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4.5</a:t>
            </a:r>
            <a:endParaRPr lang="en-US" sz="1600" dirty="0"/>
          </a:p>
        </p:txBody>
      </p:sp>
      <p:sp>
        <p:nvSpPr>
          <p:cNvPr id="14" name="Text 11"/>
          <p:cNvSpPr txBox="1"/>
          <p:nvPr/>
        </p:nvSpPr>
        <p:spPr>
          <a:xfrm>
            <a:off x="1325880" y="3886200"/>
            <a:ext cx="5852160" cy="525780"/>
          </a:xfrm>
          <a:prstGeom prst="rect">
            <a:avLst/>
          </a:prstGeom>
          <a:noFill/>
          <a:ln/>
        </p:spPr>
        <p:txBody>
          <a:bodyPr wrap="square" lIns="0" tIns="0" rIns="0" bIns="0" rtlCol="0" anchor="t"/>
          <a:lstStyle/>
          <a:p>
            <a:pPr indent="0" marL="0">
              <a:buNone/>
            </a:pPr>
            <a:r>
              <a:rPr lang="en-US" sz="1600" dirty="0">
                <a:solidFill>
                  <a:schemeClr val="tx1"/>
                </a:solidFill>
              </a:rPr>
              <a:t>Check the arithmetic, with your own calculator too</a:t>
            </a:r>
            <a:endParaRPr lang="en-US" sz="1600" dirty="0"/>
          </a:p>
        </p:txBody>
      </p:sp>
      <p:sp>
        <p:nvSpPr>
          <p:cNvPr id="15" name="Text 12"/>
          <p:cNvSpPr txBox="1"/>
          <p:nvPr/>
        </p:nvSpPr>
        <p:spPr>
          <a:xfrm>
            <a:off x="548640" y="4411980"/>
            <a:ext cx="731520" cy="52578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4.6</a:t>
            </a:r>
            <a:endParaRPr lang="en-US" sz="1600" dirty="0"/>
          </a:p>
        </p:txBody>
      </p:sp>
      <p:sp>
        <p:nvSpPr>
          <p:cNvPr id="16" name="Text 13"/>
          <p:cNvSpPr txBox="1"/>
          <p:nvPr/>
        </p:nvSpPr>
        <p:spPr>
          <a:xfrm>
            <a:off x="1325880" y="4411980"/>
            <a:ext cx="5852160" cy="525780"/>
          </a:xfrm>
          <a:prstGeom prst="rect">
            <a:avLst/>
          </a:prstGeom>
          <a:noFill/>
          <a:ln/>
        </p:spPr>
        <p:txBody>
          <a:bodyPr wrap="square" lIns="0" tIns="0" rIns="0" bIns="0" rtlCol="0" anchor="t"/>
          <a:lstStyle/>
          <a:p>
            <a:pPr indent="0" marL="0">
              <a:buNone/>
            </a:pPr>
            <a:r>
              <a:rPr lang="en-US" sz="1600" dirty="0">
                <a:solidFill>
                  <a:schemeClr val="tx1"/>
                </a:solidFill>
              </a:rPr>
              <a:t>Check each quotation against the policy</a:t>
            </a:r>
            <a:endParaRPr lang="en-US" sz="1600" dirty="0"/>
          </a:p>
        </p:txBody>
      </p:sp>
      <p:sp>
        <p:nvSpPr>
          <p:cNvPr id="17" name="Text 14"/>
          <p:cNvSpPr txBox="1"/>
          <p:nvPr/>
        </p:nvSpPr>
        <p:spPr>
          <a:xfrm>
            <a:off x="548640" y="4937760"/>
            <a:ext cx="731520" cy="52578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4.7</a:t>
            </a:r>
            <a:endParaRPr lang="en-US" sz="1600" dirty="0"/>
          </a:p>
        </p:txBody>
      </p:sp>
      <p:sp>
        <p:nvSpPr>
          <p:cNvPr id="18" name="Text 15"/>
          <p:cNvSpPr txBox="1"/>
          <p:nvPr/>
        </p:nvSpPr>
        <p:spPr>
          <a:xfrm>
            <a:off x="1325880" y="4937760"/>
            <a:ext cx="5852160" cy="525780"/>
          </a:xfrm>
          <a:prstGeom prst="rect">
            <a:avLst/>
          </a:prstGeom>
          <a:noFill/>
          <a:ln/>
        </p:spPr>
        <p:txBody>
          <a:bodyPr wrap="square" lIns="0" tIns="0" rIns="0" bIns="0" rtlCol="0" anchor="t"/>
          <a:lstStyle/>
          <a:p>
            <a:pPr indent="0" marL="0">
              <a:buNone/>
            </a:pPr>
            <a:r>
              <a:rPr lang="en-US" sz="1600" dirty="0">
                <a:solidFill>
                  <a:schemeClr val="tx1"/>
                </a:solidFill>
              </a:rPr>
              <a:t>Ask whether the comparison is like-for-like</a:t>
            </a:r>
            <a:endParaRPr lang="en-US" sz="1600" dirty="0"/>
          </a:p>
        </p:txBody>
      </p:sp>
      <p:sp>
        <p:nvSpPr>
          <p:cNvPr id="19" name="Text 16"/>
          <p:cNvSpPr txBox="1"/>
          <p:nvPr/>
        </p:nvSpPr>
        <p:spPr>
          <a:xfrm>
            <a:off x="548640" y="5463540"/>
            <a:ext cx="731520" cy="525780"/>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4.8</a:t>
            </a:r>
            <a:endParaRPr lang="en-US" sz="1600" dirty="0"/>
          </a:p>
        </p:txBody>
      </p:sp>
      <p:sp>
        <p:nvSpPr>
          <p:cNvPr id="20" name="Text 17"/>
          <p:cNvSpPr txBox="1"/>
          <p:nvPr/>
        </p:nvSpPr>
        <p:spPr>
          <a:xfrm>
            <a:off x="1325880" y="5463540"/>
            <a:ext cx="5852160" cy="525780"/>
          </a:xfrm>
          <a:prstGeom prst="rect">
            <a:avLst/>
          </a:prstGeom>
          <a:noFill/>
          <a:ln/>
        </p:spPr>
        <p:txBody>
          <a:bodyPr wrap="square" lIns="0" tIns="0" rIns="0" bIns="0" rtlCol="0" anchor="t"/>
          <a:lstStyle/>
          <a:p>
            <a:pPr indent="0" marL="0">
              <a:buNone/>
            </a:pPr>
            <a:r>
              <a:rPr lang="en-US" sz="1600" dirty="0">
                <a:solidFill>
                  <a:schemeClr val="tx1"/>
                </a:solidFill>
              </a:rPr>
              <a:t>Ask for a recommendation, then decide</a:t>
            </a:r>
            <a:endParaRPr lang="en-US" sz="1600" dirty="0"/>
          </a:p>
        </p:txBody>
      </p:sp>
      <p:sp>
        <p:nvSpPr>
          <p:cNvPr id="21"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22"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23" name="Text 19"/>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24" name="Text 20"/>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You've found three problems, one per vendor, and can name the policy section for each.</a:t>
            </a:r>
            <a:endParaRPr lang="en-US" sz="1600" dirty="0"/>
          </a:p>
        </p:txBody>
      </p:sp>
      <p:sp>
        <p:nvSpPr>
          <p:cNvPr id="25" name="Divider line"/>
          <p:cNvSpPr/>
          <p:nvPr/>
        </p:nvSpPr>
        <p:spPr>
          <a:xfrm>
            <a:off x="7909560" y="4983480"/>
            <a:ext cx="3429000" cy="0"/>
          </a:xfrm>
          <a:prstGeom prst="line">
            <a:avLst/>
          </a:prstGeom>
          <a:noFill/>
          <a:ln w="12700">
            <a:solidFill>
              <a:srgbClr val="E0E0E0"/>
            </a:solidFill>
            <a:prstDash val="solid"/>
          </a:ln>
        </p:spPr>
      </p:sp>
      <p:sp>
        <p:nvSpPr>
          <p:cNvPr id="26" name="Text 22"/>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04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Debrief  |  Chapter 04</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Check your findings</a:t>
            </a:r>
            <a:endParaRPr lang="en-US" sz="3200" dirty="0"/>
          </a:p>
        </p:txBody>
      </p:sp>
      <p:pic>
        <p:nvPicPr>
          <p:cNvPr id="5" name="Image 0" descr="preencoded.png">    </p:cNvPr>
          <p:cNvPicPr>
            <a:picLocks noChangeAspect="1"/>
          </p:cNvPicPr>
          <p:nvPr/>
        </p:nvPicPr>
        <p:blipFill>
          <a:blip r:embed="rId1"/>
          <a:stretch>
            <a:fillRect/>
          </a:stretch>
        </p:blipFill>
        <p:spPr>
          <a:xfrm>
            <a:off x="548640" y="1783080"/>
            <a:ext cx="502920" cy="502920"/>
          </a:xfrm>
          <a:prstGeom prst="rect">
            <a:avLst/>
          </a:prstGeom>
        </p:spPr>
      </p:pic>
      <p:sp>
        <p:nvSpPr>
          <p:cNvPr id="6" name="Text 2"/>
          <p:cNvSpPr txBox="1"/>
          <p:nvPr/>
        </p:nvSpPr>
        <p:spPr>
          <a:xfrm>
            <a:off x="548640" y="2514600"/>
            <a:ext cx="34442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The numbers</a:t>
            </a:r>
            <a:endParaRPr lang="en-US" sz="2000" dirty="0"/>
          </a:p>
        </p:txBody>
      </p:sp>
      <p:sp>
        <p:nvSpPr>
          <p:cNvPr id="7" name="Text 3"/>
          <p:cNvSpPr txBox="1"/>
          <p:nvPr/>
        </p:nvSpPr>
        <p:spPr>
          <a:xfrm>
            <a:off x="548640" y="3337560"/>
            <a:ext cx="3352800" cy="914400"/>
          </a:xfrm>
          <a:prstGeom prst="rect">
            <a:avLst/>
          </a:prstGeom>
          <a:noFill/>
          <a:ln/>
        </p:spPr>
        <p:txBody>
          <a:bodyPr wrap="square" lIns="0" tIns="0" rIns="0" bIns="0" rtlCol="0" anchor="t"/>
          <a:lstStyle/>
          <a:p>
            <a:pPr indent="0" marL="0">
              <a:buNone/>
            </a:pPr>
            <a:r>
              <a:rPr lang="en-US" sz="1600" dirty="0">
                <a:solidFill>
                  <a:schemeClr val="tx1"/>
                </a:solidFill>
              </a:rPr>
              <a:t>Which quotation has a problem with its figures?</a:t>
            </a:r>
            <a:endParaRPr lang="en-US" sz="1600" dirty="0"/>
          </a:p>
        </p:txBody>
      </p:sp>
      <p:pic>
        <p:nvPicPr>
          <p:cNvPr id="8" name="Image 1" descr="preencoded.png">    </p:cNvPr>
          <p:cNvPicPr>
            <a:picLocks noChangeAspect="1"/>
          </p:cNvPicPr>
          <p:nvPr/>
        </p:nvPicPr>
        <p:blipFill>
          <a:blip r:embed="rId2"/>
          <a:stretch>
            <a:fillRect/>
          </a:stretch>
        </p:blipFill>
        <p:spPr>
          <a:xfrm>
            <a:off x="4358640" y="1783080"/>
            <a:ext cx="502920" cy="502920"/>
          </a:xfrm>
          <a:prstGeom prst="rect">
            <a:avLst/>
          </a:prstGeom>
        </p:spPr>
      </p:pic>
      <p:sp>
        <p:nvSpPr>
          <p:cNvPr id="9" name="Text 4"/>
          <p:cNvSpPr txBox="1"/>
          <p:nvPr/>
        </p:nvSpPr>
        <p:spPr>
          <a:xfrm>
            <a:off x="4358640" y="2514600"/>
            <a:ext cx="34442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The dates</a:t>
            </a:r>
            <a:endParaRPr lang="en-US" sz="2000" dirty="0"/>
          </a:p>
        </p:txBody>
      </p:sp>
      <p:sp>
        <p:nvSpPr>
          <p:cNvPr id="10" name="Text 5"/>
          <p:cNvSpPr txBox="1"/>
          <p:nvPr/>
        </p:nvSpPr>
        <p:spPr>
          <a:xfrm>
            <a:off x="4358640" y="3337560"/>
            <a:ext cx="3352800" cy="914400"/>
          </a:xfrm>
          <a:prstGeom prst="rect">
            <a:avLst/>
          </a:prstGeom>
          <a:noFill/>
          <a:ln/>
        </p:spPr>
        <p:txBody>
          <a:bodyPr wrap="square" lIns="0" tIns="0" rIns="0" bIns="0" rtlCol="0" anchor="t"/>
          <a:lstStyle/>
          <a:p>
            <a:pPr indent="0" marL="0">
              <a:buNone/>
            </a:pPr>
            <a:r>
              <a:rPr lang="en-US" sz="1600" dirty="0">
                <a:solidFill>
                  <a:schemeClr val="tx1"/>
                </a:solidFill>
              </a:rPr>
              <a:t>Which quotation has a problem with its dates?</a:t>
            </a:r>
            <a:endParaRPr lang="en-US" sz="1600" dirty="0"/>
          </a:p>
        </p:txBody>
      </p:sp>
      <p:pic>
        <p:nvPicPr>
          <p:cNvPr id="11" name="Image 2" descr="preencoded.png">    </p:cNvPr>
          <p:cNvPicPr>
            <a:picLocks noChangeAspect="1"/>
          </p:cNvPicPr>
          <p:nvPr/>
        </p:nvPicPr>
        <p:blipFill>
          <a:blip r:embed="rId3"/>
          <a:stretch>
            <a:fillRect/>
          </a:stretch>
        </p:blipFill>
        <p:spPr>
          <a:xfrm>
            <a:off x="8168640" y="1783080"/>
            <a:ext cx="502920" cy="502920"/>
          </a:xfrm>
          <a:prstGeom prst="rect">
            <a:avLst/>
          </a:prstGeom>
        </p:spPr>
      </p:pic>
      <p:sp>
        <p:nvSpPr>
          <p:cNvPr id="12" name="Text 6"/>
          <p:cNvSpPr txBox="1"/>
          <p:nvPr/>
        </p:nvSpPr>
        <p:spPr>
          <a:xfrm>
            <a:off x="8168640" y="2514600"/>
            <a:ext cx="34442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What's included</a:t>
            </a:r>
            <a:endParaRPr lang="en-US" sz="2000" dirty="0"/>
          </a:p>
        </p:txBody>
      </p:sp>
      <p:sp>
        <p:nvSpPr>
          <p:cNvPr id="13" name="Text 7"/>
          <p:cNvSpPr txBox="1"/>
          <p:nvPr/>
        </p:nvSpPr>
        <p:spPr>
          <a:xfrm>
            <a:off x="8168640" y="3337560"/>
            <a:ext cx="3352800" cy="914400"/>
          </a:xfrm>
          <a:prstGeom prst="rect">
            <a:avLst/>
          </a:prstGeom>
          <a:noFill/>
          <a:ln/>
        </p:spPr>
        <p:txBody>
          <a:bodyPr wrap="square" lIns="0" tIns="0" rIns="0" bIns="0" rtlCol="0" anchor="t"/>
          <a:lstStyle/>
          <a:p>
            <a:pPr indent="0" marL="0">
              <a:buNone/>
            </a:pPr>
            <a:r>
              <a:rPr lang="en-US" sz="1600" dirty="0">
                <a:solidFill>
                  <a:schemeClr val="tx1"/>
                </a:solidFill>
              </a:rPr>
              <a:t>Which quotation doesn't quote for the same thing?</a:t>
            </a:r>
            <a:endParaRPr lang="en-US" sz="1600" dirty="0"/>
          </a:p>
        </p:txBody>
      </p:sp>
      <p:sp>
        <p:nvSpPr>
          <p:cNvPr id="14" name="Follow-up question"/>
          <p:cNvSpPr/>
          <p:nvPr/>
        </p:nvSpPr>
        <p:spPr>
          <a:xfrm>
            <a:off x="548640" y="4572000"/>
            <a:ext cx="11064240" cy="1371600"/>
          </a:xfrm>
          <a:prstGeom prst="roundRect">
            <a:avLst>
              <a:gd name="adj" fmla="val 6667"/>
            </a:avLst>
          </a:prstGeom>
          <a:solidFill>
            <a:schemeClr val="tx2"/>
          </a:solidFill>
          <a:ln/>
        </p:spPr>
      </p:sp>
      <p:sp>
        <p:nvSpPr>
          <p:cNvPr id="15" name="Text 9"/>
          <p:cNvSpPr txBox="1"/>
          <p:nvPr/>
        </p:nvSpPr>
        <p:spPr>
          <a:xfrm>
            <a:off x="914400" y="4572000"/>
            <a:ext cx="10424160" cy="1371600"/>
          </a:xfrm>
          <a:prstGeom prst="rect">
            <a:avLst/>
          </a:prstGeom>
          <a:noFill/>
          <a:ln/>
        </p:spPr>
        <p:txBody>
          <a:bodyPr wrap="square" lIns="0" tIns="0" rIns="0" bIns="0" rtlCol="0" anchor="ctr"/>
          <a:lstStyle/>
          <a:p>
            <a:pPr indent="0" marL="0">
              <a:buNone/>
            </a:pPr>
            <a:r>
              <a:rPr lang="en-US" sz="2200" dirty="0">
                <a:solidFill>
                  <a:schemeClr val="bg1"/>
                </a:solidFill>
                <a:latin typeface="Segoe UI Semibold" pitchFamily="34" charset="0"/>
                <a:ea typeface="Segoe UI Semibold" pitchFamily="34" charset="-122"/>
                <a:cs typeface="Segoe UI Semibold" pitchFamily="34" charset="-120"/>
              </a:rPr>
              <a:t>For each problem: which policy section applies, and what must the vendor do to fix it?</a:t>
            </a:r>
            <a:endParaRPr lang="en-US" sz="2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05</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Chase vendors with Copilot in Outlook</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Chase  |  45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three vendor emails in your inbox, a summary of one thread, and two reply drafts.</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05</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What Copilot in Outlook does with Basic</a:t>
            </a:r>
            <a:endParaRPr lang="en-US" sz="3200" dirty="0"/>
          </a:p>
        </p:txBody>
      </p:sp>
      <p:pic>
        <p:nvPicPr>
          <p:cNvPr id="5" name="Image 0" descr="_design/deck/bg/panel.jpg">    </p:cNvPr>
          <p:cNvPicPr>
            <a:picLocks noChangeAspect="1"/>
          </p:cNvPicPr>
          <p:nvPr/>
        </p:nvPicPr>
        <p:blipFill>
          <a:blip r:embed="rId1"/>
          <a:srcRect l="0" r="0" t="0" b="0"/>
          <a:stretch/>
        </p:blipFill>
        <p:spPr>
          <a:xfrm>
            <a:off x="548640" y="1783080"/>
            <a:ext cx="6949440" cy="3909060"/>
          </a:xfrm>
          <a:prstGeom prst="rect">
            <a:avLst/>
          </a:prstGeom>
        </p:spPr>
      </p:pic>
      <p:sp>
        <p:nvSpPr>
          <p:cNvPr id="6" name="Screenshot frame"/>
          <p:cNvSpPr/>
          <p:nvPr/>
        </p:nvSpPr>
        <p:spPr>
          <a:xfrm>
            <a:off x="804672" y="1927098"/>
            <a:ext cx="6437376" cy="3621024"/>
          </a:xfrm>
          <a:prstGeom prst="rect">
            <a:avLst/>
          </a:prstGeom>
          <a:solidFill>
            <a:schemeClr val="bg1"/>
          </a:solidFill>
          <a:ln w="9525">
            <a:solidFill>
              <a:srgbClr val="E0E0E0"/>
            </a:solidFill>
            <a:prstDash val="solid"/>
          </a:ln>
          <a:effectLst>
            <a:outerShdw sx="100000" sy="100000" kx="0" ky="0" algn="bl" rotWithShape="0" blurRad="203200" dist="50800" dir="5400000">
              <a:srgbClr val="1B2A4A">
                <a:alpha val="25000"/>
              </a:srgbClr>
            </a:outerShdw>
          </a:effectLst>
        </p:spPr>
      </p:sp>
      <p:pic>
        <p:nvPicPr>
          <p:cNvPr id="7" name="Image 1" descr="Outlook on the web with Summarize this email and the Copilot pane showing a thread summary">    </p:cNvPr>
          <p:cNvPicPr>
            <a:picLocks noChangeAspect="1"/>
          </p:cNvPicPr>
          <p:nvPr/>
        </p:nvPicPr>
        <p:blipFill>
          <a:blip r:embed="rId2"/>
          <a:stretch>
            <a:fillRect/>
          </a:stretch>
        </p:blipFill>
        <p:spPr>
          <a:xfrm>
            <a:off x="804672" y="1927098"/>
            <a:ext cx="6437376" cy="3621024"/>
          </a:xfrm>
          <a:prstGeom prst="rect">
            <a:avLst/>
          </a:prstGeom>
        </p:spPr>
      </p:pic>
      <p:sp>
        <p:nvSpPr>
          <p:cNvPr id="8" name="Text 3"/>
          <p:cNvSpPr txBox="1"/>
          <p:nvPr/>
        </p:nvSpPr>
        <p:spPr>
          <a:xfrm>
            <a:off x="7909560" y="1783080"/>
            <a:ext cx="3749040" cy="86868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Summarize this email</a:t>
            </a:r>
            <a:endParaRPr lang="en-US" sz="1600" dirty="0"/>
          </a:p>
          <a:p>
            <a:pPr indent="0" marL="0">
              <a:buNone/>
            </a:pPr>
            <a:r>
              <a:rPr lang="en-US" sz="1600" dirty="0">
                <a:solidFill>
                  <a:schemeClr val="accent4"/>
                </a:solidFill>
              </a:rPr>
              <a:t>Opens the Copilot pane with key points</a:t>
            </a:r>
            <a:endParaRPr lang="en-US" sz="1600" dirty="0"/>
          </a:p>
        </p:txBody>
      </p:sp>
      <p:sp>
        <p:nvSpPr>
          <p:cNvPr id="9" name="Text 4"/>
          <p:cNvSpPr txBox="1"/>
          <p:nvPr/>
        </p:nvSpPr>
        <p:spPr>
          <a:xfrm>
            <a:off x="7909560" y="2761488"/>
            <a:ext cx="3749040" cy="86868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Ask about it</a:t>
            </a:r>
            <a:endParaRPr lang="en-US" sz="1600" dirty="0"/>
          </a:p>
          <a:p>
            <a:pPr indent="0" marL="0">
              <a:buNone/>
            </a:pPr>
            <a:r>
              <a:rPr lang="en-US" sz="1600" dirty="0">
                <a:solidFill>
                  <a:schemeClr val="accent4"/>
                </a:solidFill>
              </a:rPr>
              <a:t>Answers come from the open email only</a:t>
            </a:r>
            <a:endParaRPr lang="en-US" sz="1600" dirty="0"/>
          </a:p>
        </p:txBody>
      </p:sp>
      <p:sp>
        <p:nvSpPr>
          <p:cNvPr id="10" name="Text 5"/>
          <p:cNvSpPr txBox="1"/>
          <p:nvPr/>
        </p:nvSpPr>
        <p:spPr>
          <a:xfrm>
            <a:off x="7909560" y="3739896"/>
            <a:ext cx="3749040" cy="86868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Draft in the pane</a:t>
            </a:r>
            <a:endParaRPr lang="en-US" sz="1600" dirty="0"/>
          </a:p>
          <a:p>
            <a:pPr indent="0" marL="0">
              <a:buNone/>
            </a:pPr>
            <a:r>
              <a:rPr lang="en-US" sz="1600" dirty="0">
                <a:solidFill>
                  <a:schemeClr val="accent4"/>
                </a:solidFill>
              </a:rPr>
              <a:t>Copy the text into your reply</a:t>
            </a:r>
            <a:endParaRPr lang="en-US" sz="1600" dirty="0"/>
          </a:p>
        </p:txBody>
      </p:sp>
      <p:sp>
        <p:nvSpPr>
          <p:cNvPr id="11" name="Text 6"/>
          <p:cNvSpPr txBox="1"/>
          <p:nvPr/>
        </p:nvSpPr>
        <p:spPr>
          <a:xfrm>
            <a:off x="7909560" y="4718304"/>
            <a:ext cx="3749040" cy="868680"/>
          </a:xfrm>
          <a:prstGeom prst="rect">
            <a:avLst/>
          </a:prstGeom>
          <a:noFill/>
          <a:ln/>
        </p:spPr>
        <p:txBody>
          <a:bodyPr wrap="square" lIns="0" tIns="0" rIns="0" bIns="0" rtlCol="0" anchor="t"/>
          <a:lstStyle/>
          <a:p>
            <a:pPr indent="0" marL="0">
              <a:buNone/>
            </a:pPr>
            <a:r>
              <a:rPr lang="en-US" sz="1600" dirty="0">
                <a:solidFill>
                  <a:schemeClr val="accent4"/>
                </a:solidFill>
                <a:latin typeface="Segoe UI Semibold" pitchFamily="34" charset="0"/>
                <a:ea typeface="Segoe UI Semibold" pitchFamily="34" charset="-122"/>
                <a:cs typeface="Segoe UI Semibold" pitchFamily="34" charset="-120"/>
              </a:rPr>
              <a:t>Not on Basic</a:t>
            </a:r>
            <a:endParaRPr lang="en-US" sz="1600" dirty="0"/>
          </a:p>
          <a:p>
            <a:pPr indent="0" marL="0">
              <a:buNone/>
            </a:pPr>
            <a:r>
              <a:rPr lang="en-US" sz="1600" dirty="0">
                <a:solidFill>
                  <a:schemeClr val="accent4"/>
                </a:solidFill>
              </a:rPr>
              <a:t>Draft with Copilot in compose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731520" y="2011680"/>
            <a:ext cx="10241280" cy="1828800"/>
          </a:xfrm>
          <a:prstGeom prst="rect">
            <a:avLst/>
          </a:prstGeom>
          <a:noFill/>
          <a:ln/>
        </p:spPr>
        <p:txBody>
          <a:bodyPr wrap="square" lIns="0" tIns="0" rIns="0" bIns="0" rtlCol="0" anchor="b"/>
          <a:lstStyle/>
          <a:p>
            <a:pPr algn="l" indent="0" marL="0">
              <a:buNone/>
            </a:pPr>
            <a:r>
              <a:rPr lang="en-US" sz="4000" dirty="0">
                <a:solidFill>
                  <a:schemeClr val="accent1"/>
                </a:solidFill>
              </a:rPr>
              <a:t>Always ask what Copilot was looking at.</a:t>
            </a:r>
            <a:endParaRPr lang="en-US" sz="4000" dirty="0"/>
          </a:p>
        </p:txBody>
      </p:sp>
      <p:sp>
        <p:nvSpPr>
          <p:cNvPr id="3" name="Text 0"/>
          <p:cNvSpPr/>
          <p:nvPr>
            <p:ph idx="102" type="body" hasCustomPrompt="1"/>
          </p:nvPr>
        </p:nvSpPr>
        <p:spPr>
          <a:xfrm>
            <a:off x="731520" y="4069080"/>
            <a:ext cx="9601200" cy="914400"/>
          </a:xfrm>
          <a:prstGeom prst="rect">
            <a:avLst/>
          </a:prstGeom>
          <a:noFill/>
          <a:ln/>
        </p:spPr>
        <p:txBody>
          <a:bodyPr wrap="square" lIns="0" tIns="0" rIns="0" bIns="0" rtlCol="0" anchor="t"/>
          <a:lstStyle/>
          <a:p>
            <a:pPr indent="0" marL="0">
              <a:buNone/>
            </a:pPr>
            <a:r>
              <a:rPr lang="en-US" sz="2000" dirty="0">
                <a:solidFill>
                  <a:schemeClr val="accent4"/>
                </a:solidFill>
              </a:rPr>
              <a:t>An answer that looks complete may only cover the email you had open.</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05</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Summarise, ask and draft</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Send the three vendor emails to yourself</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5.3</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Summarise the Seri Mutiara thread</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5.4</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Ask Copilot a question about the open email</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5.5</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Draft a request for a revalidated quotation</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5.6</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Draft a request to correct a total</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Two drafts you've read line by line. Check names, numbers and any promise made on your behalf.</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05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06</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From chat to Pages</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Draft  |  40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Copilot Page with the checked comparison and the justification memo, exported as Word and PDF.</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06</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Long chats drift</a:t>
            </a:r>
            <a:endParaRPr lang="en-US" sz="3200" dirty="0"/>
          </a:p>
        </p:txBody>
      </p:sp>
      <p:sp>
        <p:nvSpPr>
          <p:cNvPr id="5" name="Text 2"/>
          <p:cNvSpPr txBox="1"/>
          <p:nvPr/>
        </p:nvSpPr>
        <p:spPr>
          <a:xfrm>
            <a:off x="548640" y="1783080"/>
            <a:ext cx="2560320" cy="3200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Round 1</a:t>
            </a:r>
            <a:endParaRPr lang="en-US" sz="1400" dirty="0"/>
          </a:p>
        </p:txBody>
      </p:sp>
      <p:sp>
        <p:nvSpPr>
          <p:cNvPr id="6" name="Text 3"/>
          <p:cNvSpPr txBox="1"/>
          <p:nvPr/>
        </p:nvSpPr>
        <p:spPr>
          <a:xfrm>
            <a:off x="548640" y="2103120"/>
            <a:ext cx="2560320" cy="6858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Your checked table</a:t>
            </a:r>
            <a:endParaRPr lang="en-US" sz="1800" dirty="0"/>
          </a:p>
        </p:txBody>
      </p:sp>
      <p:sp>
        <p:nvSpPr>
          <p:cNvPr id="7" name="Divider line"/>
          <p:cNvSpPr/>
          <p:nvPr/>
        </p:nvSpPr>
        <p:spPr>
          <a:xfrm>
            <a:off x="548640" y="2880360"/>
            <a:ext cx="2560320" cy="0"/>
          </a:xfrm>
          <a:prstGeom prst="line">
            <a:avLst/>
          </a:prstGeom>
          <a:noFill/>
          <a:ln w="12700">
            <a:solidFill>
              <a:srgbClr val="E0E0E0"/>
            </a:solidFill>
            <a:prstDash val="solid"/>
          </a:ln>
        </p:spPr>
      </p:sp>
      <p:pic>
        <p:nvPicPr>
          <p:cNvPr id="8" name="Image 0" descr="preencoded.png">    </p:cNvPr>
          <p:cNvPicPr>
            <a:picLocks noChangeAspect="1"/>
          </p:cNvPicPr>
          <p:nvPr/>
        </p:nvPicPr>
        <p:blipFill>
          <a:blip r:embed="rId1"/>
          <a:stretch>
            <a:fillRect/>
          </a:stretch>
        </p:blipFill>
        <p:spPr>
          <a:xfrm>
            <a:off x="548640" y="3063240"/>
            <a:ext cx="292608" cy="292608"/>
          </a:xfrm>
          <a:prstGeom prst="rect">
            <a:avLst/>
          </a:prstGeom>
        </p:spPr>
      </p:pic>
      <p:sp>
        <p:nvSpPr>
          <p:cNvPr id="9" name="Text 5"/>
          <p:cNvSpPr txBox="1"/>
          <p:nvPr/>
        </p:nvSpPr>
        <p:spPr>
          <a:xfrm>
            <a:off x="960120" y="3017520"/>
            <a:ext cx="2103120" cy="411480"/>
          </a:xfrm>
          <a:prstGeom prst="rect">
            <a:avLst/>
          </a:prstGeom>
          <a:noFill/>
          <a:ln/>
        </p:spPr>
        <p:txBody>
          <a:bodyPr wrap="square" lIns="0" tIns="0" rIns="0" bIns="0" rtlCol="0" anchor="ctr"/>
          <a:lstStyle/>
          <a:p>
            <a:pPr indent="0" marL="0">
              <a:buNone/>
            </a:pPr>
            <a:r>
              <a:rPr lang="en-US" sz="1500" dirty="0">
                <a:solidFill>
                  <a:schemeClr val="tx1"/>
                </a:solidFill>
              </a:rPr>
              <a:t>Corrected total</a:t>
            </a:r>
            <a:endParaRPr lang="en-US" sz="1500" dirty="0"/>
          </a:p>
        </p:txBody>
      </p:sp>
      <p:pic>
        <p:nvPicPr>
          <p:cNvPr id="10" name="Image 1" descr="preencoded.png">    </p:cNvPr>
          <p:cNvPicPr>
            <a:picLocks noChangeAspect="1"/>
          </p:cNvPicPr>
          <p:nvPr/>
        </p:nvPicPr>
        <p:blipFill>
          <a:blip r:embed="rId2"/>
          <a:stretch>
            <a:fillRect/>
          </a:stretch>
        </p:blipFill>
        <p:spPr>
          <a:xfrm>
            <a:off x="548640" y="3611880"/>
            <a:ext cx="292608" cy="292608"/>
          </a:xfrm>
          <a:prstGeom prst="rect">
            <a:avLst/>
          </a:prstGeom>
        </p:spPr>
      </p:pic>
      <p:sp>
        <p:nvSpPr>
          <p:cNvPr id="11" name="Text 6"/>
          <p:cNvSpPr txBox="1"/>
          <p:nvPr/>
        </p:nvSpPr>
        <p:spPr>
          <a:xfrm>
            <a:off x="960120" y="3566160"/>
            <a:ext cx="2103120" cy="411480"/>
          </a:xfrm>
          <a:prstGeom prst="rect">
            <a:avLst/>
          </a:prstGeom>
          <a:noFill/>
          <a:ln/>
        </p:spPr>
        <p:txBody>
          <a:bodyPr wrap="square" lIns="0" tIns="0" rIns="0" bIns="0" rtlCol="0" anchor="ctr"/>
          <a:lstStyle/>
          <a:p>
            <a:pPr indent="0" marL="0">
              <a:buNone/>
            </a:pPr>
            <a:r>
              <a:rPr lang="en-US" sz="1500" dirty="0">
                <a:solidFill>
                  <a:schemeClr val="tx1"/>
                </a:solidFill>
              </a:rPr>
              <a:t>Validity</a:t>
            </a:r>
            <a:endParaRPr lang="en-US" sz="1500" dirty="0"/>
          </a:p>
        </p:txBody>
      </p:sp>
      <p:pic>
        <p:nvPicPr>
          <p:cNvPr id="12" name="Image 2" descr="preencoded.png">    </p:cNvPr>
          <p:cNvPicPr>
            <a:picLocks noChangeAspect="1"/>
          </p:cNvPicPr>
          <p:nvPr/>
        </p:nvPicPr>
        <p:blipFill>
          <a:blip r:embed="rId3"/>
          <a:stretch>
            <a:fillRect/>
          </a:stretch>
        </p:blipFill>
        <p:spPr>
          <a:xfrm>
            <a:off x="548640" y="4160520"/>
            <a:ext cx="292608" cy="292608"/>
          </a:xfrm>
          <a:prstGeom prst="rect">
            <a:avLst/>
          </a:prstGeom>
        </p:spPr>
      </p:pic>
      <p:sp>
        <p:nvSpPr>
          <p:cNvPr id="13" name="Text 7"/>
          <p:cNvSpPr txBox="1"/>
          <p:nvPr/>
        </p:nvSpPr>
        <p:spPr>
          <a:xfrm>
            <a:off x="960120" y="4114800"/>
            <a:ext cx="2103120" cy="411480"/>
          </a:xfrm>
          <a:prstGeom prst="rect">
            <a:avLst/>
          </a:prstGeom>
          <a:noFill/>
          <a:ln/>
        </p:spPr>
        <p:txBody>
          <a:bodyPr wrap="square" lIns="0" tIns="0" rIns="0" bIns="0" rtlCol="0" anchor="ctr"/>
          <a:lstStyle/>
          <a:p>
            <a:pPr indent="0" marL="0">
              <a:buNone/>
            </a:pPr>
            <a:r>
              <a:rPr lang="en-US" sz="1500" dirty="0">
                <a:solidFill>
                  <a:schemeClr val="tx1"/>
                </a:solidFill>
              </a:rPr>
              <a:t>Warranty adjustment</a:t>
            </a:r>
            <a:endParaRPr lang="en-US" sz="1500" dirty="0"/>
          </a:p>
        </p:txBody>
      </p:sp>
      <p:sp>
        <p:nvSpPr>
          <p:cNvPr id="14" name="Text 8"/>
          <p:cNvSpPr txBox="1"/>
          <p:nvPr/>
        </p:nvSpPr>
        <p:spPr>
          <a:xfrm>
            <a:off x="3383280" y="1783080"/>
            <a:ext cx="2560320" cy="3200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Round 2</a:t>
            </a:r>
            <a:endParaRPr lang="en-US" sz="1400" dirty="0"/>
          </a:p>
        </p:txBody>
      </p:sp>
      <p:sp>
        <p:nvSpPr>
          <p:cNvPr id="15" name="Text 9"/>
          <p:cNvSpPr txBox="1"/>
          <p:nvPr/>
        </p:nvSpPr>
        <p:spPr>
          <a:xfrm>
            <a:off x="3383280" y="2103120"/>
            <a:ext cx="2560320" cy="6858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"Shorten it to 8 rows"</a:t>
            </a:r>
            <a:endParaRPr lang="en-US" sz="1800" dirty="0"/>
          </a:p>
        </p:txBody>
      </p:sp>
      <p:sp>
        <p:nvSpPr>
          <p:cNvPr id="16" name="Divider line"/>
          <p:cNvSpPr/>
          <p:nvPr/>
        </p:nvSpPr>
        <p:spPr>
          <a:xfrm>
            <a:off x="3383280" y="2880360"/>
            <a:ext cx="2560320" cy="0"/>
          </a:xfrm>
          <a:prstGeom prst="line">
            <a:avLst/>
          </a:prstGeom>
          <a:noFill/>
          <a:ln w="12700">
            <a:solidFill>
              <a:srgbClr val="E0E0E0"/>
            </a:solidFill>
            <a:prstDash val="solid"/>
          </a:ln>
        </p:spPr>
      </p:sp>
      <p:pic>
        <p:nvPicPr>
          <p:cNvPr id="17" name="Image 3" descr="preencoded.png">    </p:cNvPr>
          <p:cNvPicPr>
            <a:picLocks noChangeAspect="1"/>
          </p:cNvPicPr>
          <p:nvPr/>
        </p:nvPicPr>
        <p:blipFill>
          <a:blip r:embed="rId4"/>
          <a:stretch>
            <a:fillRect/>
          </a:stretch>
        </p:blipFill>
        <p:spPr>
          <a:xfrm>
            <a:off x="3383280" y="3063240"/>
            <a:ext cx="292608" cy="292608"/>
          </a:xfrm>
          <a:prstGeom prst="rect">
            <a:avLst/>
          </a:prstGeom>
        </p:spPr>
      </p:pic>
      <p:sp>
        <p:nvSpPr>
          <p:cNvPr id="18" name="Text 11"/>
          <p:cNvSpPr txBox="1"/>
          <p:nvPr/>
        </p:nvSpPr>
        <p:spPr>
          <a:xfrm>
            <a:off x="3794760" y="3017520"/>
            <a:ext cx="2103120" cy="411480"/>
          </a:xfrm>
          <a:prstGeom prst="rect">
            <a:avLst/>
          </a:prstGeom>
          <a:noFill/>
          <a:ln/>
        </p:spPr>
        <p:txBody>
          <a:bodyPr wrap="square" lIns="0" tIns="0" rIns="0" bIns="0" rtlCol="0" anchor="ctr"/>
          <a:lstStyle/>
          <a:p>
            <a:pPr indent="0" marL="0">
              <a:buNone/>
            </a:pPr>
            <a:r>
              <a:rPr lang="en-US" sz="1500" dirty="0">
                <a:solidFill>
                  <a:schemeClr val="tx1"/>
                </a:solidFill>
              </a:rPr>
              <a:t>Corrected total</a:t>
            </a:r>
            <a:endParaRPr lang="en-US" sz="1500" dirty="0"/>
          </a:p>
        </p:txBody>
      </p:sp>
      <p:pic>
        <p:nvPicPr>
          <p:cNvPr id="19" name="Image 4" descr="preencoded.png">    </p:cNvPr>
          <p:cNvPicPr>
            <a:picLocks noChangeAspect="1"/>
          </p:cNvPicPr>
          <p:nvPr/>
        </p:nvPicPr>
        <p:blipFill>
          <a:blip r:embed="rId5"/>
          <a:stretch>
            <a:fillRect/>
          </a:stretch>
        </p:blipFill>
        <p:spPr>
          <a:xfrm>
            <a:off x="3383280" y="3611880"/>
            <a:ext cx="292608" cy="292608"/>
          </a:xfrm>
          <a:prstGeom prst="rect">
            <a:avLst/>
          </a:prstGeom>
        </p:spPr>
      </p:pic>
      <p:sp>
        <p:nvSpPr>
          <p:cNvPr id="20" name="Text 12"/>
          <p:cNvSpPr txBox="1"/>
          <p:nvPr/>
        </p:nvSpPr>
        <p:spPr>
          <a:xfrm>
            <a:off x="3794760" y="3566160"/>
            <a:ext cx="2103120" cy="411480"/>
          </a:xfrm>
          <a:prstGeom prst="rect">
            <a:avLst/>
          </a:prstGeom>
          <a:noFill/>
          <a:ln/>
        </p:spPr>
        <p:txBody>
          <a:bodyPr wrap="square" lIns="0" tIns="0" rIns="0" bIns="0" rtlCol="0" anchor="ctr"/>
          <a:lstStyle/>
          <a:p>
            <a:pPr indent="0" marL="0">
              <a:buNone/>
            </a:pPr>
            <a:r>
              <a:rPr lang="en-US" sz="1500" dirty="0">
                <a:solidFill>
                  <a:schemeClr val="tx1"/>
                </a:solidFill>
              </a:rPr>
              <a:t>Validity</a:t>
            </a:r>
            <a:endParaRPr lang="en-US" sz="1500" dirty="0"/>
          </a:p>
        </p:txBody>
      </p:sp>
      <p:pic>
        <p:nvPicPr>
          <p:cNvPr id="21" name="Image 5" descr="preencoded.png">    </p:cNvPr>
          <p:cNvPicPr>
            <a:picLocks noChangeAspect="1"/>
          </p:cNvPicPr>
          <p:nvPr/>
        </p:nvPicPr>
        <p:blipFill>
          <a:blip r:embed="rId6"/>
          <a:stretch>
            <a:fillRect/>
          </a:stretch>
        </p:blipFill>
        <p:spPr>
          <a:xfrm>
            <a:off x="3383280" y="4160520"/>
            <a:ext cx="292608" cy="292608"/>
          </a:xfrm>
          <a:prstGeom prst="rect">
            <a:avLst/>
          </a:prstGeom>
        </p:spPr>
      </p:pic>
      <p:sp>
        <p:nvSpPr>
          <p:cNvPr id="22" name="Text 13"/>
          <p:cNvSpPr txBox="1"/>
          <p:nvPr/>
        </p:nvSpPr>
        <p:spPr>
          <a:xfrm>
            <a:off x="3794760" y="4114800"/>
            <a:ext cx="2103120" cy="411480"/>
          </a:xfrm>
          <a:prstGeom prst="rect">
            <a:avLst/>
          </a:prstGeom>
          <a:noFill/>
          <a:ln/>
        </p:spPr>
        <p:txBody>
          <a:bodyPr wrap="square" lIns="0" tIns="0" rIns="0" bIns="0" rtlCol="0" anchor="ctr"/>
          <a:lstStyle/>
          <a:p>
            <a:pPr indent="0" marL="0">
              <a:buNone/>
            </a:pPr>
            <a:r>
              <a:rPr lang="en-US" sz="1500" dirty="0">
                <a:solidFill>
                  <a:schemeClr val="tx1"/>
                </a:solidFill>
              </a:rPr>
              <a:t>Warranty adjustment</a:t>
            </a:r>
            <a:endParaRPr lang="en-US" sz="1500" dirty="0"/>
          </a:p>
        </p:txBody>
      </p:sp>
      <p:sp>
        <p:nvSpPr>
          <p:cNvPr id="23" name="Text 14"/>
          <p:cNvSpPr txBox="1"/>
          <p:nvPr/>
        </p:nvSpPr>
        <p:spPr>
          <a:xfrm>
            <a:off x="6217920" y="1783080"/>
            <a:ext cx="2560320" cy="3200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Round 3</a:t>
            </a:r>
            <a:endParaRPr lang="en-US" sz="1400" dirty="0"/>
          </a:p>
        </p:txBody>
      </p:sp>
      <p:sp>
        <p:nvSpPr>
          <p:cNvPr id="24" name="Text 15"/>
          <p:cNvSpPr txBox="1"/>
          <p:nvPr/>
        </p:nvSpPr>
        <p:spPr>
          <a:xfrm>
            <a:off x="6217920" y="2103120"/>
            <a:ext cx="2560320" cy="6858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"Make it more formal"</a:t>
            </a:r>
            <a:endParaRPr lang="en-US" sz="1800" dirty="0"/>
          </a:p>
        </p:txBody>
      </p:sp>
      <p:sp>
        <p:nvSpPr>
          <p:cNvPr id="25" name="Divider line"/>
          <p:cNvSpPr/>
          <p:nvPr/>
        </p:nvSpPr>
        <p:spPr>
          <a:xfrm>
            <a:off x="6217920" y="2880360"/>
            <a:ext cx="2560320" cy="0"/>
          </a:xfrm>
          <a:prstGeom prst="line">
            <a:avLst/>
          </a:prstGeom>
          <a:noFill/>
          <a:ln w="12700">
            <a:solidFill>
              <a:srgbClr val="E0E0E0"/>
            </a:solidFill>
            <a:prstDash val="solid"/>
          </a:ln>
        </p:spPr>
      </p:sp>
      <p:pic>
        <p:nvPicPr>
          <p:cNvPr id="26" name="Image 6" descr="preencoded.png">    </p:cNvPr>
          <p:cNvPicPr>
            <a:picLocks noChangeAspect="1"/>
          </p:cNvPicPr>
          <p:nvPr/>
        </p:nvPicPr>
        <p:blipFill>
          <a:blip r:embed="rId7"/>
          <a:stretch>
            <a:fillRect/>
          </a:stretch>
        </p:blipFill>
        <p:spPr>
          <a:xfrm>
            <a:off x="6217920" y="3063240"/>
            <a:ext cx="292608" cy="292608"/>
          </a:xfrm>
          <a:prstGeom prst="rect">
            <a:avLst/>
          </a:prstGeom>
        </p:spPr>
      </p:pic>
      <p:sp>
        <p:nvSpPr>
          <p:cNvPr id="27" name="Text 17"/>
          <p:cNvSpPr txBox="1"/>
          <p:nvPr/>
        </p:nvSpPr>
        <p:spPr>
          <a:xfrm>
            <a:off x="6629400" y="3017520"/>
            <a:ext cx="2103120" cy="411480"/>
          </a:xfrm>
          <a:prstGeom prst="rect">
            <a:avLst/>
          </a:prstGeom>
          <a:noFill/>
          <a:ln/>
        </p:spPr>
        <p:txBody>
          <a:bodyPr wrap="square" lIns="0" tIns="0" rIns="0" bIns="0" rtlCol="0" anchor="ctr"/>
          <a:lstStyle/>
          <a:p>
            <a:pPr indent="0" marL="0">
              <a:buNone/>
            </a:pPr>
            <a:r>
              <a:rPr lang="en-US" sz="1500" dirty="0">
                <a:solidFill>
                  <a:schemeClr val="tx1"/>
                </a:solidFill>
              </a:rPr>
              <a:t>Corrected total</a:t>
            </a:r>
            <a:endParaRPr lang="en-US" sz="1500" dirty="0"/>
          </a:p>
        </p:txBody>
      </p:sp>
      <p:pic>
        <p:nvPicPr>
          <p:cNvPr id="28" name="Image 7" descr="preencoded.png">    </p:cNvPr>
          <p:cNvPicPr>
            <a:picLocks noChangeAspect="1"/>
          </p:cNvPicPr>
          <p:nvPr/>
        </p:nvPicPr>
        <p:blipFill>
          <a:blip r:embed="rId8"/>
          <a:stretch>
            <a:fillRect/>
          </a:stretch>
        </p:blipFill>
        <p:spPr>
          <a:xfrm>
            <a:off x="6217920" y="3611880"/>
            <a:ext cx="292608" cy="292608"/>
          </a:xfrm>
          <a:prstGeom prst="rect">
            <a:avLst/>
          </a:prstGeom>
        </p:spPr>
      </p:pic>
      <p:sp>
        <p:nvSpPr>
          <p:cNvPr id="29" name="Text 18"/>
          <p:cNvSpPr txBox="1"/>
          <p:nvPr/>
        </p:nvSpPr>
        <p:spPr>
          <a:xfrm>
            <a:off x="6629400" y="3566160"/>
            <a:ext cx="2103120" cy="411480"/>
          </a:xfrm>
          <a:prstGeom prst="rect">
            <a:avLst/>
          </a:prstGeom>
          <a:noFill/>
          <a:ln/>
        </p:spPr>
        <p:txBody>
          <a:bodyPr wrap="square" lIns="0" tIns="0" rIns="0" bIns="0" rtlCol="0" anchor="ctr"/>
          <a:lstStyle/>
          <a:p>
            <a:pPr indent="0" marL="0">
              <a:buNone/>
            </a:pPr>
            <a:r>
              <a:rPr lang="en-US" sz="1500" dirty="0">
                <a:solidFill>
                  <a:schemeClr val="tx1"/>
                </a:solidFill>
              </a:rPr>
              <a:t>Validity</a:t>
            </a:r>
            <a:endParaRPr lang="en-US" sz="1500" dirty="0"/>
          </a:p>
        </p:txBody>
      </p:sp>
      <p:pic>
        <p:nvPicPr>
          <p:cNvPr id="30" name="Image 8" descr="preencoded.png">    </p:cNvPr>
          <p:cNvPicPr>
            <a:picLocks noChangeAspect="1"/>
          </p:cNvPicPr>
          <p:nvPr/>
        </p:nvPicPr>
        <p:blipFill>
          <a:blip r:embed="rId9"/>
          <a:stretch>
            <a:fillRect/>
          </a:stretch>
        </p:blipFill>
        <p:spPr>
          <a:xfrm>
            <a:off x="6217920" y="4160520"/>
            <a:ext cx="292608" cy="292608"/>
          </a:xfrm>
          <a:prstGeom prst="rect">
            <a:avLst/>
          </a:prstGeom>
        </p:spPr>
      </p:pic>
      <p:sp>
        <p:nvSpPr>
          <p:cNvPr id="31" name="Text 19"/>
          <p:cNvSpPr txBox="1"/>
          <p:nvPr/>
        </p:nvSpPr>
        <p:spPr>
          <a:xfrm>
            <a:off x="6629400" y="4114800"/>
            <a:ext cx="2103120" cy="411480"/>
          </a:xfrm>
          <a:prstGeom prst="rect">
            <a:avLst/>
          </a:prstGeom>
          <a:noFill/>
          <a:ln/>
        </p:spPr>
        <p:txBody>
          <a:bodyPr wrap="square" lIns="0" tIns="0" rIns="0" bIns="0" rtlCol="0" anchor="ctr"/>
          <a:lstStyle/>
          <a:p>
            <a:pPr indent="0" marL="0">
              <a:buNone/>
            </a:pPr>
            <a:r>
              <a:rPr lang="en-US" sz="1500" strike="sngStrike" dirty="0">
                <a:solidFill>
                  <a:schemeClr val="accent6"/>
                </a:solidFill>
              </a:rPr>
              <a:t>Warranty adjustment</a:t>
            </a:r>
            <a:endParaRPr lang="en-US" sz="1500" dirty="0"/>
          </a:p>
        </p:txBody>
      </p:sp>
      <p:sp>
        <p:nvSpPr>
          <p:cNvPr id="32" name="Text 20"/>
          <p:cNvSpPr txBox="1"/>
          <p:nvPr/>
        </p:nvSpPr>
        <p:spPr>
          <a:xfrm>
            <a:off x="9052560" y="1783080"/>
            <a:ext cx="2560320" cy="320040"/>
          </a:xfrm>
          <a:prstGeom prst="rect">
            <a:avLst/>
          </a:prstGeom>
          <a:noFill/>
          <a:ln/>
        </p:spPr>
        <p:txBody>
          <a:bodyPr wrap="square" lIns="0" tIns="0" rIns="0" bIns="0" rtlCol="0" anchor="t"/>
          <a:lstStyle/>
          <a:p>
            <a:pPr indent="0" marL="0">
              <a:buNone/>
            </a:pPr>
            <a:r>
              <a:rPr lang="en-US" sz="1400" dirty="0">
                <a:solidFill>
                  <a:schemeClr val="accent1"/>
                </a:solidFill>
                <a:latin typeface="Segoe UI Semibold" pitchFamily="34" charset="0"/>
                <a:ea typeface="Segoe UI Semibold" pitchFamily="34" charset="-122"/>
                <a:cs typeface="Segoe UI Semibold" pitchFamily="34" charset="-120"/>
              </a:rPr>
              <a:t>Round 4</a:t>
            </a:r>
            <a:endParaRPr lang="en-US" sz="1400" dirty="0"/>
          </a:p>
        </p:txBody>
      </p:sp>
      <p:sp>
        <p:nvSpPr>
          <p:cNvPr id="33" name="Text 21"/>
          <p:cNvSpPr txBox="1"/>
          <p:nvPr/>
        </p:nvSpPr>
        <p:spPr>
          <a:xfrm>
            <a:off x="9052560" y="2103120"/>
            <a:ext cx="2560320" cy="68580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"Give me the final table"</a:t>
            </a:r>
            <a:endParaRPr lang="en-US" sz="1800" dirty="0"/>
          </a:p>
        </p:txBody>
      </p:sp>
      <p:sp>
        <p:nvSpPr>
          <p:cNvPr id="34" name="Divider line"/>
          <p:cNvSpPr/>
          <p:nvPr/>
        </p:nvSpPr>
        <p:spPr>
          <a:xfrm>
            <a:off x="9052560" y="2880360"/>
            <a:ext cx="2560320" cy="0"/>
          </a:xfrm>
          <a:prstGeom prst="line">
            <a:avLst/>
          </a:prstGeom>
          <a:noFill/>
          <a:ln w="12700">
            <a:solidFill>
              <a:srgbClr val="E0E0E0"/>
            </a:solidFill>
            <a:prstDash val="solid"/>
          </a:ln>
        </p:spPr>
      </p:sp>
      <p:pic>
        <p:nvPicPr>
          <p:cNvPr id="35" name="Image 9" descr="preencoded.png">    </p:cNvPr>
          <p:cNvPicPr>
            <a:picLocks noChangeAspect="1"/>
          </p:cNvPicPr>
          <p:nvPr/>
        </p:nvPicPr>
        <p:blipFill>
          <a:blip r:embed="rId10"/>
          <a:stretch>
            <a:fillRect/>
          </a:stretch>
        </p:blipFill>
        <p:spPr>
          <a:xfrm>
            <a:off x="9052560" y="3063240"/>
            <a:ext cx="292608" cy="292608"/>
          </a:xfrm>
          <a:prstGeom prst="rect">
            <a:avLst/>
          </a:prstGeom>
        </p:spPr>
      </p:pic>
      <p:sp>
        <p:nvSpPr>
          <p:cNvPr id="36" name="Text 23"/>
          <p:cNvSpPr txBox="1"/>
          <p:nvPr/>
        </p:nvSpPr>
        <p:spPr>
          <a:xfrm>
            <a:off x="9464040" y="3017520"/>
            <a:ext cx="2103120" cy="411480"/>
          </a:xfrm>
          <a:prstGeom prst="rect">
            <a:avLst/>
          </a:prstGeom>
          <a:noFill/>
          <a:ln/>
        </p:spPr>
        <p:txBody>
          <a:bodyPr wrap="square" lIns="0" tIns="0" rIns="0" bIns="0" rtlCol="0" anchor="ctr"/>
          <a:lstStyle/>
          <a:p>
            <a:pPr indent="0" marL="0">
              <a:buNone/>
            </a:pPr>
            <a:r>
              <a:rPr lang="en-US" sz="1500" strike="sngStrike" dirty="0">
                <a:solidFill>
                  <a:schemeClr val="accent6"/>
                </a:solidFill>
              </a:rPr>
              <a:t>Corrected total</a:t>
            </a:r>
            <a:endParaRPr lang="en-US" sz="1500" dirty="0"/>
          </a:p>
        </p:txBody>
      </p:sp>
      <p:pic>
        <p:nvPicPr>
          <p:cNvPr id="37" name="Image 10" descr="preencoded.png">    </p:cNvPr>
          <p:cNvPicPr>
            <a:picLocks noChangeAspect="1"/>
          </p:cNvPicPr>
          <p:nvPr/>
        </p:nvPicPr>
        <p:blipFill>
          <a:blip r:embed="rId11"/>
          <a:stretch>
            <a:fillRect/>
          </a:stretch>
        </p:blipFill>
        <p:spPr>
          <a:xfrm>
            <a:off x="9052560" y="3611880"/>
            <a:ext cx="292608" cy="292608"/>
          </a:xfrm>
          <a:prstGeom prst="rect">
            <a:avLst/>
          </a:prstGeom>
        </p:spPr>
      </p:pic>
      <p:sp>
        <p:nvSpPr>
          <p:cNvPr id="38" name="Text 24"/>
          <p:cNvSpPr txBox="1"/>
          <p:nvPr/>
        </p:nvSpPr>
        <p:spPr>
          <a:xfrm>
            <a:off x="9464040" y="3566160"/>
            <a:ext cx="2103120" cy="411480"/>
          </a:xfrm>
          <a:prstGeom prst="rect">
            <a:avLst/>
          </a:prstGeom>
          <a:noFill/>
          <a:ln/>
        </p:spPr>
        <p:txBody>
          <a:bodyPr wrap="square" lIns="0" tIns="0" rIns="0" bIns="0" rtlCol="0" anchor="ctr"/>
          <a:lstStyle/>
          <a:p>
            <a:pPr indent="0" marL="0">
              <a:buNone/>
            </a:pPr>
            <a:r>
              <a:rPr lang="en-US" sz="1500" dirty="0">
                <a:solidFill>
                  <a:schemeClr val="tx1"/>
                </a:solidFill>
              </a:rPr>
              <a:t>Validity</a:t>
            </a:r>
            <a:endParaRPr lang="en-US" sz="1500" dirty="0"/>
          </a:p>
        </p:txBody>
      </p:sp>
      <p:pic>
        <p:nvPicPr>
          <p:cNvPr id="39" name="Image 11" descr="preencoded.png">    </p:cNvPr>
          <p:cNvPicPr>
            <a:picLocks noChangeAspect="1"/>
          </p:cNvPicPr>
          <p:nvPr/>
        </p:nvPicPr>
        <p:blipFill>
          <a:blip r:embed="rId12"/>
          <a:stretch>
            <a:fillRect/>
          </a:stretch>
        </p:blipFill>
        <p:spPr>
          <a:xfrm>
            <a:off x="9052560" y="4160520"/>
            <a:ext cx="292608" cy="292608"/>
          </a:xfrm>
          <a:prstGeom prst="rect">
            <a:avLst/>
          </a:prstGeom>
        </p:spPr>
      </p:pic>
      <p:sp>
        <p:nvSpPr>
          <p:cNvPr id="40" name="Text 25"/>
          <p:cNvSpPr txBox="1"/>
          <p:nvPr/>
        </p:nvSpPr>
        <p:spPr>
          <a:xfrm>
            <a:off x="9464040" y="4114800"/>
            <a:ext cx="2103120" cy="411480"/>
          </a:xfrm>
          <a:prstGeom prst="rect">
            <a:avLst/>
          </a:prstGeom>
          <a:noFill/>
          <a:ln/>
        </p:spPr>
        <p:txBody>
          <a:bodyPr wrap="square" lIns="0" tIns="0" rIns="0" bIns="0" rtlCol="0" anchor="ctr"/>
          <a:lstStyle/>
          <a:p>
            <a:pPr indent="0" marL="0">
              <a:buNone/>
            </a:pPr>
            <a:r>
              <a:rPr lang="en-US" sz="1500" strike="sngStrike" dirty="0">
                <a:solidFill>
                  <a:schemeClr val="accent6"/>
                </a:solidFill>
              </a:rPr>
              <a:t>Warranty adjustment</a:t>
            </a:r>
            <a:endParaRPr lang="en-US" sz="1500" dirty="0"/>
          </a:p>
        </p:txBody>
      </p:sp>
      <p:sp>
        <p:nvSpPr>
          <p:cNvPr id="41" name="Text 26"/>
          <p:cNvSpPr txBox="1"/>
          <p:nvPr/>
        </p:nvSpPr>
        <p:spPr>
          <a:xfrm>
            <a:off x="548640" y="5029200"/>
            <a:ext cx="11064240" cy="82296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When an answer matters, stop changing it in the chat. Ask for one complete version, then move it to a Page.</a:t>
            </a:r>
            <a:endParaRPr lang="en-US" sz="2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06</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From chat to a Page you can share</a:t>
            </a:r>
            <a:endParaRPr lang="en-US" sz="3200" dirty="0"/>
          </a:p>
        </p:txBody>
      </p:sp>
      <p:pic>
        <p:nvPicPr>
          <p:cNvPr id="5" name="Image 0" descr="_design/deck/bg/panel.jpg">    </p:cNvPr>
          <p:cNvPicPr>
            <a:picLocks noChangeAspect="1"/>
          </p:cNvPicPr>
          <p:nvPr/>
        </p:nvPicPr>
        <p:blipFill>
          <a:blip r:embed="rId1"/>
          <a:srcRect l="0" r="0" t="0" b="0"/>
          <a:stretch/>
        </p:blipFill>
        <p:spPr>
          <a:xfrm>
            <a:off x="548640" y="1783080"/>
            <a:ext cx="6949440" cy="3909060"/>
          </a:xfrm>
          <a:prstGeom prst="rect">
            <a:avLst/>
          </a:prstGeom>
        </p:spPr>
      </p:pic>
      <p:sp>
        <p:nvSpPr>
          <p:cNvPr id="6" name="Screenshot frame"/>
          <p:cNvSpPr/>
          <p:nvPr/>
        </p:nvSpPr>
        <p:spPr>
          <a:xfrm>
            <a:off x="804672" y="1927098"/>
            <a:ext cx="6437376" cy="3621024"/>
          </a:xfrm>
          <a:prstGeom prst="rect">
            <a:avLst/>
          </a:prstGeom>
          <a:solidFill>
            <a:schemeClr val="bg1"/>
          </a:solidFill>
          <a:ln w="9525">
            <a:solidFill>
              <a:srgbClr val="E0E0E0"/>
            </a:solidFill>
            <a:prstDash val="solid"/>
          </a:ln>
          <a:effectLst>
            <a:outerShdw sx="100000" sy="100000" kx="0" ky="0" algn="bl" rotWithShape="0" blurRad="203200" dist="50800" dir="5400000">
              <a:srgbClr val="1B2A4A">
                <a:alpha val="25000"/>
              </a:srgbClr>
            </a:outerShdw>
          </a:effectLst>
        </p:spPr>
      </p:sp>
      <p:pic>
        <p:nvPicPr>
          <p:cNvPr id="7" name="Image 1" descr="A Copilot Page with the laptop comparison table, next to the chat">    </p:cNvPr>
          <p:cNvPicPr>
            <a:picLocks noChangeAspect="1"/>
          </p:cNvPicPr>
          <p:nvPr/>
        </p:nvPicPr>
        <p:blipFill>
          <a:blip r:embed="rId2"/>
          <a:stretch>
            <a:fillRect/>
          </a:stretch>
        </p:blipFill>
        <p:spPr>
          <a:xfrm>
            <a:off x="804672" y="1927098"/>
            <a:ext cx="6437376" cy="3621024"/>
          </a:xfrm>
          <a:prstGeom prst="rect">
            <a:avLst/>
          </a:prstGeom>
        </p:spPr>
      </p:pic>
      <p:sp>
        <p:nvSpPr>
          <p:cNvPr id="8" name="Text 3"/>
          <p:cNvSpPr txBox="1"/>
          <p:nvPr/>
        </p:nvSpPr>
        <p:spPr>
          <a:xfrm>
            <a:off x="7909560" y="1783080"/>
            <a:ext cx="411480" cy="978408"/>
          </a:xfrm>
          <a:prstGeom prst="rect">
            <a:avLst/>
          </a:prstGeom>
          <a:noFill/>
          <a:ln/>
        </p:spPr>
        <p:txBody>
          <a:bodyPr wrap="square" lIns="0" tIns="0" rIns="0" bIns="0" rtlCol="0" anchor="t"/>
          <a:lstStyle/>
          <a:p>
            <a:pPr indent="0" marL="0">
              <a:buNone/>
            </a:pPr>
            <a:r>
              <a:rPr lang="en-US" sz="2000" dirty="0">
                <a:solidFill>
                  <a:schemeClr val="accent1"/>
                </a:solidFill>
                <a:latin typeface="Segoe UI Semibold" pitchFamily="34" charset="0"/>
                <a:ea typeface="Segoe UI Semibold" pitchFamily="34" charset="-122"/>
                <a:cs typeface="Segoe UI Semibold" pitchFamily="34" charset="-120"/>
              </a:rPr>
              <a:t>1</a:t>
            </a:r>
            <a:endParaRPr lang="en-US" sz="2000" dirty="0"/>
          </a:p>
        </p:txBody>
      </p:sp>
      <p:sp>
        <p:nvSpPr>
          <p:cNvPr id="9" name="Text 4"/>
          <p:cNvSpPr txBox="1"/>
          <p:nvPr/>
        </p:nvSpPr>
        <p:spPr>
          <a:xfrm>
            <a:off x="8366760" y="1819656"/>
            <a:ext cx="3291840" cy="978408"/>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One complete version</a:t>
            </a:r>
            <a:endParaRPr lang="en-US" sz="1600" dirty="0"/>
          </a:p>
          <a:p>
            <a:pPr indent="0" marL="0">
              <a:buNone/>
            </a:pPr>
            <a:r>
              <a:rPr lang="en-US" sz="1600" dirty="0">
                <a:solidFill>
                  <a:schemeClr val="accent4"/>
                </a:solidFill>
              </a:rPr>
              <a:t>List everything it must include</a:t>
            </a:r>
            <a:endParaRPr lang="en-US" sz="1600" dirty="0"/>
          </a:p>
        </p:txBody>
      </p:sp>
      <p:sp>
        <p:nvSpPr>
          <p:cNvPr id="10" name="Text 5"/>
          <p:cNvSpPr txBox="1"/>
          <p:nvPr/>
        </p:nvSpPr>
        <p:spPr>
          <a:xfrm>
            <a:off x="7909560" y="2761488"/>
            <a:ext cx="411480" cy="978408"/>
          </a:xfrm>
          <a:prstGeom prst="rect">
            <a:avLst/>
          </a:prstGeom>
          <a:noFill/>
          <a:ln/>
        </p:spPr>
        <p:txBody>
          <a:bodyPr wrap="square" lIns="0" tIns="0" rIns="0" bIns="0" rtlCol="0" anchor="t"/>
          <a:lstStyle/>
          <a:p>
            <a:pPr indent="0" marL="0">
              <a:buNone/>
            </a:pPr>
            <a:r>
              <a:rPr lang="en-US" sz="2000" dirty="0">
                <a:solidFill>
                  <a:schemeClr val="accent1"/>
                </a:solidFill>
                <a:latin typeface="Segoe UI Semibold" pitchFamily="34" charset="0"/>
                <a:ea typeface="Segoe UI Semibold" pitchFamily="34" charset="-122"/>
                <a:cs typeface="Segoe UI Semibold" pitchFamily="34" charset="-120"/>
              </a:rPr>
              <a:t>2</a:t>
            </a:r>
            <a:endParaRPr lang="en-US" sz="2000" dirty="0"/>
          </a:p>
        </p:txBody>
      </p:sp>
      <p:sp>
        <p:nvSpPr>
          <p:cNvPr id="11" name="Text 6"/>
          <p:cNvSpPr txBox="1"/>
          <p:nvPr/>
        </p:nvSpPr>
        <p:spPr>
          <a:xfrm>
            <a:off x="8366760" y="2798064"/>
            <a:ext cx="3291840" cy="978408"/>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Edit in Pages</a:t>
            </a:r>
            <a:endParaRPr lang="en-US" sz="1600" dirty="0"/>
          </a:p>
          <a:p>
            <a:pPr indent="0" marL="0">
              <a:buNone/>
            </a:pPr>
            <a:r>
              <a:rPr lang="en-US" sz="1600" dirty="0">
                <a:solidFill>
                  <a:schemeClr val="accent4"/>
                </a:solidFill>
              </a:rPr>
              <a:t>More options under the answer</a:t>
            </a:r>
            <a:endParaRPr lang="en-US" sz="1600" dirty="0"/>
          </a:p>
        </p:txBody>
      </p:sp>
      <p:sp>
        <p:nvSpPr>
          <p:cNvPr id="12" name="Text 7"/>
          <p:cNvSpPr txBox="1"/>
          <p:nvPr/>
        </p:nvSpPr>
        <p:spPr>
          <a:xfrm>
            <a:off x="7909560" y="3739896"/>
            <a:ext cx="411480" cy="978408"/>
          </a:xfrm>
          <a:prstGeom prst="rect">
            <a:avLst/>
          </a:prstGeom>
          <a:noFill/>
          <a:ln/>
        </p:spPr>
        <p:txBody>
          <a:bodyPr wrap="square" lIns="0" tIns="0" rIns="0" bIns="0" rtlCol="0" anchor="t"/>
          <a:lstStyle/>
          <a:p>
            <a:pPr indent="0" marL="0">
              <a:buNone/>
            </a:pPr>
            <a:r>
              <a:rPr lang="en-US" sz="2000" dirty="0">
                <a:solidFill>
                  <a:schemeClr val="accent1"/>
                </a:solidFill>
                <a:latin typeface="Segoe UI Semibold" pitchFamily="34" charset="0"/>
                <a:ea typeface="Segoe UI Semibold" pitchFamily="34" charset="-122"/>
                <a:cs typeface="Segoe UI Semibold" pitchFamily="34" charset="-120"/>
              </a:rPr>
              <a:t>3</a:t>
            </a:r>
            <a:endParaRPr lang="en-US" sz="2000" dirty="0"/>
          </a:p>
        </p:txBody>
      </p:sp>
      <p:sp>
        <p:nvSpPr>
          <p:cNvPr id="13" name="Text 8"/>
          <p:cNvSpPr txBox="1"/>
          <p:nvPr/>
        </p:nvSpPr>
        <p:spPr>
          <a:xfrm>
            <a:off x="8366760" y="3776472"/>
            <a:ext cx="3291840" cy="978408"/>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Write the memo</a:t>
            </a:r>
            <a:endParaRPr lang="en-US" sz="1600" dirty="0"/>
          </a:p>
          <a:p>
            <a:pPr indent="0" marL="0">
              <a:buNone/>
            </a:pPr>
            <a:r>
              <a:rPr lang="en-US" sz="1600" dirty="0">
                <a:solidFill>
                  <a:schemeClr val="accent4"/>
                </a:solidFill>
              </a:rPr>
              <a:t>Same chat, then Add to page</a:t>
            </a:r>
            <a:endParaRPr lang="en-US" sz="1600" dirty="0"/>
          </a:p>
        </p:txBody>
      </p:sp>
      <p:sp>
        <p:nvSpPr>
          <p:cNvPr id="14" name="Text 9"/>
          <p:cNvSpPr txBox="1"/>
          <p:nvPr/>
        </p:nvSpPr>
        <p:spPr>
          <a:xfrm>
            <a:off x="7909560" y="4718304"/>
            <a:ext cx="411480" cy="978408"/>
          </a:xfrm>
          <a:prstGeom prst="rect">
            <a:avLst/>
          </a:prstGeom>
          <a:noFill/>
          <a:ln/>
        </p:spPr>
        <p:txBody>
          <a:bodyPr wrap="square" lIns="0" tIns="0" rIns="0" bIns="0" rtlCol="0" anchor="t"/>
          <a:lstStyle/>
          <a:p>
            <a:pPr indent="0" marL="0">
              <a:buNone/>
            </a:pPr>
            <a:r>
              <a:rPr lang="en-US" sz="2000" dirty="0">
                <a:solidFill>
                  <a:schemeClr val="accent1"/>
                </a:solidFill>
                <a:latin typeface="Segoe UI Semibold" pitchFamily="34" charset="0"/>
                <a:ea typeface="Segoe UI Semibold" pitchFamily="34" charset="-122"/>
                <a:cs typeface="Segoe UI Semibold" pitchFamily="34" charset="-120"/>
              </a:rPr>
              <a:t>4</a:t>
            </a:r>
            <a:endParaRPr lang="en-US" sz="2000" dirty="0"/>
          </a:p>
        </p:txBody>
      </p:sp>
      <p:sp>
        <p:nvSpPr>
          <p:cNvPr id="15" name="Text 10"/>
          <p:cNvSpPr txBox="1"/>
          <p:nvPr/>
        </p:nvSpPr>
        <p:spPr>
          <a:xfrm>
            <a:off x="8366760" y="4754880"/>
            <a:ext cx="3291840" cy="978408"/>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Share and export</a:t>
            </a:r>
            <a:endParaRPr lang="en-US" sz="1600" dirty="0"/>
          </a:p>
          <a:p>
            <a:pPr indent="0" marL="0">
              <a:buNone/>
            </a:pPr>
            <a:r>
              <a:rPr lang="en-US" sz="1600" dirty="0">
                <a:solidFill>
                  <a:schemeClr val="accent4"/>
                </a:solidFill>
              </a:rPr>
              <a:t>Copy link, then Word or PDF</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06</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Build the Page and write the memo</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Watch a chat drift, then check your findings</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Ask for one complete comparison, then Edit in Pages</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Add a Status row with Copilot on the Page</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Write the justification memo against Section 7</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Copy a link to the Page</a:t>
            </a:r>
            <a:endParaRPr lang="en-US" sz="1600" dirty="0"/>
          </a:p>
        </p:txBody>
      </p:sp>
      <p:sp>
        <p:nvSpPr>
          <p:cNvPr id="15" name="Text 12"/>
          <p:cNvSpPr txBox="1"/>
          <p:nvPr/>
        </p:nvSpPr>
        <p:spPr>
          <a:xfrm>
            <a:off x="548640" y="461772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6.6</a:t>
            </a:r>
            <a:endParaRPr lang="en-US" sz="1600" dirty="0"/>
          </a:p>
        </p:txBody>
      </p:sp>
      <p:sp>
        <p:nvSpPr>
          <p:cNvPr id="16" name="Text 13"/>
          <p:cNvSpPr txBox="1"/>
          <p:nvPr/>
        </p:nvSpPr>
        <p:spPr>
          <a:xfrm>
            <a:off x="1325880" y="4617720"/>
            <a:ext cx="5852160" cy="566928"/>
          </a:xfrm>
          <a:prstGeom prst="rect">
            <a:avLst/>
          </a:prstGeom>
          <a:noFill/>
          <a:ln/>
        </p:spPr>
        <p:txBody>
          <a:bodyPr wrap="square" lIns="0" tIns="0" rIns="0" bIns="0" rtlCol="0" anchor="t"/>
          <a:lstStyle/>
          <a:p>
            <a:pPr indent="0" marL="0">
              <a:buNone/>
            </a:pPr>
            <a:r>
              <a:rPr lang="en-US" sz="1600" dirty="0">
                <a:solidFill>
                  <a:schemeClr val="tx1"/>
                </a:solidFill>
              </a:rPr>
              <a:t>Export the Page to Word and PDF</a:t>
            </a:r>
            <a:endParaRPr lang="en-US" sz="1600" dirty="0"/>
          </a:p>
        </p:txBody>
      </p:sp>
      <p:sp>
        <p:nvSpPr>
          <p:cNvPr id="17"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8"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9" name="Text 15"/>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20" name="Text 16"/>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The memo covers every item in Section 7, the recommendation is conditional, and every figure matches your checks.</a:t>
            </a:r>
            <a:endParaRPr lang="en-US" sz="1600" dirty="0"/>
          </a:p>
        </p:txBody>
      </p:sp>
      <p:sp>
        <p:nvSpPr>
          <p:cNvPr id="21" name="Divider line"/>
          <p:cNvSpPr/>
          <p:nvPr/>
        </p:nvSpPr>
        <p:spPr>
          <a:xfrm>
            <a:off x="7909560" y="4983480"/>
            <a:ext cx="3429000" cy="0"/>
          </a:xfrm>
          <a:prstGeom prst="line">
            <a:avLst/>
          </a:prstGeom>
          <a:noFill/>
          <a:ln w="12700">
            <a:solidFill>
              <a:srgbClr val="E0E0E0"/>
            </a:solidFill>
            <a:prstDash val="solid"/>
          </a:ln>
        </p:spPr>
      </p:sp>
      <p:sp>
        <p:nvSpPr>
          <p:cNvPr id="22" name="Text 18"/>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06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07</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Keep it together in a Notebook</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Organise  |  30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Notebook called Laptop purchase 2026 with the quotations, the policy and the memo, and a status update written from all of them.</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07</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A Notebook answers from its references</a:t>
            </a:r>
            <a:endParaRPr lang="en-US" sz="3200" dirty="0"/>
          </a:p>
        </p:txBody>
      </p:sp>
      <p:pic>
        <p:nvPicPr>
          <p:cNvPr id="5" name="Image 0" descr="_design/deck/bg/panel.jpg">    </p:cNvPr>
          <p:cNvPicPr>
            <a:picLocks noChangeAspect="1"/>
          </p:cNvPicPr>
          <p:nvPr/>
        </p:nvPicPr>
        <p:blipFill>
          <a:blip r:embed="rId1"/>
          <a:srcRect l="0" r="0" t="0" b="0"/>
          <a:stretch/>
        </p:blipFill>
        <p:spPr>
          <a:xfrm>
            <a:off x="548640" y="1783080"/>
            <a:ext cx="6949440" cy="3909060"/>
          </a:xfrm>
          <a:prstGeom prst="rect">
            <a:avLst/>
          </a:prstGeom>
        </p:spPr>
      </p:pic>
      <p:sp>
        <p:nvSpPr>
          <p:cNvPr id="6" name="Screenshot frame"/>
          <p:cNvSpPr/>
          <p:nvPr/>
        </p:nvSpPr>
        <p:spPr>
          <a:xfrm>
            <a:off x="804672" y="1927098"/>
            <a:ext cx="6437376" cy="3621024"/>
          </a:xfrm>
          <a:prstGeom prst="rect">
            <a:avLst/>
          </a:prstGeom>
          <a:solidFill>
            <a:schemeClr val="bg1"/>
          </a:solidFill>
          <a:ln w="9525">
            <a:solidFill>
              <a:srgbClr val="E0E0E0"/>
            </a:solidFill>
            <a:prstDash val="solid"/>
          </a:ln>
          <a:effectLst>
            <a:outerShdw sx="100000" sy="100000" kx="0" ky="0" algn="bl" rotWithShape="0" blurRad="203200" dist="50800" dir="5400000">
              <a:srgbClr val="1B2A4A">
                <a:alpha val="25000"/>
              </a:srgbClr>
            </a:outerShdw>
          </a:effectLst>
        </p:spPr>
      </p:sp>
      <p:pic>
        <p:nvPicPr>
          <p:cNvPr id="7" name="Image 1" descr="A Notebook answering what's outstanding, with the references listed on the right">    </p:cNvPr>
          <p:cNvPicPr>
            <a:picLocks noChangeAspect="1"/>
          </p:cNvPicPr>
          <p:nvPr/>
        </p:nvPicPr>
        <p:blipFill>
          <a:blip r:embed="rId2"/>
          <a:stretch>
            <a:fillRect/>
          </a:stretch>
        </p:blipFill>
        <p:spPr>
          <a:xfrm>
            <a:off x="804672" y="1927098"/>
            <a:ext cx="6437376" cy="3621024"/>
          </a:xfrm>
          <a:prstGeom prst="rect">
            <a:avLst/>
          </a:prstGeom>
        </p:spPr>
      </p:pic>
      <p:sp>
        <p:nvSpPr>
          <p:cNvPr id="8" name="Text 3"/>
          <p:cNvSpPr txBox="1"/>
          <p:nvPr/>
        </p:nvSpPr>
        <p:spPr>
          <a:xfrm>
            <a:off x="7909560" y="1783080"/>
            <a:ext cx="3749040" cy="86868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Create</a:t>
            </a:r>
            <a:endParaRPr lang="en-US" sz="1600" dirty="0"/>
          </a:p>
          <a:p>
            <a:pPr indent="0" marL="0">
              <a:buNone/>
            </a:pPr>
            <a:r>
              <a:rPr lang="en-US" sz="1600" dirty="0">
                <a:solidFill>
                  <a:schemeClr val="accent4"/>
                </a:solidFill>
              </a:rPr>
              <a:t>Name, Next, Create</a:t>
            </a:r>
            <a:endParaRPr lang="en-US" sz="1600" dirty="0"/>
          </a:p>
        </p:txBody>
      </p:sp>
      <p:sp>
        <p:nvSpPr>
          <p:cNvPr id="9" name="Text 4"/>
          <p:cNvSpPr txBox="1"/>
          <p:nvPr/>
        </p:nvSpPr>
        <p:spPr>
          <a:xfrm>
            <a:off x="7909560" y="2761488"/>
            <a:ext cx="3749040" cy="86868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Add references</a:t>
            </a:r>
            <a:endParaRPr lang="en-US" sz="1600" dirty="0"/>
          </a:p>
          <a:p>
            <a:pPr indent="0" marL="0">
              <a:buNone/>
            </a:pPr>
            <a:r>
              <a:rPr lang="en-US" sz="1600" dirty="0">
                <a:solidFill>
                  <a:schemeClr val="accent4"/>
                </a:solidFill>
              </a:rPr>
              <a:t>Upload files or OneDrive files</a:t>
            </a:r>
            <a:endParaRPr lang="en-US" sz="1600" dirty="0"/>
          </a:p>
        </p:txBody>
      </p:sp>
      <p:sp>
        <p:nvSpPr>
          <p:cNvPr id="10" name="Text 5"/>
          <p:cNvSpPr txBox="1"/>
          <p:nvPr/>
        </p:nvSpPr>
        <p:spPr>
          <a:xfrm>
            <a:off x="7909560" y="3739896"/>
            <a:ext cx="3749040" cy="86868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Inbox facts</a:t>
            </a:r>
            <a:endParaRPr lang="en-US" sz="1600" dirty="0"/>
          </a:p>
          <a:p>
            <a:pPr indent="0" marL="0">
              <a:buNone/>
            </a:pPr>
            <a:r>
              <a:rPr lang="en-US" sz="1600" dirty="0">
                <a:solidFill>
                  <a:schemeClr val="accent4"/>
                </a:solidFill>
              </a:rPr>
              <a:t>Add a New Page under Creations</a:t>
            </a:r>
            <a:endParaRPr lang="en-US" sz="1600" dirty="0"/>
          </a:p>
        </p:txBody>
      </p:sp>
      <p:sp>
        <p:nvSpPr>
          <p:cNvPr id="11" name="Text 6"/>
          <p:cNvSpPr txBox="1"/>
          <p:nvPr/>
        </p:nvSpPr>
        <p:spPr>
          <a:xfrm>
            <a:off x="7909560" y="4718304"/>
            <a:ext cx="3749040" cy="86868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Keep it current</a:t>
            </a:r>
            <a:endParaRPr lang="en-US" sz="1600" dirty="0"/>
          </a:p>
          <a:p>
            <a:pPr indent="0" marL="0">
              <a:buNone/>
            </a:pPr>
            <a:r>
              <a:rPr lang="en-US" sz="1600" dirty="0">
                <a:solidFill>
                  <a:schemeClr val="accent4"/>
                </a:solidFill>
              </a:rPr>
              <a:t>Remove superseded documents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07</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File the purchase in one Notebook</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7.1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Create a Notebook called Laptop purchase 2026</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7.2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Add the quotations, the policy and your memo</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7.3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Ask questions across everything, with citations</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7.4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Add the stock-hold fact on a New Page</a:t>
            </a:r>
            <a:endParaRPr lang="en-US" sz="1600" dirty="0"/>
          </a:p>
        </p:txBody>
      </p:sp>
      <p:sp>
        <p:nvSpPr>
          <p:cNvPr id="13"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4"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5" name="Text 11"/>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6" name="Text 12"/>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Copilot answers "what's still outstanding?" correctly, and cites the references it used.</a:t>
            </a:r>
            <a:endParaRPr lang="en-US" sz="1600" dirty="0"/>
          </a:p>
        </p:txBody>
      </p:sp>
      <p:sp>
        <p:nvSpPr>
          <p:cNvPr id="17" name="Divider line"/>
          <p:cNvSpPr/>
          <p:nvPr/>
        </p:nvSpPr>
        <p:spPr>
          <a:xfrm>
            <a:off x="7909560" y="4983480"/>
            <a:ext cx="3429000" cy="0"/>
          </a:xfrm>
          <a:prstGeom prst="line">
            <a:avLst/>
          </a:prstGeom>
          <a:noFill/>
          <a:ln w="12700">
            <a:solidFill>
              <a:srgbClr val="E0E0E0"/>
            </a:solidFill>
            <a:prstDash val="solid"/>
          </a:ln>
        </p:spPr>
      </p:sp>
      <p:sp>
        <p:nvSpPr>
          <p:cNvPr id="18" name="Text 14"/>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07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08</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Build a Quotation Checker agent</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Reuse  |  45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Quotation Checker agent that checks validity, arithmetic, tax, warranty and delivery on any quotation, shared with a colleague.</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08</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What goes into an agent</a:t>
            </a:r>
            <a:endParaRPr lang="en-US" sz="3200" dirty="0"/>
          </a:p>
        </p:txBody>
      </p:sp>
      <p:pic>
        <p:nvPicPr>
          <p:cNvPr id="5" name="Image 0" descr="preencoded.png">    </p:cNvPr>
          <p:cNvPicPr>
            <a:picLocks noChangeAspect="1"/>
          </p:cNvPicPr>
          <p:nvPr/>
        </p:nvPicPr>
        <p:blipFill>
          <a:blip r:embed="rId1"/>
          <a:stretch>
            <a:fillRect/>
          </a:stretch>
        </p:blipFill>
        <p:spPr>
          <a:xfrm>
            <a:off x="548640" y="1783080"/>
            <a:ext cx="502920" cy="502920"/>
          </a:xfrm>
          <a:prstGeom prst="rect">
            <a:avLst/>
          </a:prstGeom>
        </p:spPr>
      </p:pic>
      <p:sp>
        <p:nvSpPr>
          <p:cNvPr id="6" name="Text 2"/>
          <p:cNvSpPr txBox="1"/>
          <p:nvPr/>
        </p:nvSpPr>
        <p:spPr>
          <a:xfrm>
            <a:off x="548640" y="25146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Name and description</a:t>
            </a:r>
            <a:endParaRPr lang="en-US" sz="1900" dirty="0"/>
          </a:p>
        </p:txBody>
      </p:sp>
      <p:sp>
        <p:nvSpPr>
          <p:cNvPr id="7" name="Text 3"/>
          <p:cNvSpPr txBox="1"/>
          <p:nvPr/>
        </p:nvSpPr>
        <p:spPr>
          <a:xfrm>
            <a:off x="548640" y="3337560"/>
            <a:ext cx="2400300" cy="1463040"/>
          </a:xfrm>
          <a:prstGeom prst="rect">
            <a:avLst/>
          </a:prstGeom>
          <a:noFill/>
          <a:ln/>
        </p:spPr>
        <p:txBody>
          <a:bodyPr wrap="square" lIns="0" tIns="0" rIns="0" bIns="0" rtlCol="0" anchor="t"/>
          <a:lstStyle/>
          <a:p>
            <a:pPr indent="0" marL="0">
              <a:buNone/>
            </a:pPr>
            <a:r>
              <a:rPr lang="en-US" sz="1600" dirty="0">
                <a:solidFill>
                  <a:schemeClr val="tx1"/>
                </a:solidFill>
              </a:rPr>
              <a:t>Quotation Checker, and what it's for</a:t>
            </a:r>
            <a:endParaRPr lang="en-US" sz="1600" dirty="0"/>
          </a:p>
        </p:txBody>
      </p:sp>
      <p:pic>
        <p:nvPicPr>
          <p:cNvPr id="8" name="Image 1" descr="preencoded.png">    </p:cNvPr>
          <p:cNvPicPr>
            <a:picLocks noChangeAspect="1"/>
          </p:cNvPicPr>
          <p:nvPr/>
        </p:nvPicPr>
        <p:blipFill>
          <a:blip r:embed="rId2"/>
          <a:stretch>
            <a:fillRect/>
          </a:stretch>
        </p:blipFill>
        <p:spPr>
          <a:xfrm>
            <a:off x="3406140" y="1783080"/>
            <a:ext cx="502920" cy="502920"/>
          </a:xfrm>
          <a:prstGeom prst="rect">
            <a:avLst/>
          </a:prstGeom>
        </p:spPr>
      </p:pic>
      <p:sp>
        <p:nvSpPr>
          <p:cNvPr id="9" name="Text 4"/>
          <p:cNvSpPr txBox="1"/>
          <p:nvPr/>
        </p:nvSpPr>
        <p:spPr>
          <a:xfrm>
            <a:off x="3406140" y="25146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Instructions</a:t>
            </a:r>
            <a:endParaRPr lang="en-US" sz="1900" dirty="0"/>
          </a:p>
        </p:txBody>
      </p:sp>
      <p:sp>
        <p:nvSpPr>
          <p:cNvPr id="10" name="Text 5"/>
          <p:cNvSpPr txBox="1"/>
          <p:nvPr/>
        </p:nvSpPr>
        <p:spPr>
          <a:xfrm>
            <a:off x="3406140" y="3337560"/>
            <a:ext cx="2400300" cy="1463040"/>
          </a:xfrm>
          <a:prstGeom prst="rect">
            <a:avLst/>
          </a:prstGeom>
          <a:noFill/>
          <a:ln/>
        </p:spPr>
        <p:txBody>
          <a:bodyPr wrap="square" lIns="0" tIns="0" rIns="0" bIns="0" rtlCol="0" anchor="t"/>
          <a:lstStyle/>
          <a:p>
            <a:pPr indent="0" marL="0">
              <a:buNone/>
            </a:pPr>
            <a:r>
              <a:rPr lang="en-US" sz="1600" dirty="0">
                <a:solidFill>
                  <a:schemeClr val="tx1"/>
                </a:solidFill>
              </a:rPr>
              <a:t>The Chapter 4 checks, written once as numbered steps</a:t>
            </a:r>
            <a:endParaRPr lang="en-US" sz="1600" dirty="0"/>
          </a:p>
        </p:txBody>
      </p:sp>
      <p:pic>
        <p:nvPicPr>
          <p:cNvPr id="11" name="Image 2" descr="preencoded.png">    </p:cNvPr>
          <p:cNvPicPr>
            <a:picLocks noChangeAspect="1"/>
          </p:cNvPicPr>
          <p:nvPr/>
        </p:nvPicPr>
        <p:blipFill>
          <a:blip r:embed="rId3"/>
          <a:stretch>
            <a:fillRect/>
          </a:stretch>
        </p:blipFill>
        <p:spPr>
          <a:xfrm>
            <a:off x="6263640" y="1783080"/>
            <a:ext cx="502920" cy="502920"/>
          </a:xfrm>
          <a:prstGeom prst="rect">
            <a:avLst/>
          </a:prstGeom>
        </p:spPr>
      </p:pic>
      <p:sp>
        <p:nvSpPr>
          <p:cNvPr id="12" name="Text 6"/>
          <p:cNvSpPr txBox="1"/>
          <p:nvPr/>
        </p:nvSpPr>
        <p:spPr>
          <a:xfrm>
            <a:off x="6263640" y="25146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Suggested prompts</a:t>
            </a:r>
            <a:endParaRPr lang="en-US" sz="1900" dirty="0"/>
          </a:p>
        </p:txBody>
      </p:sp>
      <p:sp>
        <p:nvSpPr>
          <p:cNvPr id="13" name="Text 7"/>
          <p:cNvSpPr txBox="1"/>
          <p:nvPr/>
        </p:nvSpPr>
        <p:spPr>
          <a:xfrm>
            <a:off x="6263640" y="3337560"/>
            <a:ext cx="2400300" cy="1463040"/>
          </a:xfrm>
          <a:prstGeom prst="rect">
            <a:avLst/>
          </a:prstGeom>
          <a:noFill/>
          <a:ln/>
        </p:spPr>
        <p:txBody>
          <a:bodyPr wrap="square" lIns="0" tIns="0" rIns="0" bIns="0" rtlCol="0" anchor="t"/>
          <a:lstStyle/>
          <a:p>
            <a:pPr indent="0" marL="0">
              <a:buNone/>
            </a:pPr>
            <a:r>
              <a:rPr lang="en-US" sz="1600" dirty="0">
                <a:solidFill>
                  <a:schemeClr val="tx1"/>
                </a:solidFill>
              </a:rPr>
              <a:t>Buttons people see when they open it</a:t>
            </a:r>
            <a:endParaRPr lang="en-US" sz="1600" dirty="0"/>
          </a:p>
        </p:txBody>
      </p:sp>
      <p:pic>
        <p:nvPicPr>
          <p:cNvPr id="14" name="Image 3" descr="preencoded.png">    </p:cNvPr>
          <p:cNvPicPr>
            <a:picLocks noChangeAspect="1"/>
          </p:cNvPicPr>
          <p:nvPr/>
        </p:nvPicPr>
        <p:blipFill>
          <a:blip r:embed="rId4"/>
          <a:stretch>
            <a:fillRect/>
          </a:stretch>
        </p:blipFill>
        <p:spPr>
          <a:xfrm>
            <a:off x="9121140" y="1783080"/>
            <a:ext cx="502920" cy="502920"/>
          </a:xfrm>
          <a:prstGeom prst="rect">
            <a:avLst/>
          </a:prstGeom>
        </p:spPr>
      </p:pic>
      <p:sp>
        <p:nvSpPr>
          <p:cNvPr id="15" name="Text 8"/>
          <p:cNvSpPr txBox="1"/>
          <p:nvPr/>
        </p:nvSpPr>
        <p:spPr>
          <a:xfrm>
            <a:off x="9121140" y="25146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Web search off</a:t>
            </a:r>
            <a:endParaRPr lang="en-US" sz="1900" dirty="0"/>
          </a:p>
        </p:txBody>
      </p:sp>
      <p:sp>
        <p:nvSpPr>
          <p:cNvPr id="16" name="Text 9"/>
          <p:cNvSpPr txBox="1"/>
          <p:nvPr/>
        </p:nvSpPr>
        <p:spPr>
          <a:xfrm>
            <a:off x="9121140" y="3337560"/>
            <a:ext cx="2400300" cy="1463040"/>
          </a:xfrm>
          <a:prstGeom prst="rect">
            <a:avLst/>
          </a:prstGeom>
          <a:noFill/>
          <a:ln/>
        </p:spPr>
        <p:txBody>
          <a:bodyPr wrap="square" lIns="0" tIns="0" rIns="0" bIns="0" rtlCol="0" anchor="t"/>
          <a:lstStyle/>
          <a:p>
            <a:pPr indent="0" marL="0">
              <a:buNone/>
            </a:pPr>
            <a:r>
              <a:rPr lang="en-US" sz="1600" dirty="0">
                <a:solidFill>
                  <a:schemeClr val="tx1"/>
                </a:solidFill>
              </a:rPr>
              <a:t>It sticks to the quotations you upload</a:t>
            </a:r>
            <a:endParaRPr lang="en-US" sz="1600" dirty="0"/>
          </a:p>
        </p:txBody>
      </p:sp>
      <p:sp>
        <p:nvSpPr>
          <p:cNvPr id="17" name="Text 10"/>
          <p:cNvSpPr txBox="1"/>
          <p:nvPr/>
        </p:nvSpPr>
        <p:spPr>
          <a:xfrm>
            <a:off x="548640" y="5074920"/>
            <a:ext cx="11064240" cy="640080"/>
          </a:xfrm>
          <a:prstGeom prst="rect">
            <a:avLst/>
          </a:prstGeom>
          <a:noFill/>
          <a:ln/>
        </p:spPr>
        <p:txBody>
          <a:bodyPr wrap="square" lIns="0" tIns="0" rIns="0" bIns="0" rtlCol="0" anchor="t"/>
          <a:lstStyle/>
          <a:p>
            <a:pPr indent="0" marL="0">
              <a:buNone/>
            </a:pPr>
            <a:r>
              <a:rPr lang="en-US" sz="2400" dirty="0">
                <a:solidFill>
                  <a:schemeClr val="tx1"/>
                </a:solidFill>
                <a:latin typeface="Segoe UI Semibold" pitchFamily="34" charset="0"/>
                <a:ea typeface="Segoe UI Semibold" pitchFamily="34" charset="-122"/>
                <a:cs typeface="Segoe UI Semibold" pitchFamily="34" charset="-120"/>
              </a:rPr>
              <a:t>An agent is only as good as its instructions.</a:t>
            </a:r>
            <a:endParaRPr lang="en-US" sz="2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08</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Create it, test it, then fix the instructions</a:t>
            </a:r>
            <a:endParaRPr lang="en-US" sz="3200" dirty="0"/>
          </a:p>
        </p:txBody>
      </p:sp>
      <p:pic>
        <p:nvPicPr>
          <p:cNvPr id="5" name="Image 0" descr="_design/deck/bg/panel.jpg">    </p:cNvPr>
          <p:cNvPicPr>
            <a:picLocks noChangeAspect="1"/>
          </p:cNvPicPr>
          <p:nvPr/>
        </p:nvPicPr>
        <p:blipFill>
          <a:blip r:embed="rId1"/>
          <a:srcRect l="0" r="0" t="0" b="0"/>
          <a:stretch/>
        </p:blipFill>
        <p:spPr>
          <a:xfrm>
            <a:off x="548640" y="1783080"/>
            <a:ext cx="6949440" cy="3909060"/>
          </a:xfrm>
          <a:prstGeom prst="rect">
            <a:avLst/>
          </a:prstGeom>
        </p:spPr>
      </p:pic>
      <p:sp>
        <p:nvSpPr>
          <p:cNvPr id="6" name="Screenshot frame"/>
          <p:cNvSpPr/>
          <p:nvPr/>
        </p:nvSpPr>
        <p:spPr>
          <a:xfrm>
            <a:off x="804672" y="1927098"/>
            <a:ext cx="6437376" cy="3621024"/>
          </a:xfrm>
          <a:prstGeom prst="rect">
            <a:avLst/>
          </a:prstGeom>
          <a:solidFill>
            <a:schemeClr val="bg1"/>
          </a:solidFill>
          <a:ln w="9525">
            <a:solidFill>
              <a:srgbClr val="E0E0E0"/>
            </a:solidFill>
            <a:prstDash val="solid"/>
          </a:ln>
          <a:effectLst>
            <a:outerShdw sx="100000" sy="100000" kx="0" ky="0" algn="bl" rotWithShape="0" blurRad="203200" dist="50800" dir="5400000">
              <a:srgbClr val="1B2A4A">
                <a:alpha val="25000"/>
              </a:srgbClr>
            </a:outerShdw>
          </a:effectLst>
        </p:spPr>
      </p:sp>
      <p:pic>
        <p:nvPicPr>
          <p:cNvPr id="7" name="Image 1" descr="The Quotation Checker showing the printed and recalculated grand totals side by side">    </p:cNvPr>
          <p:cNvPicPr>
            <a:picLocks noChangeAspect="1"/>
          </p:cNvPicPr>
          <p:nvPr/>
        </p:nvPicPr>
        <p:blipFill>
          <a:blip r:embed="rId2"/>
          <a:stretch>
            <a:fillRect/>
          </a:stretch>
        </p:blipFill>
        <p:spPr>
          <a:xfrm>
            <a:off x="804672" y="1927098"/>
            <a:ext cx="6437376" cy="3621024"/>
          </a:xfrm>
          <a:prstGeom prst="rect">
            <a:avLst/>
          </a:prstGeom>
        </p:spPr>
      </p:pic>
      <p:sp>
        <p:nvSpPr>
          <p:cNvPr id="8" name="Text 3"/>
          <p:cNvSpPr txBox="1"/>
          <p:nvPr/>
        </p:nvSpPr>
        <p:spPr>
          <a:xfrm>
            <a:off x="7909560" y="1783080"/>
            <a:ext cx="374904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The fix line</a:t>
            </a:r>
            <a:endParaRPr lang="en-US" sz="2000" dirty="0"/>
          </a:p>
        </p:txBody>
      </p:sp>
      <p:sp>
        <p:nvSpPr>
          <p:cNvPr id="9" name="Fix line panel"/>
          <p:cNvSpPr/>
          <p:nvPr/>
        </p:nvSpPr>
        <p:spPr>
          <a:xfrm>
            <a:off x="7909560" y="2331720"/>
            <a:ext cx="3730752" cy="1920240"/>
          </a:xfrm>
          <a:prstGeom prst="roundRect">
            <a:avLst>
              <a:gd name="adj" fmla="val 4762"/>
            </a:avLst>
          </a:prstGeom>
          <a:solidFill>
            <a:schemeClr val="bg1"/>
          </a:solidFill>
          <a:ln/>
          <a:effectLst>
            <a:outerShdw sx="100000" sy="100000" kx="0" ky="0" algn="bl" rotWithShape="0" blurRad="177800" dist="38100" dir="5400000">
              <a:srgbClr val="1B2A4A">
                <a:alpha val="12000"/>
              </a:srgbClr>
            </a:outerShdw>
          </a:effectLst>
        </p:spPr>
      </p:sp>
      <p:sp>
        <p:nvSpPr>
          <p:cNvPr id="10" name="Text 5"/>
          <p:cNvSpPr txBox="1"/>
          <p:nvPr/>
        </p:nvSpPr>
        <p:spPr>
          <a:xfrm>
            <a:off x="8138160" y="2331720"/>
            <a:ext cx="3291840" cy="1920240"/>
          </a:xfrm>
          <a:prstGeom prst="rect">
            <a:avLst/>
          </a:prstGeom>
          <a:noFill/>
          <a:ln/>
        </p:spPr>
        <p:txBody>
          <a:bodyPr wrap="square" lIns="0" tIns="0" rIns="0" bIns="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Before comparing, write out subtotal + tax = your total as a sum. Never assume the printed grand total is correct.</a:t>
            </a:r>
            <a:endParaRPr lang="en-US" sz="1400" dirty="0"/>
          </a:p>
        </p:txBody>
      </p:sp>
      <p:sp>
        <p:nvSpPr>
          <p:cNvPr id="11" name="Text 6"/>
          <p:cNvSpPr txBox="1"/>
          <p:nvPr/>
        </p:nvSpPr>
        <p:spPr>
          <a:xfrm>
            <a:off x="7909560" y="4480560"/>
            <a:ext cx="3749040" cy="1097280"/>
          </a:xfrm>
          <a:prstGeom prst="rect">
            <a:avLst/>
          </a:prstGeom>
          <a:noFill/>
          <a:ln/>
        </p:spPr>
        <p:txBody>
          <a:bodyPr wrap="square" lIns="0" tIns="0" rIns="0" bIns="0" rtlCol="0" anchor="t"/>
          <a:lstStyle/>
          <a:p>
            <a:pPr indent="0" marL="0">
              <a:buNone/>
            </a:pPr>
            <a:r>
              <a:rPr lang="en-US" sz="1600" dirty="0">
                <a:solidFill>
                  <a:schemeClr val="tx1"/>
                </a:solidFill>
              </a:rPr>
              <a:t>If the agent misses something, change the instructions, not just the prompt.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731520" y="2011680"/>
            <a:ext cx="10241280" cy="1828800"/>
          </a:xfrm>
          <a:prstGeom prst="rect">
            <a:avLst/>
          </a:prstGeom>
          <a:noFill/>
          <a:ln/>
        </p:spPr>
        <p:txBody>
          <a:bodyPr wrap="square" lIns="0" tIns="0" rIns="0" bIns="0" rtlCol="0" anchor="b"/>
          <a:lstStyle/>
          <a:p>
            <a:pPr algn="l" indent="0" marL="0">
              <a:buNone/>
            </a:pPr>
            <a:r>
              <a:rPr lang="en-US" sz="4000" dirty="0">
                <a:solidFill>
                  <a:schemeClr val="accent1"/>
                </a:solidFill>
              </a:rPr>
              <a:t>Sharing an agent shares its instructions, not your files.</a:t>
            </a:r>
            <a:endParaRPr lang="en-US" sz="4000" dirty="0"/>
          </a:p>
        </p:txBody>
      </p:sp>
      <p:sp>
        <p:nvSpPr>
          <p:cNvPr id="3" name="Text 0"/>
          <p:cNvSpPr/>
          <p:nvPr>
            <p:ph idx="102" type="body" hasCustomPrompt="1"/>
          </p:nvPr>
        </p:nvSpPr>
        <p:spPr>
          <a:xfrm>
            <a:off x="731520" y="4069080"/>
            <a:ext cx="9601200" cy="914400"/>
          </a:xfrm>
          <a:prstGeom prst="rect">
            <a:avLst/>
          </a:prstGeom>
          <a:noFill/>
          <a:ln/>
        </p:spPr>
        <p:txBody>
          <a:bodyPr wrap="square" lIns="0" tIns="0" rIns="0" bIns="0" rtlCol="0" anchor="t"/>
          <a:lstStyle/>
          <a:p>
            <a:pPr indent="0" marL="0">
              <a:buNone/>
            </a:pPr>
            <a:r>
              <a:rPr lang="en-US" sz="2000" dirty="0">
                <a:solidFill>
                  <a:schemeClr val="accent4"/>
                </a:solidFill>
              </a:rPr>
              <a:t>Anyone who opens it can read the instructions. Keep budgets and preferred suppliers out.</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08</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Build and share the Quotation Checker</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Try a prebuilt agent: Writing Coach</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Agents &gt; New agent &gt; Skip</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Name and describe the agent</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Paste the instructions, turn Web search off</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Add three suggested prompts</a:t>
            </a:r>
            <a:endParaRPr lang="en-US" sz="1600" dirty="0"/>
          </a:p>
        </p:txBody>
      </p:sp>
      <p:sp>
        <p:nvSpPr>
          <p:cNvPr id="15" name="Text 12"/>
          <p:cNvSpPr txBox="1"/>
          <p:nvPr/>
        </p:nvSpPr>
        <p:spPr>
          <a:xfrm>
            <a:off x="548640" y="461772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8.6</a:t>
            </a:r>
            <a:endParaRPr lang="en-US" sz="1600" dirty="0"/>
          </a:p>
        </p:txBody>
      </p:sp>
      <p:sp>
        <p:nvSpPr>
          <p:cNvPr id="16" name="Text 13"/>
          <p:cNvSpPr txBox="1"/>
          <p:nvPr/>
        </p:nvSpPr>
        <p:spPr>
          <a:xfrm>
            <a:off x="1325880" y="4617720"/>
            <a:ext cx="5852160" cy="566928"/>
          </a:xfrm>
          <a:prstGeom prst="rect">
            <a:avLst/>
          </a:prstGeom>
          <a:noFill/>
          <a:ln/>
        </p:spPr>
        <p:txBody>
          <a:bodyPr wrap="square" lIns="0" tIns="0" rIns="0" bIns="0" rtlCol="0" anchor="t"/>
          <a:lstStyle/>
          <a:p>
            <a:pPr indent="0" marL="0">
              <a:buNone/>
            </a:pPr>
            <a:r>
              <a:rPr lang="en-US" sz="1600" dirty="0">
                <a:solidFill>
                  <a:schemeClr val="tx1"/>
                </a:solidFill>
              </a:rPr>
              <a:t>Create, test with a quotation, add the fix line</a:t>
            </a:r>
            <a:endParaRPr lang="en-US" sz="1600" dirty="0"/>
          </a:p>
        </p:txBody>
      </p:sp>
      <p:sp>
        <p:nvSpPr>
          <p:cNvPr id="17" name="Text 14"/>
          <p:cNvSpPr txBox="1"/>
          <p:nvPr/>
        </p:nvSpPr>
        <p:spPr>
          <a:xfrm>
            <a:off x="548640" y="518464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8.7</a:t>
            </a:r>
            <a:endParaRPr lang="en-US" sz="1600" dirty="0"/>
          </a:p>
        </p:txBody>
      </p:sp>
      <p:sp>
        <p:nvSpPr>
          <p:cNvPr id="18" name="Text 15"/>
          <p:cNvSpPr txBox="1"/>
          <p:nvPr/>
        </p:nvSpPr>
        <p:spPr>
          <a:xfrm>
            <a:off x="1325880" y="5184648"/>
            <a:ext cx="5852160" cy="566928"/>
          </a:xfrm>
          <a:prstGeom prst="rect">
            <a:avLst/>
          </a:prstGeom>
          <a:noFill/>
          <a:ln/>
        </p:spPr>
        <p:txBody>
          <a:bodyPr wrap="square" lIns="0" tIns="0" rIns="0" bIns="0" rtlCol="0" anchor="t"/>
          <a:lstStyle/>
          <a:p>
            <a:pPr indent="0" marL="0">
              <a:buNone/>
            </a:pPr>
            <a:r>
              <a:rPr lang="en-US" sz="1600" dirty="0">
                <a:solidFill>
                  <a:schemeClr val="tx1"/>
                </a:solidFill>
              </a:rPr>
              <a:t>Copy the sharing link</a:t>
            </a:r>
            <a:endParaRPr lang="en-US" sz="1600" dirty="0"/>
          </a:p>
        </p:txBody>
      </p:sp>
      <p:sp>
        <p:nvSpPr>
          <p:cNvPr id="19"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20"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21" name="Text 17"/>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22" name="Text 18"/>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Your agent flags the arithmetic difference, asks for today's date, and lists questions for the supplier.</a:t>
            </a:r>
            <a:endParaRPr lang="en-US" sz="1600" dirty="0"/>
          </a:p>
        </p:txBody>
      </p:sp>
      <p:sp>
        <p:nvSpPr>
          <p:cNvPr id="23" name="Divider line"/>
          <p:cNvSpPr/>
          <p:nvPr/>
        </p:nvSpPr>
        <p:spPr>
          <a:xfrm>
            <a:off x="7909560" y="4983480"/>
            <a:ext cx="3429000" cy="0"/>
          </a:xfrm>
          <a:prstGeom prst="line">
            <a:avLst/>
          </a:prstGeom>
          <a:noFill/>
          <a:ln w="12700">
            <a:solidFill>
              <a:srgbClr val="E0E0E0"/>
            </a:solidFill>
            <a:prstDash val="solid"/>
          </a:ln>
        </p:spPr>
      </p:sp>
      <p:sp>
        <p:nvSpPr>
          <p:cNvPr id="24" name="Text 20"/>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08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09</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Optional: Copilot in Word and Excel</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Extend  |  30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tightened memo in Word and an Excel comparison with a checked total column.</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09</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Only if Copilot is inside your apps</a:t>
            </a:r>
            <a:endParaRPr lang="en-US" sz="3200" dirty="0"/>
          </a:p>
        </p:txBody>
      </p:sp>
      <p:pic>
        <p:nvPicPr>
          <p:cNvPr id="5" name="Image 0" descr="preencoded.png">    </p:cNvPr>
          <p:cNvPicPr>
            <a:picLocks noChangeAspect="1"/>
          </p:cNvPicPr>
          <p:nvPr/>
        </p:nvPicPr>
        <p:blipFill>
          <a:blip r:embed="rId1"/>
          <a:stretch>
            <a:fillRect/>
          </a:stretch>
        </p:blipFill>
        <p:spPr>
          <a:xfrm>
            <a:off x="548640" y="1783080"/>
            <a:ext cx="457200" cy="457200"/>
          </a:xfrm>
          <a:prstGeom prst="rect">
            <a:avLst/>
          </a:prstGeom>
        </p:spPr>
      </p:pic>
      <p:sp>
        <p:nvSpPr>
          <p:cNvPr id="6" name="Text 2"/>
          <p:cNvSpPr txBox="1"/>
          <p:nvPr/>
        </p:nvSpPr>
        <p:spPr>
          <a:xfrm>
            <a:off x="1188720" y="1783080"/>
            <a:ext cx="457200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M365 Copilot (Basic)</a:t>
            </a:r>
            <a:endParaRPr lang="en-US" sz="2200" dirty="0"/>
          </a:p>
        </p:txBody>
      </p:sp>
      <p:sp>
        <p:nvSpPr>
          <p:cNvPr id="7" name="Divider line"/>
          <p:cNvSpPr/>
          <p:nvPr/>
        </p:nvSpPr>
        <p:spPr>
          <a:xfrm>
            <a:off x="548640" y="2468880"/>
            <a:ext cx="5349240" cy="0"/>
          </a:xfrm>
          <a:prstGeom prst="line">
            <a:avLst/>
          </a:prstGeom>
          <a:noFill/>
          <a:ln w="12700">
            <a:solidFill>
              <a:srgbClr val="E0E0E0"/>
            </a:solidFill>
            <a:prstDash val="solid"/>
          </a:ln>
        </p:spPr>
      </p:sp>
      <p:sp>
        <p:nvSpPr>
          <p:cNvPr id="8" name="Text 4"/>
          <p:cNvSpPr txBox="1"/>
          <p:nvPr/>
        </p:nvSpPr>
        <p:spPr>
          <a:xfrm>
            <a:off x="548640" y="2606040"/>
            <a:ext cx="5349240" cy="548640"/>
          </a:xfrm>
          <a:prstGeom prst="rect">
            <a:avLst/>
          </a:prstGeom>
          <a:noFill/>
          <a:ln/>
        </p:spPr>
        <p:txBody>
          <a:bodyPr wrap="square" lIns="0" tIns="0" rIns="0" bIns="0" rtlCol="0" anchor="t"/>
          <a:lstStyle/>
          <a:p>
            <a:pPr indent="0" marL="0">
              <a:buNone/>
            </a:pPr>
            <a:r>
              <a:rPr lang="en-US" sz="1800" dirty="0">
                <a:solidFill>
                  <a:schemeClr val="tx1"/>
                </a:solidFill>
              </a:rPr>
              <a:t>9.1  Check the Copilot button in Word</a:t>
            </a:r>
            <a:endParaRPr lang="en-US" sz="1800" dirty="0"/>
          </a:p>
        </p:txBody>
      </p:sp>
      <p:sp>
        <p:nvSpPr>
          <p:cNvPr id="9" name="Divider line"/>
          <p:cNvSpPr/>
          <p:nvPr/>
        </p:nvSpPr>
        <p:spPr>
          <a:xfrm>
            <a:off x="548640" y="3182112"/>
            <a:ext cx="5349240" cy="0"/>
          </a:xfrm>
          <a:prstGeom prst="line">
            <a:avLst/>
          </a:prstGeom>
          <a:noFill/>
          <a:ln w="12700">
            <a:solidFill>
              <a:srgbClr val="E0E0E0"/>
            </a:solidFill>
            <a:prstDash val="solid"/>
          </a:ln>
        </p:spPr>
      </p:sp>
      <p:sp>
        <p:nvSpPr>
          <p:cNvPr id="10" name="Text 6"/>
          <p:cNvSpPr txBox="1"/>
          <p:nvPr/>
        </p:nvSpPr>
        <p:spPr>
          <a:xfrm>
            <a:off x="548640" y="3227832"/>
            <a:ext cx="5349240" cy="548640"/>
          </a:xfrm>
          <a:prstGeom prst="rect">
            <a:avLst/>
          </a:prstGeom>
          <a:noFill/>
          <a:ln/>
        </p:spPr>
        <p:txBody>
          <a:bodyPr wrap="square" lIns="0" tIns="0" rIns="0" bIns="0" rtlCol="0" anchor="t"/>
          <a:lstStyle/>
          <a:p>
            <a:pPr indent="0" marL="0">
              <a:buNone/>
            </a:pPr>
            <a:r>
              <a:rPr lang="en-US" sz="1800" dirty="0">
                <a:solidFill>
                  <a:schemeClr val="tx1"/>
                </a:solidFill>
              </a:rPr>
              <a:t>9.2  Tighten the memo's recommendation</a:t>
            </a:r>
            <a:endParaRPr lang="en-US" sz="1800" dirty="0"/>
          </a:p>
        </p:txBody>
      </p:sp>
      <p:sp>
        <p:nvSpPr>
          <p:cNvPr id="11" name="Divider line"/>
          <p:cNvSpPr/>
          <p:nvPr/>
        </p:nvSpPr>
        <p:spPr>
          <a:xfrm>
            <a:off x="548640" y="3803904"/>
            <a:ext cx="5349240" cy="0"/>
          </a:xfrm>
          <a:prstGeom prst="line">
            <a:avLst/>
          </a:prstGeom>
          <a:noFill/>
          <a:ln w="12700">
            <a:solidFill>
              <a:srgbClr val="E0E0E0"/>
            </a:solidFill>
            <a:prstDash val="solid"/>
          </a:ln>
        </p:spPr>
      </p:sp>
      <p:sp>
        <p:nvSpPr>
          <p:cNvPr id="12" name="Text 8"/>
          <p:cNvSpPr txBox="1"/>
          <p:nvPr/>
        </p:nvSpPr>
        <p:spPr>
          <a:xfrm>
            <a:off x="548640" y="3849624"/>
            <a:ext cx="5349240" cy="548640"/>
          </a:xfrm>
          <a:prstGeom prst="rect">
            <a:avLst/>
          </a:prstGeom>
          <a:noFill/>
          <a:ln/>
        </p:spPr>
        <p:txBody>
          <a:bodyPr wrap="square" lIns="0" tIns="0" rIns="0" bIns="0" rtlCol="0" anchor="t"/>
          <a:lstStyle/>
          <a:p>
            <a:pPr indent="0" marL="0">
              <a:buNone/>
            </a:pPr>
            <a:r>
              <a:rPr lang="en-US" sz="1800" dirty="0">
                <a:solidFill>
                  <a:schemeClr val="tx1"/>
                </a:solidFill>
              </a:rPr>
              <a:t>9.3  Add a check row in Excel</a:t>
            </a:r>
            <a:endParaRPr lang="en-US" sz="1800" dirty="0"/>
          </a:p>
        </p:txBody>
      </p:sp>
      <p:sp>
        <p:nvSpPr>
          <p:cNvPr id="13" name="Divider line"/>
          <p:cNvSpPr/>
          <p:nvPr/>
        </p:nvSpPr>
        <p:spPr>
          <a:xfrm>
            <a:off x="548640" y="4425696"/>
            <a:ext cx="5349240" cy="0"/>
          </a:xfrm>
          <a:prstGeom prst="line">
            <a:avLst/>
          </a:prstGeom>
          <a:noFill/>
          <a:ln w="12700">
            <a:solidFill>
              <a:srgbClr val="E0E0E0"/>
            </a:solidFill>
            <a:prstDash val="solid"/>
          </a:ln>
        </p:spPr>
      </p:sp>
      <p:sp>
        <p:nvSpPr>
          <p:cNvPr id="14" name="Text 10"/>
          <p:cNvSpPr txBox="1"/>
          <p:nvPr/>
        </p:nvSpPr>
        <p:spPr>
          <a:xfrm>
            <a:off x="548640" y="4663440"/>
            <a:ext cx="5349240" cy="731520"/>
          </a:xfrm>
          <a:prstGeom prst="rect">
            <a:avLst/>
          </a:prstGeom>
          <a:noFill/>
          <a:ln/>
        </p:spPr>
        <p:txBody>
          <a:bodyPr wrap="square" lIns="0" tIns="0" rIns="0" bIns="0" rtlCol="0" anchor="t"/>
          <a:lstStyle/>
          <a:p>
            <a:pPr indent="0" marL="0">
              <a:buNone/>
            </a:pPr>
            <a:r>
              <a:rPr lang="en-US" sz="1600" dirty="0">
                <a:solidFill>
                  <a:schemeClr val="accent4"/>
                </a:solidFill>
              </a:rPr>
              <a:t>Read any rewrite against the original before you keep it.</a:t>
            </a:r>
            <a:endParaRPr lang="en-US" sz="1600" dirty="0"/>
          </a:p>
        </p:txBody>
      </p:sp>
      <p:pic>
        <p:nvPicPr>
          <p:cNvPr id="15" name="Image 1" descr="preencoded.png">    </p:cNvPr>
          <p:cNvPicPr>
            <a:picLocks noChangeAspect="1"/>
          </p:cNvPicPr>
          <p:nvPr/>
        </p:nvPicPr>
        <p:blipFill>
          <a:blip r:embed="rId2"/>
          <a:stretch>
            <a:fillRect/>
          </a:stretch>
        </p:blipFill>
        <p:spPr>
          <a:xfrm>
            <a:off x="6263640" y="1783080"/>
            <a:ext cx="457200" cy="457200"/>
          </a:xfrm>
          <a:prstGeom prst="rect">
            <a:avLst/>
          </a:prstGeom>
        </p:spPr>
      </p:pic>
      <p:sp>
        <p:nvSpPr>
          <p:cNvPr id="16" name="Text 11"/>
          <p:cNvSpPr txBox="1"/>
          <p:nvPr/>
        </p:nvSpPr>
        <p:spPr>
          <a:xfrm>
            <a:off x="6903720" y="1783080"/>
            <a:ext cx="457200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Copilot Chat (Basic)</a:t>
            </a:r>
            <a:endParaRPr lang="en-US" sz="2200" dirty="0"/>
          </a:p>
        </p:txBody>
      </p:sp>
      <p:sp>
        <p:nvSpPr>
          <p:cNvPr id="17" name="Divider line"/>
          <p:cNvSpPr/>
          <p:nvPr/>
        </p:nvSpPr>
        <p:spPr>
          <a:xfrm>
            <a:off x="6263640" y="2468880"/>
            <a:ext cx="5349240" cy="0"/>
          </a:xfrm>
          <a:prstGeom prst="line">
            <a:avLst/>
          </a:prstGeom>
          <a:noFill/>
          <a:ln w="12700">
            <a:solidFill>
              <a:srgbClr val="E0E0E0"/>
            </a:solidFill>
            <a:prstDash val="solid"/>
          </a:ln>
        </p:spPr>
      </p:sp>
      <p:sp>
        <p:nvSpPr>
          <p:cNvPr id="18" name="Text 13"/>
          <p:cNvSpPr txBox="1"/>
          <p:nvPr/>
        </p:nvSpPr>
        <p:spPr>
          <a:xfrm>
            <a:off x="6263640" y="2606040"/>
            <a:ext cx="5349240" cy="548640"/>
          </a:xfrm>
          <a:prstGeom prst="rect">
            <a:avLst/>
          </a:prstGeom>
          <a:noFill/>
          <a:ln/>
        </p:spPr>
        <p:txBody>
          <a:bodyPr wrap="square" lIns="0" tIns="0" rIns="0" bIns="0" rtlCol="0" anchor="t"/>
          <a:lstStyle/>
          <a:p>
            <a:pPr indent="0" marL="0">
              <a:buNone/>
            </a:pPr>
            <a:r>
              <a:rPr lang="en-US" sz="1800" dirty="0">
                <a:solidFill>
                  <a:schemeClr val="tx1"/>
                </a:solidFill>
              </a:rPr>
              <a:t>No Copilot inside Word or Excel</a:t>
            </a:r>
            <a:endParaRPr lang="en-US" sz="1800" dirty="0"/>
          </a:p>
        </p:txBody>
      </p:sp>
      <p:sp>
        <p:nvSpPr>
          <p:cNvPr id="19" name="Divider line"/>
          <p:cNvSpPr/>
          <p:nvPr/>
        </p:nvSpPr>
        <p:spPr>
          <a:xfrm>
            <a:off x="6263640" y="3182112"/>
            <a:ext cx="5349240" cy="0"/>
          </a:xfrm>
          <a:prstGeom prst="line">
            <a:avLst/>
          </a:prstGeom>
          <a:noFill/>
          <a:ln w="12700">
            <a:solidFill>
              <a:srgbClr val="E0E0E0"/>
            </a:solidFill>
            <a:prstDash val="solid"/>
          </a:ln>
        </p:spPr>
      </p:sp>
      <p:sp>
        <p:nvSpPr>
          <p:cNvPr id="20" name="Text 15"/>
          <p:cNvSpPr txBox="1"/>
          <p:nvPr/>
        </p:nvSpPr>
        <p:spPr>
          <a:xfrm>
            <a:off x="6263640" y="3227832"/>
            <a:ext cx="5349240" cy="548640"/>
          </a:xfrm>
          <a:prstGeom prst="rect">
            <a:avLst/>
          </a:prstGeom>
          <a:noFill/>
          <a:ln/>
        </p:spPr>
        <p:txBody>
          <a:bodyPr wrap="square" lIns="0" tIns="0" rIns="0" bIns="0" rtlCol="0" anchor="t"/>
          <a:lstStyle/>
          <a:p>
            <a:pPr indent="0" marL="0">
              <a:buNone/>
            </a:pPr>
            <a:r>
              <a:rPr lang="en-US" sz="1800" dirty="0">
                <a:solidFill>
                  <a:schemeClr val="tx1"/>
                </a:solidFill>
              </a:rPr>
              <a:t>Start the capstone (Chapter 10) early</a:t>
            </a:r>
            <a:endParaRPr lang="en-US" sz="1800" dirty="0"/>
          </a:p>
        </p:txBody>
      </p:sp>
      <p:sp>
        <p:nvSpPr>
          <p:cNvPr id="21" name="Divider line"/>
          <p:cNvSpPr/>
          <p:nvPr/>
        </p:nvSpPr>
        <p:spPr>
          <a:xfrm>
            <a:off x="6263640" y="3803904"/>
            <a:ext cx="5349240" cy="0"/>
          </a:xfrm>
          <a:prstGeom prst="line">
            <a:avLst/>
          </a:prstGeom>
          <a:noFill/>
          <a:ln w="12700">
            <a:solidFill>
              <a:srgbClr val="E0E0E0"/>
            </a:solidFill>
            <a:prstDash val="solid"/>
          </a:ln>
        </p:spPr>
      </p:sp>
      <p:sp>
        <p:nvSpPr>
          <p:cNvPr id="22" name="Text 17"/>
          <p:cNvSpPr txBox="1"/>
          <p:nvPr/>
        </p:nvSpPr>
        <p:spPr>
          <a:xfrm>
            <a:off x="6263640" y="3849624"/>
            <a:ext cx="5349240" cy="548640"/>
          </a:xfrm>
          <a:prstGeom prst="rect">
            <a:avLst/>
          </a:prstGeom>
          <a:noFill/>
          <a:ln/>
        </p:spPr>
        <p:txBody>
          <a:bodyPr wrap="square" lIns="0" tIns="0" rIns="0" bIns="0" rtlCol="0" anchor="t"/>
          <a:lstStyle/>
          <a:p>
            <a:pPr indent="0" marL="0">
              <a:buNone/>
            </a:pPr>
            <a:r>
              <a:rPr lang="en-US" sz="1800" dirty="0">
                <a:solidFill>
                  <a:schemeClr val="tx1"/>
                </a:solidFill>
              </a:rPr>
              <a:t>Or try an exercise from Chapter 11</a:t>
            </a:r>
            <a:endParaRPr lang="en-US" sz="1800" dirty="0"/>
          </a:p>
        </p:txBody>
      </p:sp>
      <p:sp>
        <p:nvSpPr>
          <p:cNvPr id="23" name="Divider line"/>
          <p:cNvSpPr/>
          <p:nvPr/>
        </p:nvSpPr>
        <p:spPr>
          <a:xfrm>
            <a:off x="6263640" y="4425696"/>
            <a:ext cx="5349240" cy="0"/>
          </a:xfrm>
          <a:prstGeom prst="line">
            <a:avLst/>
          </a:prstGeom>
          <a:noFill/>
          <a:ln w="12700">
            <a:solidFill>
              <a:srgbClr val="E0E0E0"/>
            </a:solidFill>
            <a:prstDash val="solid"/>
          </a:ln>
        </p:spPr>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10</a:t>
            </a:r>
            <a:endParaRPr lang="en-US" sz="8800" dirty="0"/>
          </a:p>
        </p:txBody>
      </p:sp>
      <p:sp>
        <p:nvSpPr>
          <p:cNvPr id="3" name="Text 0"/>
          <p:cNvSpPr/>
          <p:nvPr>
            <p:ph idx="102"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Capstone: the training vendor purchase</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Repeat  |  45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checked comparison of three training quotations, chasing emails, a memo on a Page, and everything in a Notebook.</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10</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The brief from your HOD</a:t>
            </a:r>
            <a:endParaRPr lang="en-US" sz="3200" dirty="0"/>
          </a:p>
        </p:txBody>
      </p:sp>
      <p:sp>
        <p:nvSpPr>
          <p:cNvPr id="5" name="Text 2"/>
          <p:cNvSpPr txBox="1"/>
          <p:nvPr/>
        </p:nvSpPr>
        <p:spPr>
          <a:xfrm>
            <a:off x="548640" y="1783080"/>
            <a:ext cx="10515600" cy="1645920"/>
          </a:xfrm>
          <a:prstGeom prst="rect">
            <a:avLst/>
          </a:prstGeom>
          <a:noFill/>
          <a:ln/>
        </p:spPr>
        <p:txBody>
          <a:bodyPr wrap="square" lIns="0" tIns="0" rIns="0" bIns="0" rtlCol="0" anchor="t"/>
          <a:lstStyle/>
          <a:p>
            <a:pPr indent="0" marL="0">
              <a:buNone/>
            </a:pPr>
            <a:r>
              <a:rPr lang="en-US" sz="2000" dirty="0">
                <a:solidFill>
                  <a:schemeClr val="tx1"/>
                </a:solidFill>
                <a:latin typeface="Segoe UI Light" pitchFamily="34" charset="0"/>
                <a:ea typeface="Segoe UI Light" pitchFamily="34" charset="-122"/>
                <a:cs typeface="Segoe UI Light" pitchFamily="34" charset="-120"/>
              </a:rPr>
              <a:t>"The department needs a two-day in-house Effective Business Writing course for 30 executives, at Menara Teratai, in November 2026. HR says it must be HRD Corp claimable. Please check the quotations, compare them, and send me a recommendation with a memo."</a:t>
            </a:r>
            <a:endParaRPr lang="en-US" sz="2000" dirty="0"/>
          </a:p>
        </p:txBody>
      </p:sp>
      <p:sp>
        <p:nvSpPr>
          <p:cNvPr id="6" name="Text 3"/>
          <p:cNvSpPr txBox="1"/>
          <p:nvPr/>
        </p:nvSpPr>
        <p:spPr>
          <a:xfrm>
            <a:off x="548640" y="3703320"/>
            <a:ext cx="10972800" cy="457200"/>
          </a:xfrm>
          <a:prstGeom prst="rect">
            <a:avLst/>
          </a:prstGeom>
          <a:noFill/>
          <a:ln/>
        </p:spPr>
        <p:txBody>
          <a:bodyPr wrap="square" lIns="0" tIns="0" rIns="0" bIns="0" rtlCol="0" anchor="t"/>
          <a:lstStyle/>
          <a:p>
            <a:pPr indent="0" marL="0">
              <a:buNone/>
            </a:pPr>
            <a:r>
              <a:rPr lang="en-US" sz="1800" dirty="0">
                <a:solidFill>
                  <a:schemeClr val="accent4"/>
                </a:solidFill>
                <a:latin typeface="Segoe UI Semibold" pitchFamily="34" charset="0"/>
                <a:ea typeface="Segoe UI Semibold" pitchFamily="34" charset="-122"/>
                <a:cs typeface="Segoe UI Semibold" pitchFamily="34" charset="-120"/>
              </a:rPr>
              <a:t>Every quotation must match all four</a:t>
            </a:r>
            <a:endParaRPr lang="en-US" sz="1800" dirty="0"/>
          </a:p>
        </p:txBody>
      </p:sp>
      <p:sp>
        <p:nvSpPr>
          <p:cNvPr id="7" name="Divider line"/>
          <p:cNvSpPr/>
          <p:nvPr/>
        </p:nvSpPr>
        <p:spPr>
          <a:xfrm>
            <a:off x="548640" y="4251960"/>
            <a:ext cx="2560320" cy="0"/>
          </a:xfrm>
          <a:prstGeom prst="line">
            <a:avLst/>
          </a:prstGeom>
          <a:noFill/>
          <a:ln w="12700">
            <a:solidFill>
              <a:srgbClr val="E0E0E0"/>
            </a:solidFill>
            <a:prstDash val="solid"/>
          </a:ln>
        </p:spPr>
      </p:sp>
      <p:pic>
        <p:nvPicPr>
          <p:cNvPr id="8" name="Image 0" descr="preencoded.png">    </p:cNvPr>
          <p:cNvPicPr>
            <a:picLocks noChangeAspect="1"/>
          </p:cNvPicPr>
          <p:nvPr/>
        </p:nvPicPr>
        <p:blipFill>
          <a:blip r:embed="rId1"/>
          <a:stretch>
            <a:fillRect/>
          </a:stretch>
        </p:blipFill>
        <p:spPr>
          <a:xfrm>
            <a:off x="548640" y="4480560"/>
            <a:ext cx="502920" cy="502920"/>
          </a:xfrm>
          <a:prstGeom prst="rect">
            <a:avLst/>
          </a:prstGeom>
        </p:spPr>
      </p:pic>
      <p:sp>
        <p:nvSpPr>
          <p:cNvPr id="9" name="Text 5"/>
          <p:cNvSpPr txBox="1"/>
          <p:nvPr/>
        </p:nvSpPr>
        <p:spPr>
          <a:xfrm>
            <a:off x="548640" y="5120640"/>
            <a:ext cx="25603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Two days</a:t>
            </a:r>
            <a:endParaRPr lang="en-US" sz="2000" dirty="0"/>
          </a:p>
        </p:txBody>
      </p:sp>
      <p:sp>
        <p:nvSpPr>
          <p:cNvPr id="10" name="Divider line"/>
          <p:cNvSpPr/>
          <p:nvPr/>
        </p:nvSpPr>
        <p:spPr>
          <a:xfrm>
            <a:off x="3383280" y="4251960"/>
            <a:ext cx="2560320" cy="0"/>
          </a:xfrm>
          <a:prstGeom prst="line">
            <a:avLst/>
          </a:prstGeom>
          <a:noFill/>
          <a:ln w="12700">
            <a:solidFill>
              <a:srgbClr val="E0E0E0"/>
            </a:solidFill>
            <a:prstDash val="solid"/>
          </a:ln>
        </p:spPr>
      </p:sp>
      <p:pic>
        <p:nvPicPr>
          <p:cNvPr id="11" name="Image 1" descr="preencoded.png">    </p:cNvPr>
          <p:cNvPicPr>
            <a:picLocks noChangeAspect="1"/>
          </p:cNvPicPr>
          <p:nvPr/>
        </p:nvPicPr>
        <p:blipFill>
          <a:blip r:embed="rId2"/>
          <a:stretch>
            <a:fillRect/>
          </a:stretch>
        </p:blipFill>
        <p:spPr>
          <a:xfrm>
            <a:off x="3383280" y="4480560"/>
            <a:ext cx="502920" cy="502920"/>
          </a:xfrm>
          <a:prstGeom prst="rect">
            <a:avLst/>
          </a:prstGeom>
        </p:spPr>
      </p:pic>
      <p:sp>
        <p:nvSpPr>
          <p:cNvPr id="12" name="Text 7"/>
          <p:cNvSpPr txBox="1"/>
          <p:nvPr/>
        </p:nvSpPr>
        <p:spPr>
          <a:xfrm>
            <a:off x="3383280" y="5120640"/>
            <a:ext cx="25603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30 participants</a:t>
            </a:r>
            <a:endParaRPr lang="en-US" sz="2000" dirty="0"/>
          </a:p>
        </p:txBody>
      </p:sp>
      <p:sp>
        <p:nvSpPr>
          <p:cNvPr id="13" name="Divider line"/>
          <p:cNvSpPr/>
          <p:nvPr/>
        </p:nvSpPr>
        <p:spPr>
          <a:xfrm>
            <a:off x="6217920" y="4251960"/>
            <a:ext cx="2560320" cy="0"/>
          </a:xfrm>
          <a:prstGeom prst="line">
            <a:avLst/>
          </a:prstGeom>
          <a:noFill/>
          <a:ln w="12700">
            <a:solidFill>
              <a:srgbClr val="E0E0E0"/>
            </a:solidFill>
            <a:prstDash val="solid"/>
          </a:ln>
        </p:spPr>
      </p:sp>
      <p:pic>
        <p:nvPicPr>
          <p:cNvPr id="14" name="Image 2" descr="preencoded.png">    </p:cNvPr>
          <p:cNvPicPr>
            <a:picLocks noChangeAspect="1"/>
          </p:cNvPicPr>
          <p:nvPr/>
        </p:nvPicPr>
        <p:blipFill>
          <a:blip r:embed="rId3"/>
          <a:stretch>
            <a:fillRect/>
          </a:stretch>
        </p:blipFill>
        <p:spPr>
          <a:xfrm>
            <a:off x="6217920" y="4480560"/>
            <a:ext cx="502920" cy="502920"/>
          </a:xfrm>
          <a:prstGeom prst="rect">
            <a:avLst/>
          </a:prstGeom>
        </p:spPr>
      </p:pic>
      <p:sp>
        <p:nvSpPr>
          <p:cNvPr id="15" name="Text 9"/>
          <p:cNvSpPr txBox="1"/>
          <p:nvPr/>
        </p:nvSpPr>
        <p:spPr>
          <a:xfrm>
            <a:off x="6217920" y="5120640"/>
            <a:ext cx="25603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In-house</a:t>
            </a:r>
            <a:endParaRPr lang="en-US" sz="2000" dirty="0"/>
          </a:p>
        </p:txBody>
      </p:sp>
      <p:sp>
        <p:nvSpPr>
          <p:cNvPr id="16" name="Divider line"/>
          <p:cNvSpPr/>
          <p:nvPr/>
        </p:nvSpPr>
        <p:spPr>
          <a:xfrm>
            <a:off x="9052560" y="4251960"/>
            <a:ext cx="2560320" cy="0"/>
          </a:xfrm>
          <a:prstGeom prst="line">
            <a:avLst/>
          </a:prstGeom>
          <a:noFill/>
          <a:ln w="12700">
            <a:solidFill>
              <a:srgbClr val="E0E0E0"/>
            </a:solidFill>
            <a:prstDash val="solid"/>
          </a:ln>
        </p:spPr>
      </p:sp>
      <p:pic>
        <p:nvPicPr>
          <p:cNvPr id="17" name="Image 3" descr="preencoded.png">    </p:cNvPr>
          <p:cNvPicPr>
            <a:picLocks noChangeAspect="1"/>
          </p:cNvPicPr>
          <p:nvPr/>
        </p:nvPicPr>
        <p:blipFill>
          <a:blip r:embed="rId4"/>
          <a:stretch>
            <a:fillRect/>
          </a:stretch>
        </p:blipFill>
        <p:spPr>
          <a:xfrm>
            <a:off x="9052560" y="4480560"/>
            <a:ext cx="502920" cy="502920"/>
          </a:xfrm>
          <a:prstGeom prst="rect">
            <a:avLst/>
          </a:prstGeom>
        </p:spPr>
      </p:pic>
      <p:sp>
        <p:nvSpPr>
          <p:cNvPr id="18" name="Text 11"/>
          <p:cNvSpPr txBox="1"/>
          <p:nvPr/>
        </p:nvSpPr>
        <p:spPr>
          <a:xfrm>
            <a:off x="9052560" y="5120640"/>
            <a:ext cx="25603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HRD Corp claimable</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Chapter 10</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Run the second purchase on your own</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10.3</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Draft the requirements with GCSE</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10.4</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Check with your agent, then compare in Copilot Chat</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10.5</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Draft one chasing email per provider</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10.6</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Write the memo on a Page</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10.7</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File it all in a Training purchase 2026 Notebook</a:t>
            </a:r>
            <a:endParaRPr lang="en-US" sz="1600" dirty="0"/>
          </a:p>
        </p:txBody>
      </p:sp>
      <p:sp>
        <p:nvSpPr>
          <p:cNvPr id="15" name="Text 12"/>
          <p:cNvSpPr txBox="1"/>
          <p:nvPr/>
        </p:nvSpPr>
        <p:spPr>
          <a:xfrm>
            <a:off x="548640" y="461772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10.8</a:t>
            </a:r>
            <a:endParaRPr lang="en-US" sz="1600" dirty="0"/>
          </a:p>
        </p:txBody>
      </p:sp>
      <p:sp>
        <p:nvSpPr>
          <p:cNvPr id="16" name="Text 13"/>
          <p:cNvSpPr txBox="1"/>
          <p:nvPr/>
        </p:nvSpPr>
        <p:spPr>
          <a:xfrm>
            <a:off x="1325880" y="4617720"/>
            <a:ext cx="5852160" cy="566928"/>
          </a:xfrm>
          <a:prstGeom prst="rect">
            <a:avLst/>
          </a:prstGeom>
          <a:noFill/>
          <a:ln/>
        </p:spPr>
        <p:txBody>
          <a:bodyPr wrap="square" lIns="0" tIns="0" rIns="0" bIns="0" rtlCol="0" anchor="t"/>
          <a:lstStyle/>
          <a:p>
            <a:pPr indent="0" marL="0">
              <a:buNone/>
            </a:pPr>
            <a:r>
              <a:rPr lang="en-US" sz="1600" dirty="0">
                <a:solidFill>
                  <a:schemeClr val="tx1"/>
                </a:solidFill>
              </a:rPr>
              <a:t>Run your Quotation Checker as a final check</a:t>
            </a:r>
            <a:endParaRPr lang="en-US" sz="1600" dirty="0"/>
          </a:p>
        </p:txBody>
      </p:sp>
      <p:sp>
        <p:nvSpPr>
          <p:cNvPr id="17"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8"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9" name="Text 15"/>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20" name="Text 16"/>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One problem found in each quotation, the policy section named for each, and every number in the memo explained without Copilot.</a:t>
            </a:r>
            <a:endParaRPr lang="en-US" sz="1600" dirty="0"/>
          </a:p>
        </p:txBody>
      </p:sp>
      <p:sp>
        <p:nvSpPr>
          <p:cNvPr id="21" name="Divider line"/>
          <p:cNvSpPr/>
          <p:nvPr/>
        </p:nvSpPr>
        <p:spPr>
          <a:xfrm>
            <a:off x="7909560" y="4983480"/>
            <a:ext cx="3429000" cy="0"/>
          </a:xfrm>
          <a:prstGeom prst="line">
            <a:avLst/>
          </a:prstGeom>
          <a:noFill/>
          <a:ln w="12700">
            <a:solidFill>
              <a:srgbClr val="E0E0E0"/>
            </a:solidFill>
            <a:prstDash val="solid"/>
          </a:ln>
        </p:spPr>
      </p:sp>
      <p:sp>
        <p:nvSpPr>
          <p:cNvPr id="22" name="Text 18"/>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Chapter 10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Chapter 11  |  Self-paced</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Finished early? Four short exercises</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A. Polish an announcement</a:t>
            </a:r>
            <a:endParaRPr lang="en-US" sz="19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Laptop collection day, under 120 words, in your voice</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B. Make a notice image</a:t>
            </a:r>
            <a:endParaRPr lang="en-US" sz="19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An image with no text in it, for the notice board</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C. Improve a weak prompt</a:t>
            </a:r>
            <a:endParaRPr lang="en-US" sz="19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Fix a colleague's four-word memo prompt</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D. Research with sources</a:t>
            </a:r>
            <a:endParaRPr lang="en-US" sz="19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Disposing of old laptops properly in Malaysia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Wrap-up</a:t>
            </a:r>
            <a:endParaRPr lang="en-US" sz="14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Five habits to take back to your desk</a:t>
            </a:r>
            <a:endParaRPr lang="en-US" sz="3200" dirty="0"/>
          </a:p>
        </p:txBody>
      </p:sp>
      <p:pic>
        <p:nvPicPr>
          <p:cNvPr id="5" name="Image 0" descr="preencoded.png">    </p:cNvPr>
          <p:cNvPicPr>
            <a:picLocks noChangeAspect="1"/>
          </p:cNvPicPr>
          <p:nvPr/>
        </p:nvPicPr>
        <p:blipFill>
          <a:blip r:embed="rId1"/>
          <a:stretch>
            <a:fillRect/>
          </a:stretch>
        </p:blipFill>
        <p:spPr>
          <a:xfrm>
            <a:off x="548640" y="1892808"/>
            <a:ext cx="411480" cy="411480"/>
          </a:xfrm>
          <a:prstGeom prst="rect">
            <a:avLst/>
          </a:prstGeom>
        </p:spPr>
      </p:pic>
      <p:sp>
        <p:nvSpPr>
          <p:cNvPr id="6" name="Text 2"/>
          <p:cNvSpPr txBox="1"/>
          <p:nvPr/>
        </p:nvSpPr>
        <p:spPr>
          <a:xfrm>
            <a:off x="1234440" y="178308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 the label and the shield</a:t>
            </a:r>
            <a:endParaRPr lang="en-US" sz="2000" dirty="0"/>
          </a:p>
        </p:txBody>
      </p:sp>
      <p:sp>
        <p:nvSpPr>
          <p:cNvPr id="7" name="Text 3"/>
          <p:cNvSpPr txBox="1"/>
          <p:nvPr/>
        </p:nvSpPr>
        <p:spPr>
          <a:xfrm>
            <a:off x="6400800" y="1783080"/>
            <a:ext cx="5212080" cy="640080"/>
          </a:xfrm>
          <a:prstGeom prst="rect">
            <a:avLst/>
          </a:prstGeom>
          <a:noFill/>
          <a:ln/>
        </p:spPr>
        <p:txBody>
          <a:bodyPr wrap="square" lIns="0" tIns="0" rIns="0" bIns="0" rtlCol="0" anchor="ctr"/>
          <a:lstStyle/>
          <a:p>
            <a:pPr indent="0" marL="0">
              <a:buNone/>
            </a:pPr>
            <a:r>
              <a:rPr lang="en-US" sz="1800" dirty="0">
                <a:solidFill>
                  <a:schemeClr val="accent4"/>
                </a:solidFill>
              </a:rPr>
              <a:t>before you paste or upload anything</a:t>
            </a:r>
            <a:endParaRPr lang="en-US" sz="1800" dirty="0"/>
          </a:p>
        </p:txBody>
      </p:sp>
      <p:sp>
        <p:nvSpPr>
          <p:cNvPr id="8" name="Divider line"/>
          <p:cNvSpPr/>
          <p:nvPr/>
        </p:nvSpPr>
        <p:spPr>
          <a:xfrm>
            <a:off x="548640" y="2514600"/>
            <a:ext cx="11064240" cy="0"/>
          </a:xfrm>
          <a:prstGeom prst="line">
            <a:avLst/>
          </a:prstGeom>
          <a:noFill/>
          <a:ln w="12700">
            <a:solidFill>
              <a:srgbClr val="E0E0E0"/>
            </a:solidFill>
            <a:prstDash val="solid"/>
          </a:ln>
        </p:spPr>
      </p:sp>
      <p:pic>
        <p:nvPicPr>
          <p:cNvPr id="9" name="Image 1" descr="preencoded.png">    </p:cNvPr>
          <p:cNvPicPr>
            <a:picLocks noChangeAspect="1"/>
          </p:cNvPicPr>
          <p:nvPr/>
        </p:nvPicPr>
        <p:blipFill>
          <a:blip r:embed="rId2"/>
          <a:stretch>
            <a:fillRect/>
          </a:stretch>
        </p:blipFill>
        <p:spPr>
          <a:xfrm>
            <a:off x="548640" y="2715768"/>
            <a:ext cx="411480" cy="411480"/>
          </a:xfrm>
          <a:prstGeom prst="rect">
            <a:avLst/>
          </a:prstGeom>
        </p:spPr>
      </p:pic>
      <p:sp>
        <p:nvSpPr>
          <p:cNvPr id="10" name="Text 5"/>
          <p:cNvSpPr txBox="1"/>
          <p:nvPr/>
        </p:nvSpPr>
        <p:spPr>
          <a:xfrm>
            <a:off x="1234440" y="260604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Use GCSE</a:t>
            </a:r>
            <a:endParaRPr lang="en-US" sz="2000" dirty="0"/>
          </a:p>
        </p:txBody>
      </p:sp>
      <p:sp>
        <p:nvSpPr>
          <p:cNvPr id="11" name="Text 6"/>
          <p:cNvSpPr txBox="1"/>
          <p:nvPr/>
        </p:nvSpPr>
        <p:spPr>
          <a:xfrm>
            <a:off x="6400800" y="2606040"/>
            <a:ext cx="5212080" cy="640080"/>
          </a:xfrm>
          <a:prstGeom prst="rect">
            <a:avLst/>
          </a:prstGeom>
          <a:noFill/>
          <a:ln/>
        </p:spPr>
        <p:txBody>
          <a:bodyPr wrap="square" lIns="0" tIns="0" rIns="0" bIns="0" rtlCol="0" anchor="ctr"/>
          <a:lstStyle/>
          <a:p>
            <a:pPr indent="0" marL="0">
              <a:buNone/>
            </a:pPr>
            <a:r>
              <a:rPr lang="en-US" sz="1800" dirty="0">
                <a:solidFill>
                  <a:schemeClr val="accent4"/>
                </a:solidFill>
              </a:rPr>
              <a:t>Goal, Context, Source, Expectations</a:t>
            </a:r>
            <a:endParaRPr lang="en-US" sz="1800" dirty="0"/>
          </a:p>
        </p:txBody>
      </p:sp>
      <p:sp>
        <p:nvSpPr>
          <p:cNvPr id="12" name="Divider line"/>
          <p:cNvSpPr/>
          <p:nvPr/>
        </p:nvSpPr>
        <p:spPr>
          <a:xfrm>
            <a:off x="548640" y="3337560"/>
            <a:ext cx="11064240" cy="0"/>
          </a:xfrm>
          <a:prstGeom prst="line">
            <a:avLst/>
          </a:prstGeom>
          <a:noFill/>
          <a:ln w="12700">
            <a:solidFill>
              <a:srgbClr val="E0E0E0"/>
            </a:solidFill>
            <a:prstDash val="solid"/>
          </a:ln>
        </p:spPr>
      </p:sp>
      <p:pic>
        <p:nvPicPr>
          <p:cNvPr id="13" name="Image 2" descr="preencoded.png">    </p:cNvPr>
          <p:cNvPicPr>
            <a:picLocks noChangeAspect="1"/>
          </p:cNvPicPr>
          <p:nvPr/>
        </p:nvPicPr>
        <p:blipFill>
          <a:blip r:embed="rId3"/>
          <a:stretch>
            <a:fillRect/>
          </a:stretch>
        </p:blipFill>
        <p:spPr>
          <a:xfrm>
            <a:off x="548640" y="3538728"/>
            <a:ext cx="411480" cy="411480"/>
          </a:xfrm>
          <a:prstGeom prst="rect">
            <a:avLst/>
          </a:prstGeom>
        </p:spPr>
      </p:pic>
      <p:sp>
        <p:nvSpPr>
          <p:cNvPr id="14" name="Text 8"/>
          <p:cNvSpPr txBox="1"/>
          <p:nvPr/>
        </p:nvSpPr>
        <p:spPr>
          <a:xfrm>
            <a:off x="1234440" y="342900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 every number yourself</a:t>
            </a:r>
            <a:endParaRPr lang="en-US" sz="2000" dirty="0"/>
          </a:p>
        </p:txBody>
      </p:sp>
      <p:sp>
        <p:nvSpPr>
          <p:cNvPr id="15" name="Text 9"/>
          <p:cNvSpPr txBox="1"/>
          <p:nvPr/>
        </p:nvSpPr>
        <p:spPr>
          <a:xfrm>
            <a:off x="6400800" y="3429000"/>
            <a:ext cx="5212080" cy="640080"/>
          </a:xfrm>
          <a:prstGeom prst="rect">
            <a:avLst/>
          </a:prstGeom>
          <a:noFill/>
          <a:ln/>
        </p:spPr>
        <p:txBody>
          <a:bodyPr wrap="square" lIns="0" tIns="0" rIns="0" bIns="0" rtlCol="0" anchor="ctr"/>
          <a:lstStyle/>
          <a:p>
            <a:pPr indent="0" marL="0">
              <a:buNone/>
            </a:pPr>
            <a:r>
              <a:rPr lang="en-US" sz="1800" dirty="0">
                <a:solidFill>
                  <a:schemeClr val="accent4"/>
                </a:solidFill>
              </a:rPr>
              <a:t>Copilot recommends, you decide</a:t>
            </a:r>
            <a:endParaRPr lang="en-US" sz="1800" dirty="0"/>
          </a:p>
        </p:txBody>
      </p:sp>
      <p:sp>
        <p:nvSpPr>
          <p:cNvPr id="16" name="Divider line"/>
          <p:cNvSpPr/>
          <p:nvPr/>
        </p:nvSpPr>
        <p:spPr>
          <a:xfrm>
            <a:off x="548640" y="4160520"/>
            <a:ext cx="11064240" cy="0"/>
          </a:xfrm>
          <a:prstGeom prst="line">
            <a:avLst/>
          </a:prstGeom>
          <a:noFill/>
          <a:ln w="12700">
            <a:solidFill>
              <a:srgbClr val="E0E0E0"/>
            </a:solidFill>
            <a:prstDash val="solid"/>
          </a:ln>
        </p:spPr>
      </p:sp>
      <p:pic>
        <p:nvPicPr>
          <p:cNvPr id="17" name="Image 3" descr="preencoded.png">    </p:cNvPr>
          <p:cNvPicPr>
            <a:picLocks noChangeAspect="1"/>
          </p:cNvPicPr>
          <p:nvPr/>
        </p:nvPicPr>
        <p:blipFill>
          <a:blip r:embed="rId4"/>
          <a:stretch>
            <a:fillRect/>
          </a:stretch>
        </p:blipFill>
        <p:spPr>
          <a:xfrm>
            <a:off x="548640" y="4361688"/>
            <a:ext cx="411480" cy="411480"/>
          </a:xfrm>
          <a:prstGeom prst="rect">
            <a:avLst/>
          </a:prstGeom>
        </p:spPr>
      </p:pic>
      <p:sp>
        <p:nvSpPr>
          <p:cNvPr id="18" name="Text 11"/>
          <p:cNvSpPr txBox="1"/>
          <p:nvPr/>
        </p:nvSpPr>
        <p:spPr>
          <a:xfrm>
            <a:off x="1234440" y="425196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Move answers that matter to a Page</a:t>
            </a:r>
            <a:endParaRPr lang="en-US" sz="2000" dirty="0"/>
          </a:p>
        </p:txBody>
      </p:sp>
      <p:sp>
        <p:nvSpPr>
          <p:cNvPr id="19" name="Text 12"/>
          <p:cNvSpPr txBox="1"/>
          <p:nvPr/>
        </p:nvSpPr>
        <p:spPr>
          <a:xfrm>
            <a:off x="6400800" y="4251960"/>
            <a:ext cx="5212080" cy="640080"/>
          </a:xfrm>
          <a:prstGeom prst="rect">
            <a:avLst/>
          </a:prstGeom>
          <a:noFill/>
          <a:ln/>
        </p:spPr>
        <p:txBody>
          <a:bodyPr wrap="square" lIns="0" tIns="0" rIns="0" bIns="0" rtlCol="0" anchor="ctr"/>
          <a:lstStyle/>
          <a:p>
            <a:pPr indent="0" marL="0">
              <a:buNone/>
            </a:pPr>
            <a:r>
              <a:rPr lang="en-US" sz="1800" dirty="0">
                <a:solidFill>
                  <a:schemeClr val="accent4"/>
                </a:solidFill>
              </a:rPr>
              <a:t>so they can't drift</a:t>
            </a:r>
            <a:endParaRPr lang="en-US" sz="1800" dirty="0"/>
          </a:p>
        </p:txBody>
      </p:sp>
      <p:sp>
        <p:nvSpPr>
          <p:cNvPr id="20" name="Divider line"/>
          <p:cNvSpPr/>
          <p:nvPr/>
        </p:nvSpPr>
        <p:spPr>
          <a:xfrm>
            <a:off x="548640" y="4983480"/>
            <a:ext cx="11064240" cy="0"/>
          </a:xfrm>
          <a:prstGeom prst="line">
            <a:avLst/>
          </a:prstGeom>
          <a:noFill/>
          <a:ln w="12700">
            <a:solidFill>
              <a:srgbClr val="E0E0E0"/>
            </a:solidFill>
            <a:prstDash val="solid"/>
          </a:ln>
        </p:spPr>
      </p:sp>
      <p:pic>
        <p:nvPicPr>
          <p:cNvPr id="21" name="Image 4" descr="preencoded.png">    </p:cNvPr>
          <p:cNvPicPr>
            <a:picLocks noChangeAspect="1"/>
          </p:cNvPicPr>
          <p:nvPr/>
        </p:nvPicPr>
        <p:blipFill>
          <a:blip r:embed="rId5"/>
          <a:stretch>
            <a:fillRect/>
          </a:stretch>
        </p:blipFill>
        <p:spPr>
          <a:xfrm>
            <a:off x="548640" y="5184648"/>
            <a:ext cx="411480" cy="411480"/>
          </a:xfrm>
          <a:prstGeom prst="rect">
            <a:avLst/>
          </a:prstGeom>
        </p:spPr>
      </p:pic>
      <p:sp>
        <p:nvSpPr>
          <p:cNvPr id="22" name="Text 14"/>
          <p:cNvSpPr txBox="1"/>
          <p:nvPr/>
        </p:nvSpPr>
        <p:spPr>
          <a:xfrm>
            <a:off x="1234440" y="507492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Read every draft before you send it</a:t>
            </a:r>
            <a:endParaRPr lang="en-US" sz="2000" dirty="0"/>
          </a:p>
        </p:txBody>
      </p:sp>
      <p:sp>
        <p:nvSpPr>
          <p:cNvPr id="23" name="Text 15"/>
          <p:cNvSpPr txBox="1"/>
          <p:nvPr/>
        </p:nvSpPr>
        <p:spPr>
          <a:xfrm>
            <a:off x="6400800" y="5074920"/>
            <a:ext cx="5212080" cy="640080"/>
          </a:xfrm>
          <a:prstGeom prst="rect">
            <a:avLst/>
          </a:prstGeom>
          <a:noFill/>
          <a:ln/>
        </p:spPr>
        <p:txBody>
          <a:bodyPr wrap="square" lIns="0" tIns="0" rIns="0" bIns="0" rtlCol="0" anchor="ctr"/>
          <a:lstStyle/>
          <a:p>
            <a:pPr indent="0" marL="0">
              <a:buNone/>
            </a:pPr>
            <a:r>
              <a:rPr lang="en-US" sz="1800" dirty="0">
                <a:solidFill>
                  <a:schemeClr val="accent4"/>
                </a:solidFill>
              </a:rPr>
              <a:t>names, numbers and promises</a:t>
            </a:r>
            <a:endParaRPr lang="en-US" sz="1800" dirty="0"/>
          </a:p>
        </p:txBody>
      </p:sp>
      <p:sp>
        <p:nvSpPr>
          <p:cNvPr id="24" name="Divider line"/>
          <p:cNvSpPr/>
          <p:nvPr/>
        </p:nvSpPr>
        <p:spPr>
          <a:xfrm>
            <a:off x="548640" y="5806440"/>
            <a:ext cx="11064240" cy="0"/>
          </a:xfrm>
          <a:prstGeom prst="line">
            <a:avLst/>
          </a:prstGeom>
          <a:noFill/>
          <a:ln w="12700">
            <a:solidFill>
              <a:srgbClr val="E0E0E0"/>
            </a:solidFill>
            <a:prstDash val="solid"/>
          </a:ln>
        </p:spPr>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body" hasCustomPrompt="1"/>
          </p:nvPr>
        </p:nvSpPr>
        <p:spPr>
          <a:xfrm>
            <a:off x="731520" y="1463040"/>
            <a:ext cx="10058400" cy="365760"/>
          </a:xfrm>
          <a:prstGeom prst="rect">
            <a:avLst/>
          </a:prstGeom>
          <a:noFill/>
          <a:ln/>
        </p:spPr>
        <p:txBody>
          <a:bodyPr wrap="square" lIns="0" tIns="0" rIns="0" bIns="0" rtlCol="0"/>
          <a:lstStyle/>
          <a:p>
            <a:pPr indent="0" marL="0">
              <a:buNone/>
            </a:pPr>
            <a:r>
              <a:rPr lang="en-US" sz="1600" dirty="0">
                <a:solidFill>
                  <a:srgbClr val="00EEFC"/>
                </a:solidFill>
              </a:rPr>
              <a:t>Thank you</a:t>
            </a:r>
            <a:endParaRPr lang="en-US" sz="1600" dirty="0"/>
          </a:p>
        </p:txBody>
      </p:sp>
      <p:sp>
        <p:nvSpPr>
          <p:cNvPr id="3" name="Text 0"/>
          <p:cNvSpPr/>
          <p:nvPr>
            <p:ph idx="102" type="title" hasCustomPrompt="1"/>
          </p:nvPr>
        </p:nvSpPr>
        <p:spPr>
          <a:xfrm>
            <a:off x="731520" y="1920240"/>
            <a:ext cx="10515600" cy="1371600"/>
          </a:xfrm>
          <a:prstGeom prst="rect">
            <a:avLst/>
          </a:prstGeom>
          <a:noFill/>
          <a:ln/>
        </p:spPr>
        <p:txBody>
          <a:bodyPr wrap="square" lIns="0" tIns="0" rIns="0" bIns="0" rtlCol="0" anchor="t"/>
          <a:lstStyle/>
          <a:p>
            <a:pPr algn="l" indent="0" marL="0">
              <a:buNone/>
            </a:pPr>
            <a:r>
              <a:rPr lang="en-US" sz="4800" dirty="0">
                <a:solidFill>
                  <a:schemeClr val="bg1"/>
                </a:solidFill>
              </a:rPr>
              <a:t>Keep practising</a:t>
            </a:r>
            <a:endParaRPr lang="en-US" sz="4800" dirty="0"/>
          </a:p>
        </p:txBody>
      </p:sp>
      <p:sp>
        <p:nvSpPr>
          <p:cNvPr id="4" name="Text 0"/>
          <p:cNvSpPr/>
          <p:nvPr>
            <p:ph idx="103" type="body" hasCustomPrompt="1"/>
          </p:nvPr>
        </p:nvSpPr>
        <p:spPr>
          <a:xfrm>
            <a:off x="731520" y="3383280"/>
            <a:ext cx="9144000" cy="914400"/>
          </a:xfrm>
          <a:prstGeom prst="rect">
            <a:avLst/>
          </a:prstGeom>
          <a:noFill/>
          <a:ln/>
        </p:spPr>
        <p:txBody>
          <a:bodyPr wrap="square" lIns="0" tIns="0" rIns="0" bIns="0" rtlCol="0" anchor="t"/>
          <a:lstStyle/>
          <a:p>
            <a:pPr indent="0" marL="0">
              <a:buNone/>
            </a:pPr>
            <a:r>
              <a:rPr lang="en-US" sz="2200" dirty="0">
                <a:solidFill>
                  <a:schemeClr val="bg2"/>
                </a:solidFill>
              </a:rPr>
              <a:t>Notes, prompts, the course book and the sample files stay online after today.</a:t>
            </a:r>
            <a:endParaRPr lang="en-US" sz="2200" dirty="0"/>
          </a:p>
        </p:txBody>
      </p:sp>
      <p:sp>
        <p:nvSpPr>
          <p:cNvPr id="5" name="Text 0"/>
          <p:cNvSpPr/>
          <p:nvPr>
            <p:ph idx="104" type="body" hasCustomPrompt="1"/>
          </p:nvPr>
        </p:nvSpPr>
        <p:spPr>
          <a:xfrm>
            <a:off x="731520" y="5669280"/>
            <a:ext cx="9601200" cy="365760"/>
          </a:xfrm>
          <a:prstGeom prst="rect">
            <a:avLst/>
          </a:prstGeom>
          <a:noFill/>
          <a:ln/>
        </p:spPr>
        <p:txBody>
          <a:bodyPr wrap="square" lIns="0" tIns="0" rIns="0" bIns="0" rtlCol="0"/>
          <a:lstStyle/>
          <a:p>
            <a:pPr indent="0" marL="0">
              <a:buNone/>
            </a:pPr>
            <a:r>
              <a:rPr lang="en-US" sz="1400" dirty="0">
                <a:solidFill>
                  <a:schemeClr val="bg2"/>
                </a:solidFill>
              </a:rPr>
              <a:t>asraf-js.github.io/Copilot-Chat-Basic-Workshop</a:t>
            </a:r>
            <a:endParaRPr lang="en-US" sz="1400" dirty="0"/>
          </a:p>
        </p:txBody>
      </p:sp>
    </p:spTree>
  </p:cSld>
  <p:clrMapOvr>
    <a:masterClrMapping/>
  </p:clrMapOvr>
</p:sld>
</file>

<file path=ppt/theme/theme1.xml><?xml version="1.0" encoding="utf-8"?>
<a:theme xmlns:a="http://schemas.openxmlformats.org/drawingml/2006/main" name="Copilot Chat Basic">
  <a:themeElements>
    <a:clrScheme name="Copilot Chat Basic">
      <a:dk1>
        <a:srgbClr val="1A1A2E"/>
      </a:dk1>
      <a:lt1>
        <a:srgbClr val="FFFFFF"/>
      </a:lt1>
      <a:dk2>
        <a:srgbClr val="1E2761"/>
      </a:dk2>
      <a:lt2>
        <a:srgbClr val="F5F5F5"/>
      </a:lt2>
      <a:accent1>
        <a:srgbClr val="6B5DD3"/>
      </a:accent1>
      <a:accent2>
        <a:srgbClr val="028090"/>
      </a:accent2>
      <a:accent3>
        <a:srgbClr val="D83B01"/>
      </a:accent3>
      <a:accent4>
        <a:srgbClr val="616161"/>
      </a:accent4>
      <a:accent5>
        <a:srgbClr val="107C10"/>
      </a:accent5>
      <a:accent6>
        <a:srgbClr val="D13438"/>
      </a:accent6>
      <a:hlink>
        <a:srgbClr val="6B5DD3"/>
      </a:hlink>
      <a:folHlink>
        <a:srgbClr val="1E2761"/>
      </a:folHlink>
    </a:clrScheme>
    <a:fontScheme name="Copilot Chat Basic">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Chat Basic Workshop</dc:title>
  <dc:subject>PptxGenJS Presentation</dc:subject>
  <dc:creator>Asraf Jaafar Sidik</dc:creator>
  <cp:lastModifiedBy>Asraf Jaafar Sidik</cp:lastModifiedBy>
  <cp:revision>1</cp:revision>
  <dcterms:created xsi:type="dcterms:W3CDTF">2026-10-19T02:49:15Z</dcterms:created>
  <dcterms:modified xsi:type="dcterms:W3CDTF">2026-10-19T02:49:15Z</dcterms:modified>
</cp:coreProperties>
</file>